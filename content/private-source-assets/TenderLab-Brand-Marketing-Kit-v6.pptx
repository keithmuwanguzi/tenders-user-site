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3" d="100"/>
          <a:sy n="73" d="100"/>
        </p:scale>
        <p:origin x="1080" y="2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27580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4.jpeg"/></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7.jpeg"/><Relationship Id="rId4" Type="http://schemas.openxmlformats.org/officeDocument/2006/relationships/image" Target="../media/image6.jpeg"/></Relationships>
</file>

<file path=ppt/slides/_rels/slide4.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8.jpeg"/><Relationship Id="rId7"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18.jpeg"/><Relationship Id="rId4" Type="http://schemas.openxmlformats.org/officeDocument/2006/relationships/image" Target="../media/image17.jpeg"/></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8" Type="http://schemas.openxmlformats.org/officeDocument/2006/relationships/image" Target="../media/image23.jpg"/><Relationship Id="rId3" Type="http://schemas.openxmlformats.org/officeDocument/2006/relationships/image" Target="../media/image19.png"/><Relationship Id="rId7" Type="http://schemas.openxmlformats.org/officeDocument/2006/relationships/image" Target="../media/image3.jpe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22.png"/><Relationship Id="rId5" Type="http://schemas.openxmlformats.org/officeDocument/2006/relationships/image" Target="../media/image21.png"/><Relationship Id="rId10" Type="http://schemas.openxmlformats.org/officeDocument/2006/relationships/image" Target="../media/image25.jpg"/><Relationship Id="rId4" Type="http://schemas.openxmlformats.org/officeDocument/2006/relationships/image" Target="../media/image20.png"/><Relationship Id="rId9" Type="http://schemas.openxmlformats.org/officeDocument/2006/relationships/image" Target="../media/image24.jpeg"/></Relationships>
</file>

<file path=ppt/slides/_rels/slide11.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26.png"/><Relationship Id="rId7" Type="http://schemas.openxmlformats.org/officeDocument/2006/relationships/image" Target="../media/image30.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 Id="rId9"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17.jpeg"/><Relationship Id="rId4" Type="http://schemas.openxmlformats.org/officeDocument/2006/relationships/image" Target="../media/image6.jpeg"/></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image" Target="../media/image32.jpeg"/><Relationship Id="rId7" Type="http://schemas.openxmlformats.org/officeDocument/2006/relationships/image" Target="../media/image35.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34.png"/><Relationship Id="rId5" Type="http://schemas.openxmlformats.org/officeDocument/2006/relationships/image" Target="../media/image10.png"/><Relationship Id="rId4" Type="http://schemas.openxmlformats.org/officeDocument/2006/relationships/image" Target="../media/image33.jpeg"/><Relationship Id="rId9"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9.png"/></Relationships>
</file>

<file path=ppt/slides/_rels/slide16.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16.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9.png"/></Relationships>
</file>

<file path=ppt/slides/_rels/slide17.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17.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9.png"/></Relationships>
</file>

<file path=ppt/slides/_rels/slide18.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18.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9.png"/></Relationships>
</file>

<file path=ppt/slides/_rels/slide19.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image" Target="../media/image41.jpeg"/></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7.xml.rels><?xml version="1.0" encoding="UTF-8" standalone="yes"?>
<Relationships xmlns="http://schemas.openxmlformats.org/package/2006/relationships"><Relationship Id="rId3" Type="http://schemas.openxmlformats.org/officeDocument/2006/relationships/image" Target="../media/image42.jpg"/><Relationship Id="rId2" Type="http://schemas.openxmlformats.org/officeDocument/2006/relationships/notesSlide" Target="../notesSlides/notesSlide27.xml"/><Relationship Id="rId1" Type="http://schemas.openxmlformats.org/officeDocument/2006/relationships/slideLayout" Target="../slideLayouts/slideLayout1.xml"/><Relationship Id="rId5" Type="http://schemas.openxmlformats.org/officeDocument/2006/relationships/image" Target="../media/image44.jpeg"/><Relationship Id="rId4" Type="http://schemas.openxmlformats.org/officeDocument/2006/relationships/image" Target="../media/image43.jpeg"/></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29.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10.png"/></Relationships>
</file>

<file path=ppt/slides/_rels/slide30.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2.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3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48.jpg"/><Relationship Id="rId2" Type="http://schemas.openxmlformats.org/officeDocument/2006/relationships/notesSlide" Target="../notesSlides/notesSlide34.xml"/><Relationship Id="rId1" Type="http://schemas.openxmlformats.org/officeDocument/2006/relationships/slideLayout" Target="../slideLayouts/slideLayout1.xml"/><Relationship Id="rId5" Type="http://schemas.openxmlformats.org/officeDocument/2006/relationships/image" Target="../media/image49.jpg"/><Relationship Id="rId4" Type="http://schemas.openxmlformats.org/officeDocument/2006/relationships/image" Target="../media/image32.jpeg"/></Relationships>
</file>

<file path=ppt/slides/_rels/slide35.xml.rels><?xml version="1.0" encoding="UTF-8" standalone="yes"?>
<Relationships xmlns="http://schemas.openxmlformats.org/package/2006/relationships"><Relationship Id="rId8" Type="http://schemas.openxmlformats.org/officeDocument/2006/relationships/image" Target="../media/image3.jpeg"/><Relationship Id="rId3" Type="http://schemas.openxmlformats.org/officeDocument/2006/relationships/image" Target="../media/image2.png"/><Relationship Id="rId7" Type="http://schemas.openxmlformats.org/officeDocument/2006/relationships/image" Target="../media/image53.png"/><Relationship Id="rId2" Type="http://schemas.openxmlformats.org/officeDocument/2006/relationships/notesSlide" Target="../notesSlides/notesSlide35.xml"/><Relationship Id="rId1" Type="http://schemas.openxmlformats.org/officeDocument/2006/relationships/slideLayout" Target="../slideLayouts/slideLayout1.xml"/><Relationship Id="rId6" Type="http://schemas.openxmlformats.org/officeDocument/2006/relationships/image" Target="../media/image52.png"/><Relationship Id="rId5" Type="http://schemas.openxmlformats.org/officeDocument/2006/relationships/image" Target="../media/image51.png"/><Relationship Id="rId10" Type="http://schemas.openxmlformats.org/officeDocument/2006/relationships/image" Target="../media/image8.jpeg"/><Relationship Id="rId4" Type="http://schemas.openxmlformats.org/officeDocument/2006/relationships/image" Target="../media/image50.png"/><Relationship Id="rId9" Type="http://schemas.openxmlformats.org/officeDocument/2006/relationships/image" Target="../media/image7.jpe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4572000" cy="5143500"/>
          </a:xfrm>
          <a:prstGeom prst="rect">
            <a:avLst/>
          </a:prstGeom>
        </p:spPr>
      </p:pic>
      <p:sp>
        <p:nvSpPr>
          <p:cNvPr id="3" name="Shape 0"/>
          <p:cNvSpPr/>
          <p:nvPr/>
        </p:nvSpPr>
        <p:spPr>
          <a:xfrm>
            <a:off x="4114800" y="0"/>
            <a:ext cx="457200" cy="5143500"/>
          </a:xfrm>
          <a:prstGeom prst="rect">
            <a:avLst/>
          </a:prstGeom>
          <a:solidFill>
            <a:srgbClr val="FFFFFF">
              <a:alpha val="50000"/>
            </a:srgbClr>
          </a:solidFill>
          <a:ln/>
        </p:spPr>
        <p:txBody>
          <a:bodyPr/>
          <a:lstStyle/>
          <a:p>
            <a:endParaRPr lang="en-GB"/>
          </a:p>
        </p:txBody>
      </p:sp>
      <p:sp>
        <p:nvSpPr>
          <p:cNvPr id="4" name="Shape 1"/>
          <p:cNvSpPr/>
          <p:nvPr/>
        </p:nvSpPr>
        <p:spPr>
          <a:xfrm>
            <a:off x="4389120" y="0"/>
            <a:ext cx="274320" cy="5143500"/>
          </a:xfrm>
          <a:prstGeom prst="rect">
            <a:avLst/>
          </a:prstGeom>
          <a:solidFill>
            <a:srgbClr val="FFFFFF">
              <a:alpha val="80000"/>
            </a:srgbClr>
          </a:solidFill>
          <a:ln/>
        </p:spPr>
        <p:txBody>
          <a:bodyPr/>
          <a:lstStyle/>
          <a:p>
            <a:endParaRPr lang="en-GB"/>
          </a:p>
        </p:txBody>
      </p:sp>
      <p:pic>
        <p:nvPicPr>
          <p:cNvPr id="5" name="Image 1" descr="preencoded.png"/>
          <p:cNvPicPr>
            <a:picLocks noChangeAspect="1"/>
          </p:cNvPicPr>
          <p:nvPr/>
        </p:nvPicPr>
        <p:blipFill>
          <a:blip r:embed="rId4"/>
          <a:stretch>
            <a:fillRect/>
          </a:stretch>
        </p:blipFill>
        <p:spPr>
          <a:xfrm>
            <a:off x="5029200" y="457200"/>
            <a:ext cx="1645920" cy="1645920"/>
          </a:xfrm>
          <a:prstGeom prst="rect">
            <a:avLst/>
          </a:prstGeom>
        </p:spPr>
      </p:pic>
      <p:sp>
        <p:nvSpPr>
          <p:cNvPr id="6" name="Text 2"/>
          <p:cNvSpPr/>
          <p:nvPr/>
        </p:nvSpPr>
        <p:spPr>
          <a:xfrm>
            <a:off x="5029200" y="2286000"/>
            <a:ext cx="3657600" cy="1371600"/>
          </a:xfrm>
          <a:prstGeom prst="rect">
            <a:avLst/>
          </a:prstGeom>
          <a:noFill/>
          <a:ln/>
        </p:spPr>
        <p:txBody>
          <a:bodyPr wrap="square" lIns="0" tIns="0" rIns="0" bIns="0" rtlCol="0" anchor="ctr"/>
          <a:lstStyle/>
          <a:p>
            <a:pPr marL="0" indent="0">
              <a:lnSpc>
                <a:spcPct val="88000"/>
              </a:lnSpc>
              <a:buNone/>
            </a:pPr>
            <a:r>
              <a:rPr lang="en-US" sz="3600" dirty="0">
                <a:solidFill>
                  <a:srgbClr val="192231"/>
                </a:solidFill>
                <a:latin typeface="Arial Black" pitchFamily="34" charset="0"/>
                <a:ea typeface="Arial Black" pitchFamily="34" charset="-122"/>
                <a:cs typeface="Arial Black" pitchFamily="34" charset="-120"/>
              </a:rPr>
              <a:t>BRAND &amp;</a:t>
            </a:r>
            <a:endParaRPr lang="en-US" sz="3600" dirty="0"/>
          </a:p>
          <a:p>
            <a:pPr marL="0" indent="0">
              <a:lnSpc>
                <a:spcPct val="88000"/>
              </a:lnSpc>
              <a:buNone/>
            </a:pPr>
            <a:r>
              <a:rPr lang="en-US" sz="3600" dirty="0">
                <a:solidFill>
                  <a:srgbClr val="192231"/>
                </a:solidFill>
                <a:latin typeface="Arial Black" pitchFamily="34" charset="0"/>
                <a:ea typeface="Arial Black" pitchFamily="34" charset="-122"/>
                <a:cs typeface="Arial Black" pitchFamily="34" charset="-120"/>
              </a:rPr>
              <a:t>MARKETING</a:t>
            </a:r>
            <a:endParaRPr lang="en-US" sz="3600" dirty="0"/>
          </a:p>
          <a:p>
            <a:pPr marL="0" indent="0">
              <a:lnSpc>
                <a:spcPct val="88000"/>
              </a:lnSpc>
              <a:buNone/>
            </a:pPr>
            <a:r>
              <a:rPr lang="en-US" sz="3600" dirty="0">
                <a:solidFill>
                  <a:srgbClr val="192231"/>
                </a:solidFill>
                <a:latin typeface="Arial Black" pitchFamily="34" charset="0"/>
                <a:ea typeface="Arial Black" pitchFamily="34" charset="-122"/>
                <a:cs typeface="Arial Black" pitchFamily="34" charset="-120"/>
              </a:rPr>
              <a:t>KIT</a:t>
            </a:r>
            <a:endParaRPr lang="en-US" sz="3600" dirty="0"/>
          </a:p>
        </p:txBody>
      </p:sp>
      <p:sp>
        <p:nvSpPr>
          <p:cNvPr id="7" name="Shape 3"/>
          <p:cNvSpPr/>
          <p:nvPr/>
        </p:nvSpPr>
        <p:spPr>
          <a:xfrm>
            <a:off x="5029200" y="3749040"/>
            <a:ext cx="1645920" cy="0"/>
          </a:xfrm>
          <a:prstGeom prst="line">
            <a:avLst/>
          </a:prstGeom>
          <a:noFill/>
          <a:ln w="38100">
            <a:solidFill>
              <a:srgbClr val="D4382C"/>
            </a:solidFill>
            <a:prstDash val="solid"/>
          </a:ln>
        </p:spPr>
        <p:txBody>
          <a:bodyPr/>
          <a:lstStyle/>
          <a:p>
            <a:endParaRPr lang="en-GB"/>
          </a:p>
        </p:txBody>
      </p:sp>
      <p:sp>
        <p:nvSpPr>
          <p:cNvPr id="8" name="Text 4"/>
          <p:cNvSpPr/>
          <p:nvPr/>
        </p:nvSpPr>
        <p:spPr>
          <a:xfrm>
            <a:off x="5029200" y="3931920"/>
            <a:ext cx="1828800" cy="320040"/>
          </a:xfrm>
          <a:prstGeom prst="rect">
            <a:avLst/>
          </a:prstGeom>
          <a:noFill/>
          <a:ln/>
        </p:spPr>
        <p:txBody>
          <a:bodyPr wrap="square" lIns="0" tIns="0" rIns="0" bIns="0" rtlCol="0" anchor="ctr"/>
          <a:lstStyle/>
          <a:p>
            <a:pPr marL="0" indent="0">
              <a:buNone/>
            </a:pPr>
            <a:r>
              <a:rPr lang="en-US" sz="1800" kern="0" spc="1000" dirty="0">
                <a:solidFill>
                  <a:srgbClr val="3B5068"/>
                </a:solidFill>
                <a:latin typeface="Arial" pitchFamily="34" charset="0"/>
                <a:ea typeface="Arial" pitchFamily="34" charset="-122"/>
                <a:cs typeface="Arial" pitchFamily="34" charset="-120"/>
              </a:rPr>
              <a:t>2026</a:t>
            </a:r>
            <a:endParaRPr lang="en-US" sz="1800" dirty="0"/>
          </a:p>
        </p:txBody>
      </p:sp>
      <p:sp>
        <p:nvSpPr>
          <p:cNvPr id="9" name="Text 5"/>
          <p:cNvSpPr/>
          <p:nvPr/>
        </p:nvSpPr>
        <p:spPr>
          <a:xfrm>
            <a:off x="5029200" y="4297680"/>
            <a:ext cx="3657600" cy="365760"/>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Specialist tender writing for</a:t>
            </a:r>
            <a:endParaRPr lang="en-US" sz="1000" dirty="0"/>
          </a:p>
          <a:p>
            <a:pPr marL="0" indent="0">
              <a:buNone/>
            </a:pPr>
            <a:r>
              <a:rPr lang="en-US" sz="1000" dirty="0">
                <a:solidFill>
                  <a:srgbClr val="6B7280"/>
                </a:solidFill>
                <a:latin typeface="Calibri" pitchFamily="34" charset="0"/>
                <a:ea typeface="Calibri" pitchFamily="34" charset="-122"/>
                <a:cs typeface="Calibri" pitchFamily="34" charset="-120"/>
              </a:rPr>
              <a:t>UK health and social care</a:t>
            </a:r>
            <a:endParaRPr lang="en-US" sz="1000" dirty="0"/>
          </a:p>
        </p:txBody>
      </p:sp>
      <p:sp>
        <p:nvSpPr>
          <p:cNvPr id="10" name="Shape 6"/>
          <p:cNvSpPr/>
          <p:nvPr/>
        </p:nvSpPr>
        <p:spPr>
          <a:xfrm>
            <a:off x="0" y="4800600"/>
            <a:ext cx="9144000" cy="342900"/>
          </a:xfrm>
          <a:prstGeom prst="rect">
            <a:avLst/>
          </a:prstGeom>
          <a:solidFill>
            <a:srgbClr val="F3F4F6"/>
          </a:solidFill>
          <a:ln/>
        </p:spPr>
        <p:txBody>
          <a:bodyPr/>
          <a:lstStyle/>
          <a:p>
            <a:endParaRPr lang="en-GB"/>
          </a:p>
        </p:txBody>
      </p:sp>
      <p:sp>
        <p:nvSpPr>
          <p:cNvPr id="11" name="Text 7"/>
          <p:cNvSpPr/>
          <p:nvPr/>
        </p:nvSpPr>
        <p:spPr>
          <a:xfrm>
            <a:off x="457200" y="4828032"/>
            <a:ext cx="7315200" cy="274320"/>
          </a:xfrm>
          <a:prstGeom prst="rect">
            <a:avLst/>
          </a:prstGeom>
          <a:noFill/>
          <a:ln/>
        </p:spPr>
        <p:txBody>
          <a:bodyPr wrap="square" lIns="0" tIns="0" rIns="0" bIns="0" rtlCol="0" anchor="ctr"/>
          <a:lstStyle/>
          <a:p>
            <a:pPr marL="0" indent="0">
              <a:buNone/>
            </a:pPr>
            <a:r>
              <a:rPr lang="en-US" sz="800" dirty="0">
                <a:solidFill>
                  <a:srgbClr val="6B7280"/>
                </a:solidFill>
                <a:latin typeface="Calibri Light" pitchFamily="34" charset="0"/>
                <a:ea typeface="Calibri Light" pitchFamily="34" charset="-122"/>
                <a:cs typeface="Calibri Light" pitchFamily="34" charset="-120"/>
              </a:rPr>
              <a:t>tenderlab.co.uk  |  info@tenderlab.co.uk  |  01707 240393</a:t>
            </a:r>
            <a:endParaRPr lang="en-US" sz="800" dirty="0"/>
          </a:p>
        </p:txBody>
      </p:sp>
      <p:sp>
        <p:nvSpPr>
          <p:cNvPr id="12" name="Text 8"/>
          <p:cNvSpPr/>
          <p:nvPr/>
        </p:nvSpPr>
        <p:spPr>
          <a:xfrm>
            <a:off x="6858000" y="4828032"/>
            <a:ext cx="1828800" cy="274320"/>
          </a:xfrm>
          <a:prstGeom prst="rect">
            <a:avLst/>
          </a:prstGeom>
          <a:noFill/>
          <a:ln/>
        </p:spPr>
        <p:txBody>
          <a:bodyPr wrap="square" lIns="0" tIns="0" rIns="0" bIns="0" rtlCol="0" anchor="ctr"/>
          <a:lstStyle/>
          <a:p>
            <a:pPr marL="0" indent="0" algn="r">
              <a:buNone/>
            </a:pPr>
            <a:r>
              <a:rPr lang="en-US" sz="800" b="1" kern="0" spc="300" dirty="0">
                <a:solidFill>
                  <a:srgbClr val="D4382C"/>
                </a:solidFill>
                <a:latin typeface="Calibri" pitchFamily="34" charset="0"/>
                <a:ea typeface="Calibri" pitchFamily="34" charset="-122"/>
                <a:cs typeface="Calibri" pitchFamily="34" charset="-120"/>
              </a:rPr>
              <a:t>CONFIDENTIAL</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32004"/>
          </a:xfrm>
          <a:prstGeom prst="rect">
            <a:avLst/>
          </a:prstGeom>
          <a:solidFill>
            <a:srgbClr val="D4382C"/>
          </a:solidFill>
          <a:ln/>
        </p:spPr>
        <p:txBody>
          <a:bodyPr/>
          <a:lstStyle/>
          <a:p>
            <a:endParaRPr lang="en-GB"/>
          </a:p>
        </p:txBody>
      </p:sp>
      <p:sp>
        <p:nvSpPr>
          <p:cNvPr id="3" name="Text 1"/>
          <p:cNvSpPr/>
          <p:nvPr/>
        </p:nvSpPr>
        <p:spPr>
          <a:xfrm>
            <a:off x="548640" y="274320"/>
            <a:ext cx="3657600" cy="548640"/>
          </a:xfrm>
          <a:prstGeom prst="rect">
            <a:avLst/>
          </a:prstGeom>
          <a:noFill/>
          <a:ln/>
        </p:spPr>
        <p:txBody>
          <a:bodyPr wrap="square" lIns="0" tIns="0" rIns="0" bIns="0" rtlCol="0" anchor="ctr"/>
          <a:lstStyle/>
          <a:p>
            <a:pPr marL="0" indent="0">
              <a:buNone/>
            </a:pPr>
            <a:r>
              <a:rPr lang="en-US" sz="2800" dirty="0">
                <a:solidFill>
                  <a:srgbClr val="192231"/>
                </a:solidFill>
                <a:latin typeface="Arial Black" pitchFamily="34" charset="0"/>
                <a:ea typeface="Arial Black" pitchFamily="34" charset="-122"/>
                <a:cs typeface="Arial Black" pitchFamily="34" charset="-120"/>
              </a:rPr>
              <a:t>Contents</a:t>
            </a:r>
            <a:endParaRPr lang="en-US" sz="2800" dirty="0"/>
          </a:p>
        </p:txBody>
      </p:sp>
      <p:sp>
        <p:nvSpPr>
          <p:cNvPr id="4" name="Text 2"/>
          <p:cNvSpPr/>
          <p:nvPr/>
        </p:nvSpPr>
        <p:spPr>
          <a:xfrm>
            <a:off x="548640" y="1097280"/>
            <a:ext cx="548640" cy="365760"/>
          </a:xfrm>
          <a:prstGeom prst="rect">
            <a:avLst/>
          </a:prstGeom>
          <a:noFill/>
          <a:ln/>
        </p:spPr>
        <p:txBody>
          <a:bodyPr wrap="square" lIns="0" tIns="0" rIns="0" bIns="0" rtlCol="0" anchor="ctr"/>
          <a:lstStyle/>
          <a:p>
            <a:pPr marL="0" indent="0">
              <a:buNone/>
            </a:pPr>
            <a:r>
              <a:rPr lang="en-US" sz="1400" dirty="0">
                <a:solidFill>
                  <a:srgbClr val="D4382C"/>
                </a:solidFill>
                <a:latin typeface="Arial Black" pitchFamily="34" charset="0"/>
                <a:ea typeface="Arial Black" pitchFamily="34" charset="-122"/>
                <a:cs typeface="Arial Black" pitchFamily="34" charset="-120"/>
              </a:rPr>
              <a:t>01</a:t>
            </a:r>
            <a:endParaRPr lang="en-US" sz="1400" dirty="0"/>
          </a:p>
        </p:txBody>
      </p:sp>
      <p:sp>
        <p:nvSpPr>
          <p:cNvPr id="5" name="Text 3"/>
          <p:cNvSpPr/>
          <p:nvPr/>
        </p:nvSpPr>
        <p:spPr>
          <a:xfrm>
            <a:off x="1280160" y="1097280"/>
            <a:ext cx="3200400" cy="365760"/>
          </a:xfrm>
          <a:prstGeom prst="rect">
            <a:avLst/>
          </a:prstGeom>
          <a:noFill/>
          <a:ln/>
        </p:spPr>
        <p:txBody>
          <a:bodyPr wrap="square" lIns="0" tIns="0" rIns="0" bIns="0" rtlCol="0" anchor="ctr"/>
          <a:lstStyle/>
          <a:p>
            <a:pPr marL="0" indent="0">
              <a:buNone/>
            </a:pPr>
            <a:r>
              <a:rPr lang="en-US" sz="1300" dirty="0">
                <a:solidFill>
                  <a:srgbClr val="192231"/>
                </a:solidFill>
                <a:latin typeface="Calibri" pitchFamily="34" charset="0"/>
                <a:ea typeface="Calibri" pitchFamily="34" charset="-122"/>
                <a:cs typeface="Calibri" pitchFamily="34" charset="-120"/>
              </a:rPr>
              <a:t>The Market</a:t>
            </a:r>
            <a:endParaRPr lang="en-US" sz="1300" dirty="0"/>
          </a:p>
        </p:txBody>
      </p:sp>
      <p:sp>
        <p:nvSpPr>
          <p:cNvPr id="6" name="Text 4"/>
          <p:cNvSpPr/>
          <p:nvPr/>
        </p:nvSpPr>
        <p:spPr>
          <a:xfrm>
            <a:off x="548640" y="1554480"/>
            <a:ext cx="548640" cy="365760"/>
          </a:xfrm>
          <a:prstGeom prst="rect">
            <a:avLst/>
          </a:prstGeom>
          <a:noFill/>
          <a:ln/>
        </p:spPr>
        <p:txBody>
          <a:bodyPr wrap="square" lIns="0" tIns="0" rIns="0" bIns="0" rtlCol="0" anchor="ctr"/>
          <a:lstStyle/>
          <a:p>
            <a:pPr marL="0" indent="0">
              <a:buNone/>
            </a:pPr>
            <a:r>
              <a:rPr lang="en-US" sz="1400" dirty="0">
                <a:solidFill>
                  <a:srgbClr val="D4382C"/>
                </a:solidFill>
                <a:latin typeface="Arial Black" pitchFamily="34" charset="0"/>
                <a:ea typeface="Arial Black" pitchFamily="34" charset="-122"/>
                <a:cs typeface="Arial Black" pitchFamily="34" charset="-120"/>
              </a:rPr>
              <a:t>02</a:t>
            </a:r>
            <a:endParaRPr lang="en-US" sz="1400" dirty="0"/>
          </a:p>
        </p:txBody>
      </p:sp>
      <p:sp>
        <p:nvSpPr>
          <p:cNvPr id="7" name="Text 5"/>
          <p:cNvSpPr/>
          <p:nvPr/>
        </p:nvSpPr>
        <p:spPr>
          <a:xfrm>
            <a:off x="1280160" y="1554480"/>
            <a:ext cx="3200400" cy="365760"/>
          </a:xfrm>
          <a:prstGeom prst="rect">
            <a:avLst/>
          </a:prstGeom>
          <a:noFill/>
          <a:ln/>
        </p:spPr>
        <p:txBody>
          <a:bodyPr wrap="square" lIns="0" tIns="0" rIns="0" bIns="0" rtlCol="0" anchor="ctr"/>
          <a:lstStyle/>
          <a:p>
            <a:pPr marL="0" indent="0">
              <a:buNone/>
            </a:pPr>
            <a:r>
              <a:rPr lang="en-US" sz="1300" dirty="0">
                <a:solidFill>
                  <a:srgbClr val="192231"/>
                </a:solidFill>
                <a:latin typeface="Calibri" pitchFamily="34" charset="0"/>
                <a:ea typeface="Calibri" pitchFamily="34" charset="-122"/>
                <a:cs typeface="Calibri" pitchFamily="34" charset="-120"/>
              </a:rPr>
              <a:t>Who We Serve</a:t>
            </a:r>
            <a:endParaRPr lang="en-US" sz="1300" dirty="0"/>
          </a:p>
        </p:txBody>
      </p:sp>
      <p:sp>
        <p:nvSpPr>
          <p:cNvPr id="8" name="Text 6"/>
          <p:cNvSpPr/>
          <p:nvPr/>
        </p:nvSpPr>
        <p:spPr>
          <a:xfrm>
            <a:off x="548640" y="2011680"/>
            <a:ext cx="548640" cy="365760"/>
          </a:xfrm>
          <a:prstGeom prst="rect">
            <a:avLst/>
          </a:prstGeom>
          <a:noFill/>
          <a:ln/>
        </p:spPr>
        <p:txBody>
          <a:bodyPr wrap="square" lIns="0" tIns="0" rIns="0" bIns="0" rtlCol="0" anchor="ctr"/>
          <a:lstStyle/>
          <a:p>
            <a:pPr marL="0" indent="0">
              <a:buNone/>
            </a:pPr>
            <a:r>
              <a:rPr lang="en-US" sz="1400" dirty="0">
                <a:solidFill>
                  <a:srgbClr val="D4382C"/>
                </a:solidFill>
                <a:latin typeface="Arial Black" pitchFamily="34" charset="0"/>
                <a:ea typeface="Arial Black" pitchFamily="34" charset="-122"/>
                <a:cs typeface="Arial Black" pitchFamily="34" charset="-120"/>
              </a:rPr>
              <a:t>03</a:t>
            </a:r>
            <a:endParaRPr lang="en-US" sz="1400" dirty="0"/>
          </a:p>
        </p:txBody>
      </p:sp>
      <p:sp>
        <p:nvSpPr>
          <p:cNvPr id="9" name="Text 7"/>
          <p:cNvSpPr/>
          <p:nvPr/>
        </p:nvSpPr>
        <p:spPr>
          <a:xfrm>
            <a:off x="1280160" y="2011680"/>
            <a:ext cx="3200400" cy="365760"/>
          </a:xfrm>
          <a:prstGeom prst="rect">
            <a:avLst/>
          </a:prstGeom>
          <a:noFill/>
          <a:ln/>
        </p:spPr>
        <p:txBody>
          <a:bodyPr wrap="square" lIns="0" tIns="0" rIns="0" bIns="0" rtlCol="0" anchor="ctr"/>
          <a:lstStyle/>
          <a:p>
            <a:pPr marL="0" indent="0">
              <a:buNone/>
            </a:pPr>
            <a:r>
              <a:rPr lang="en-US" sz="1300" dirty="0">
                <a:solidFill>
                  <a:srgbClr val="192231"/>
                </a:solidFill>
                <a:latin typeface="Calibri" pitchFamily="34" charset="0"/>
                <a:ea typeface="Calibri" pitchFamily="34" charset="-122"/>
                <a:cs typeface="Calibri" pitchFamily="34" charset="-120"/>
              </a:rPr>
              <a:t>What We Deliver</a:t>
            </a:r>
            <a:endParaRPr lang="en-US" sz="1300" dirty="0"/>
          </a:p>
        </p:txBody>
      </p:sp>
      <p:sp>
        <p:nvSpPr>
          <p:cNvPr id="10" name="Text 8"/>
          <p:cNvSpPr/>
          <p:nvPr/>
        </p:nvSpPr>
        <p:spPr>
          <a:xfrm>
            <a:off x="548640" y="2468880"/>
            <a:ext cx="548640" cy="365760"/>
          </a:xfrm>
          <a:prstGeom prst="rect">
            <a:avLst/>
          </a:prstGeom>
          <a:noFill/>
          <a:ln/>
        </p:spPr>
        <p:txBody>
          <a:bodyPr wrap="square" lIns="0" tIns="0" rIns="0" bIns="0" rtlCol="0" anchor="ctr"/>
          <a:lstStyle/>
          <a:p>
            <a:pPr marL="0" indent="0">
              <a:buNone/>
            </a:pPr>
            <a:r>
              <a:rPr lang="en-US" sz="1400" dirty="0">
                <a:solidFill>
                  <a:srgbClr val="D4382C"/>
                </a:solidFill>
                <a:latin typeface="Arial Black" pitchFamily="34" charset="0"/>
                <a:ea typeface="Arial Black" pitchFamily="34" charset="-122"/>
                <a:cs typeface="Arial Black" pitchFamily="34" charset="-120"/>
              </a:rPr>
              <a:t>04</a:t>
            </a:r>
            <a:endParaRPr lang="en-US" sz="1400" dirty="0"/>
          </a:p>
        </p:txBody>
      </p:sp>
      <p:sp>
        <p:nvSpPr>
          <p:cNvPr id="11" name="Text 9"/>
          <p:cNvSpPr/>
          <p:nvPr/>
        </p:nvSpPr>
        <p:spPr>
          <a:xfrm>
            <a:off x="1280160" y="2468880"/>
            <a:ext cx="3200400" cy="365760"/>
          </a:xfrm>
          <a:prstGeom prst="rect">
            <a:avLst/>
          </a:prstGeom>
          <a:noFill/>
          <a:ln/>
        </p:spPr>
        <p:txBody>
          <a:bodyPr wrap="square" lIns="0" tIns="0" rIns="0" bIns="0" rtlCol="0" anchor="ctr"/>
          <a:lstStyle/>
          <a:p>
            <a:pPr marL="0" indent="0">
              <a:buNone/>
            </a:pPr>
            <a:r>
              <a:rPr lang="en-US" sz="1300" dirty="0">
                <a:solidFill>
                  <a:srgbClr val="192231"/>
                </a:solidFill>
                <a:latin typeface="Calibri" pitchFamily="34" charset="0"/>
                <a:ea typeface="Calibri" pitchFamily="34" charset="-122"/>
                <a:cs typeface="Calibri" pitchFamily="34" charset="-120"/>
              </a:rPr>
              <a:t>Brand Identity</a:t>
            </a:r>
            <a:endParaRPr lang="en-US" sz="1300" dirty="0"/>
          </a:p>
        </p:txBody>
      </p:sp>
      <p:sp>
        <p:nvSpPr>
          <p:cNvPr id="12" name="Text 10"/>
          <p:cNvSpPr/>
          <p:nvPr/>
        </p:nvSpPr>
        <p:spPr>
          <a:xfrm>
            <a:off x="548640" y="2926080"/>
            <a:ext cx="548640" cy="365760"/>
          </a:xfrm>
          <a:prstGeom prst="rect">
            <a:avLst/>
          </a:prstGeom>
          <a:noFill/>
          <a:ln/>
        </p:spPr>
        <p:txBody>
          <a:bodyPr wrap="square" lIns="0" tIns="0" rIns="0" bIns="0" rtlCol="0" anchor="ctr"/>
          <a:lstStyle/>
          <a:p>
            <a:pPr marL="0" indent="0">
              <a:buNone/>
            </a:pPr>
            <a:r>
              <a:rPr lang="en-US" sz="1400" dirty="0">
                <a:solidFill>
                  <a:srgbClr val="D4382C"/>
                </a:solidFill>
                <a:latin typeface="Arial Black" pitchFamily="34" charset="0"/>
                <a:ea typeface="Arial Black" pitchFamily="34" charset="-122"/>
                <a:cs typeface="Arial Black" pitchFamily="34" charset="-120"/>
              </a:rPr>
              <a:t>05</a:t>
            </a:r>
            <a:endParaRPr lang="en-US" sz="1400" dirty="0"/>
          </a:p>
        </p:txBody>
      </p:sp>
      <p:sp>
        <p:nvSpPr>
          <p:cNvPr id="13" name="Text 11"/>
          <p:cNvSpPr/>
          <p:nvPr/>
        </p:nvSpPr>
        <p:spPr>
          <a:xfrm>
            <a:off x="1280160" y="2926080"/>
            <a:ext cx="3200400" cy="365760"/>
          </a:xfrm>
          <a:prstGeom prst="rect">
            <a:avLst/>
          </a:prstGeom>
          <a:noFill/>
          <a:ln/>
        </p:spPr>
        <p:txBody>
          <a:bodyPr wrap="square" lIns="0" tIns="0" rIns="0" bIns="0" rtlCol="0" anchor="ctr"/>
          <a:lstStyle/>
          <a:p>
            <a:pPr marL="0" indent="0">
              <a:buNone/>
            </a:pPr>
            <a:r>
              <a:rPr lang="en-US" sz="1300" dirty="0">
                <a:solidFill>
                  <a:srgbClr val="192231"/>
                </a:solidFill>
                <a:latin typeface="Calibri" pitchFamily="34" charset="0"/>
                <a:ea typeface="Calibri" pitchFamily="34" charset="-122"/>
                <a:cs typeface="Calibri" pitchFamily="34" charset="-120"/>
              </a:rPr>
              <a:t>Marketing &amp; Digital</a:t>
            </a:r>
            <a:endParaRPr lang="en-US" sz="1300" dirty="0"/>
          </a:p>
        </p:txBody>
      </p:sp>
      <p:sp>
        <p:nvSpPr>
          <p:cNvPr id="14" name="Text 12"/>
          <p:cNvSpPr/>
          <p:nvPr/>
        </p:nvSpPr>
        <p:spPr>
          <a:xfrm>
            <a:off x="548640" y="3383280"/>
            <a:ext cx="548640" cy="365760"/>
          </a:xfrm>
          <a:prstGeom prst="rect">
            <a:avLst/>
          </a:prstGeom>
          <a:noFill/>
          <a:ln/>
        </p:spPr>
        <p:txBody>
          <a:bodyPr wrap="square" lIns="0" tIns="0" rIns="0" bIns="0" rtlCol="0" anchor="ctr"/>
          <a:lstStyle/>
          <a:p>
            <a:pPr marL="0" indent="0">
              <a:buNone/>
            </a:pPr>
            <a:r>
              <a:rPr lang="en-US" sz="1400" dirty="0">
                <a:solidFill>
                  <a:srgbClr val="D4382C"/>
                </a:solidFill>
                <a:latin typeface="Arial Black" pitchFamily="34" charset="0"/>
                <a:ea typeface="Arial Black" pitchFamily="34" charset="-122"/>
                <a:cs typeface="Arial Black" pitchFamily="34" charset="-120"/>
              </a:rPr>
              <a:t>06</a:t>
            </a:r>
            <a:endParaRPr lang="en-US" sz="1400" dirty="0"/>
          </a:p>
        </p:txBody>
      </p:sp>
      <p:sp>
        <p:nvSpPr>
          <p:cNvPr id="15" name="Text 13"/>
          <p:cNvSpPr/>
          <p:nvPr/>
        </p:nvSpPr>
        <p:spPr>
          <a:xfrm>
            <a:off x="1280160" y="3383280"/>
            <a:ext cx="3200400" cy="365760"/>
          </a:xfrm>
          <a:prstGeom prst="rect">
            <a:avLst/>
          </a:prstGeom>
          <a:noFill/>
          <a:ln/>
        </p:spPr>
        <p:txBody>
          <a:bodyPr wrap="square" lIns="0" tIns="0" rIns="0" bIns="0" rtlCol="0" anchor="ctr"/>
          <a:lstStyle/>
          <a:p>
            <a:pPr marL="0" indent="0">
              <a:buNone/>
            </a:pPr>
            <a:r>
              <a:rPr lang="en-US" sz="1300" dirty="0">
                <a:solidFill>
                  <a:srgbClr val="192231"/>
                </a:solidFill>
                <a:latin typeface="Calibri" pitchFamily="34" charset="0"/>
                <a:ea typeface="Calibri" pitchFamily="34" charset="-122"/>
                <a:cs typeface="Calibri" pitchFamily="34" charset="-120"/>
              </a:rPr>
              <a:t>Competitive Position</a:t>
            </a:r>
            <a:endParaRPr lang="en-US" sz="1300" dirty="0"/>
          </a:p>
        </p:txBody>
      </p:sp>
      <p:sp>
        <p:nvSpPr>
          <p:cNvPr id="16" name="Text 14"/>
          <p:cNvSpPr/>
          <p:nvPr/>
        </p:nvSpPr>
        <p:spPr>
          <a:xfrm>
            <a:off x="548640" y="3840480"/>
            <a:ext cx="548640" cy="365760"/>
          </a:xfrm>
          <a:prstGeom prst="rect">
            <a:avLst/>
          </a:prstGeom>
          <a:noFill/>
          <a:ln/>
        </p:spPr>
        <p:txBody>
          <a:bodyPr wrap="square" lIns="0" tIns="0" rIns="0" bIns="0" rtlCol="0" anchor="ctr"/>
          <a:lstStyle/>
          <a:p>
            <a:pPr marL="0" indent="0">
              <a:buNone/>
            </a:pPr>
            <a:r>
              <a:rPr lang="en-US" sz="1400" dirty="0">
                <a:solidFill>
                  <a:srgbClr val="D4382C"/>
                </a:solidFill>
                <a:latin typeface="Arial Black" pitchFamily="34" charset="0"/>
                <a:ea typeface="Arial Black" pitchFamily="34" charset="-122"/>
                <a:cs typeface="Arial Black" pitchFamily="34" charset="-120"/>
              </a:rPr>
              <a:t>07</a:t>
            </a:r>
            <a:endParaRPr lang="en-US" sz="1400" dirty="0"/>
          </a:p>
        </p:txBody>
      </p:sp>
      <p:sp>
        <p:nvSpPr>
          <p:cNvPr id="17" name="Text 15"/>
          <p:cNvSpPr/>
          <p:nvPr/>
        </p:nvSpPr>
        <p:spPr>
          <a:xfrm>
            <a:off x="1280160" y="3840480"/>
            <a:ext cx="3200400" cy="365760"/>
          </a:xfrm>
          <a:prstGeom prst="rect">
            <a:avLst/>
          </a:prstGeom>
          <a:noFill/>
          <a:ln/>
        </p:spPr>
        <p:txBody>
          <a:bodyPr wrap="square" lIns="0" tIns="0" rIns="0" bIns="0" rtlCol="0" anchor="ctr"/>
          <a:lstStyle/>
          <a:p>
            <a:pPr marL="0" indent="0">
              <a:buNone/>
            </a:pPr>
            <a:r>
              <a:rPr lang="en-US" sz="1300" dirty="0">
                <a:solidFill>
                  <a:srgbClr val="192231"/>
                </a:solidFill>
                <a:latin typeface="Calibri" pitchFamily="34" charset="0"/>
                <a:ea typeface="Calibri" pitchFamily="34" charset="-122"/>
                <a:cs typeface="Calibri" pitchFamily="34" charset="-120"/>
              </a:rPr>
              <a:t>Contact</a:t>
            </a:r>
            <a:endParaRPr lang="en-US" sz="1300" dirty="0"/>
          </a:p>
        </p:txBody>
      </p:sp>
      <p:pic>
        <p:nvPicPr>
          <p:cNvPr id="18" name="Image 0" descr="preencoded.png"/>
          <p:cNvPicPr>
            <a:picLocks noChangeAspect="1"/>
          </p:cNvPicPr>
          <p:nvPr/>
        </p:nvPicPr>
        <p:blipFill>
          <a:blip r:embed="rId3"/>
          <a:stretch>
            <a:fillRect/>
          </a:stretch>
        </p:blipFill>
        <p:spPr>
          <a:xfrm>
            <a:off x="4846320" y="274320"/>
            <a:ext cx="3931920" cy="2194560"/>
          </a:xfrm>
          <a:prstGeom prst="rect">
            <a:avLst/>
          </a:prstGeom>
        </p:spPr>
      </p:pic>
      <p:pic>
        <p:nvPicPr>
          <p:cNvPr id="19" name="Image 1" descr="preencoded.png"/>
          <p:cNvPicPr>
            <a:picLocks noChangeAspect="1"/>
          </p:cNvPicPr>
          <p:nvPr/>
        </p:nvPicPr>
        <p:blipFill>
          <a:blip r:embed="rId4"/>
          <a:stretch>
            <a:fillRect/>
          </a:stretch>
        </p:blipFill>
        <p:spPr>
          <a:xfrm>
            <a:off x="4846320" y="2606040"/>
            <a:ext cx="3931920" cy="1920240"/>
          </a:xfrm>
          <a:prstGeom prst="rect">
            <a:avLst/>
          </a:prstGeom>
        </p:spPr>
      </p:pic>
      <p:sp>
        <p:nvSpPr>
          <p:cNvPr id="20" name="Shape 16"/>
          <p:cNvSpPr/>
          <p:nvPr/>
        </p:nvSpPr>
        <p:spPr>
          <a:xfrm>
            <a:off x="0" y="4800600"/>
            <a:ext cx="9144000" cy="342900"/>
          </a:xfrm>
          <a:prstGeom prst="rect">
            <a:avLst/>
          </a:prstGeom>
          <a:solidFill>
            <a:srgbClr val="F3F4F6"/>
          </a:solidFill>
          <a:ln/>
        </p:spPr>
        <p:txBody>
          <a:bodyPr/>
          <a:lstStyle/>
          <a:p>
            <a:endParaRPr lang="en-GB"/>
          </a:p>
        </p:txBody>
      </p:sp>
      <p:sp>
        <p:nvSpPr>
          <p:cNvPr id="21" name="Text 17"/>
          <p:cNvSpPr/>
          <p:nvPr/>
        </p:nvSpPr>
        <p:spPr>
          <a:xfrm>
            <a:off x="457200" y="4828032"/>
            <a:ext cx="2743200" cy="274320"/>
          </a:xfrm>
          <a:prstGeom prst="rect">
            <a:avLst/>
          </a:prstGeom>
          <a:noFill/>
          <a:ln/>
        </p:spPr>
        <p:txBody>
          <a:bodyPr wrap="square" lIns="0" tIns="0" rIns="0" bIns="0" rtlCol="0" anchor="ctr"/>
          <a:lstStyle/>
          <a:p>
            <a:pPr marL="0" indent="0">
              <a:buNone/>
            </a:pPr>
            <a:r>
              <a:rPr lang="en-US" sz="800" dirty="0">
                <a:solidFill>
                  <a:srgbClr val="6B7280"/>
                </a:solidFill>
                <a:latin typeface="Calibri Light" pitchFamily="34" charset="0"/>
                <a:ea typeface="Calibri Light" pitchFamily="34" charset="-122"/>
                <a:cs typeface="Calibri Light" pitchFamily="34" charset="-120"/>
              </a:rPr>
              <a:t>tenderlab.co.uk</a:t>
            </a:r>
            <a:endParaRPr lang="en-US" sz="800" dirty="0"/>
          </a:p>
        </p:txBody>
      </p:sp>
      <p:pic>
        <p:nvPicPr>
          <p:cNvPr id="22" name="Image 2" descr="preencoded.png"/>
          <p:cNvPicPr>
            <a:picLocks noChangeAspect="1"/>
          </p:cNvPicPr>
          <p:nvPr/>
        </p:nvPicPr>
        <p:blipFill>
          <a:blip r:embed="rId5"/>
          <a:stretch>
            <a:fillRect/>
          </a:stretch>
        </p:blipFill>
        <p:spPr>
          <a:xfrm>
            <a:off x="8229600" y="4709160"/>
            <a:ext cx="502920" cy="50292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32004"/>
          </a:xfrm>
          <a:prstGeom prst="rect">
            <a:avLst/>
          </a:prstGeom>
          <a:solidFill>
            <a:srgbClr val="D4382C"/>
          </a:solidFill>
          <a:ln/>
        </p:spPr>
        <p:txBody>
          <a:bodyPr/>
          <a:lstStyle/>
          <a:p>
            <a:endParaRPr lang="en-GB"/>
          </a:p>
        </p:txBody>
      </p:sp>
      <p:sp>
        <p:nvSpPr>
          <p:cNvPr id="3" name="Text 1"/>
          <p:cNvSpPr/>
          <p:nvPr/>
        </p:nvSpPr>
        <p:spPr>
          <a:xfrm>
            <a:off x="548640" y="274320"/>
            <a:ext cx="3657600" cy="548640"/>
          </a:xfrm>
          <a:prstGeom prst="rect">
            <a:avLst/>
          </a:prstGeom>
          <a:noFill/>
          <a:ln/>
        </p:spPr>
        <p:txBody>
          <a:bodyPr wrap="square" lIns="0" tIns="0" rIns="0" bIns="0" rtlCol="0" anchor="ctr"/>
          <a:lstStyle/>
          <a:p>
            <a:pPr marL="0" indent="0">
              <a:buNone/>
            </a:pPr>
            <a:r>
              <a:rPr lang="en-US" sz="2800" dirty="0">
                <a:solidFill>
                  <a:srgbClr val="192231"/>
                </a:solidFill>
                <a:latin typeface="Arial Black" pitchFamily="34" charset="0"/>
                <a:ea typeface="Arial Black" pitchFamily="34" charset="-122"/>
                <a:cs typeface="Arial Black" pitchFamily="34" charset="-120"/>
              </a:rPr>
              <a:t>Who We Are</a:t>
            </a:r>
            <a:endParaRPr lang="en-US" sz="2800" dirty="0"/>
          </a:p>
        </p:txBody>
      </p:sp>
      <p:sp>
        <p:nvSpPr>
          <p:cNvPr id="4" name="Text 2"/>
          <p:cNvSpPr/>
          <p:nvPr/>
        </p:nvSpPr>
        <p:spPr>
          <a:xfrm>
            <a:off x="548640" y="914400"/>
            <a:ext cx="4389120" cy="548640"/>
          </a:xfrm>
          <a:prstGeom prst="rect">
            <a:avLst/>
          </a:prstGeom>
          <a:noFill/>
          <a:ln/>
        </p:spPr>
        <p:txBody>
          <a:bodyPr wrap="square" lIns="0" tIns="0" rIns="0" bIns="0" rtlCol="0" anchor="ctr"/>
          <a:lstStyle/>
          <a:p>
            <a:pPr marL="0" indent="0">
              <a:buNone/>
            </a:pPr>
            <a:r>
              <a:rPr lang="en-US" sz="1200" dirty="0">
                <a:solidFill>
                  <a:srgbClr val="374151"/>
                </a:solidFill>
                <a:latin typeface="Calibri" pitchFamily="34" charset="0"/>
                <a:ea typeface="Calibri" pitchFamily="34" charset="-122"/>
                <a:cs typeface="Calibri" pitchFamily="34" charset="-120"/>
              </a:rPr>
              <a:t>TenderLab is a specialist tender writing and bid consultancy operating exclusively within UK health and social care procurement.</a:t>
            </a:r>
            <a:endParaRPr lang="en-US" sz="1200" dirty="0"/>
          </a:p>
        </p:txBody>
      </p:sp>
      <p:sp>
        <p:nvSpPr>
          <p:cNvPr id="5" name="Text 3"/>
          <p:cNvSpPr/>
          <p:nvPr/>
        </p:nvSpPr>
        <p:spPr>
          <a:xfrm>
            <a:off x="548640" y="1645920"/>
            <a:ext cx="4389120" cy="914400"/>
          </a:xfrm>
          <a:prstGeom prst="rect">
            <a:avLst/>
          </a:prstGeom>
          <a:noFill/>
          <a:ln/>
        </p:spPr>
        <p:txBody>
          <a:bodyPr wrap="square" lIns="0" tIns="0" rIns="0" bIns="0" rtlCol="0" anchor="ctr"/>
          <a:lstStyle/>
          <a:p>
            <a:pPr marL="0" indent="0">
              <a:buNone/>
            </a:pPr>
            <a:r>
              <a:rPr lang="en-US" sz="1050" dirty="0">
                <a:solidFill>
                  <a:srgbClr val="6B7280"/>
                </a:solidFill>
                <a:latin typeface="Calibri Light" pitchFamily="34" charset="0"/>
                <a:ea typeface="Calibri Light" pitchFamily="34" charset="-122"/>
                <a:cs typeface="Calibri Light" pitchFamily="34" charset="-120"/>
              </a:rPr>
              <a:t>We write, evaluate, and quality-assure tender responses for local authority, NHS, and Integrated Care Board contracts across England. This covers Invitations to Tender, framework applications, Dynamic Purchasing System submissions, and preferred provider list applications.</a:t>
            </a:r>
            <a:endParaRPr lang="en-US" sz="1050" dirty="0"/>
          </a:p>
        </p:txBody>
      </p:sp>
      <p:sp>
        <p:nvSpPr>
          <p:cNvPr id="6" name="Shape 4"/>
          <p:cNvSpPr/>
          <p:nvPr/>
        </p:nvSpPr>
        <p:spPr>
          <a:xfrm>
            <a:off x="548640" y="2743200"/>
            <a:ext cx="4389120" cy="914400"/>
          </a:xfrm>
          <a:prstGeom prst="rect">
            <a:avLst/>
          </a:prstGeom>
          <a:solidFill>
            <a:srgbClr val="F3F4F6"/>
          </a:solidFill>
          <a:ln/>
        </p:spPr>
        <p:txBody>
          <a:bodyPr/>
          <a:lstStyle/>
          <a:p>
            <a:endParaRPr lang="en-GB"/>
          </a:p>
        </p:txBody>
      </p:sp>
      <p:sp>
        <p:nvSpPr>
          <p:cNvPr id="7" name="Shape 5"/>
          <p:cNvSpPr/>
          <p:nvPr/>
        </p:nvSpPr>
        <p:spPr>
          <a:xfrm>
            <a:off x="548640" y="2743200"/>
            <a:ext cx="45720" cy="914400"/>
          </a:xfrm>
          <a:prstGeom prst="rect">
            <a:avLst/>
          </a:prstGeom>
          <a:solidFill>
            <a:srgbClr val="D4382C"/>
          </a:solidFill>
          <a:ln/>
        </p:spPr>
        <p:txBody>
          <a:bodyPr/>
          <a:lstStyle/>
          <a:p>
            <a:endParaRPr lang="en-GB"/>
          </a:p>
        </p:txBody>
      </p:sp>
      <p:sp>
        <p:nvSpPr>
          <p:cNvPr id="8" name="Text 6"/>
          <p:cNvSpPr/>
          <p:nvPr/>
        </p:nvSpPr>
        <p:spPr>
          <a:xfrm>
            <a:off x="777240" y="2834640"/>
            <a:ext cx="3931920" cy="365760"/>
          </a:xfrm>
          <a:prstGeom prst="rect">
            <a:avLst/>
          </a:prstGeom>
          <a:noFill/>
          <a:ln/>
        </p:spPr>
        <p:txBody>
          <a:bodyPr wrap="square" lIns="0" tIns="0" rIns="0" bIns="0" rtlCol="0" anchor="ctr"/>
          <a:lstStyle/>
          <a:p>
            <a:pPr marL="0" indent="0">
              <a:buNone/>
            </a:pPr>
            <a:r>
              <a:rPr lang="en-US" sz="1000" dirty="0">
                <a:solidFill>
                  <a:srgbClr val="192231"/>
                </a:solidFill>
                <a:latin typeface="Calibri" pitchFamily="34" charset="0"/>
                <a:ea typeface="Calibri" pitchFamily="34" charset="-122"/>
                <a:cs typeface="Calibri" pitchFamily="34" charset="-120"/>
              </a:rPr>
              <a:t>Hatfield, Hertfordshire  |  tenderlab.co.uk</a:t>
            </a:r>
            <a:endParaRPr lang="en-US" sz="1000" dirty="0"/>
          </a:p>
          <a:p>
            <a:pPr marL="0" indent="0">
              <a:buNone/>
            </a:pPr>
            <a:r>
              <a:rPr lang="en-US" sz="1000" dirty="0">
                <a:solidFill>
                  <a:srgbClr val="192231"/>
                </a:solidFill>
                <a:latin typeface="Calibri" pitchFamily="34" charset="0"/>
                <a:ea typeface="Calibri" pitchFamily="34" charset="-122"/>
                <a:cs typeface="Calibri" pitchFamily="34" charset="-120"/>
              </a:rPr>
              <a:t>01707 240393  |  info@tenderlab.co.uk</a:t>
            </a:r>
            <a:endParaRPr lang="en-US" sz="1000" dirty="0"/>
          </a:p>
        </p:txBody>
      </p:sp>
      <p:sp>
        <p:nvSpPr>
          <p:cNvPr id="9" name="Text 7"/>
          <p:cNvSpPr/>
          <p:nvPr/>
        </p:nvSpPr>
        <p:spPr>
          <a:xfrm>
            <a:off x="777240" y="3246120"/>
            <a:ext cx="3931920" cy="228600"/>
          </a:xfrm>
          <a:prstGeom prst="rect">
            <a:avLst/>
          </a:prstGeom>
          <a:noFill/>
          <a:ln/>
        </p:spPr>
        <p:txBody>
          <a:bodyPr wrap="square" lIns="0" tIns="0" rIns="0" bIns="0" rtlCol="0" anchor="ctr"/>
          <a:lstStyle/>
          <a:p>
            <a:pPr marL="0" indent="0">
              <a:buNone/>
            </a:pPr>
            <a:r>
              <a:rPr lang="en-US" sz="900" dirty="0">
                <a:solidFill>
                  <a:srgbClr val="6B7280"/>
                </a:solidFill>
                <a:latin typeface="Calibri Light" pitchFamily="34" charset="0"/>
                <a:ea typeface="Calibri Light" pitchFamily="34" charset="-122"/>
                <a:cs typeface="Calibri Light" pitchFamily="34" charset="-120"/>
              </a:rPr>
              <a:t>Health &amp; Social Care  |  Tender  Specialist  |  England-wide</a:t>
            </a:r>
            <a:endParaRPr lang="en-US" sz="900" dirty="0"/>
          </a:p>
        </p:txBody>
      </p:sp>
      <p:pic>
        <p:nvPicPr>
          <p:cNvPr id="10" name="Image 0" descr="preencoded.png"/>
          <p:cNvPicPr>
            <a:picLocks noChangeAspect="1"/>
          </p:cNvPicPr>
          <p:nvPr/>
        </p:nvPicPr>
        <p:blipFill>
          <a:blip r:embed="rId3"/>
          <a:stretch>
            <a:fillRect/>
          </a:stretch>
        </p:blipFill>
        <p:spPr>
          <a:xfrm>
            <a:off x="5303520" y="274320"/>
            <a:ext cx="3474720" cy="2560320"/>
          </a:xfrm>
          <a:prstGeom prst="rect">
            <a:avLst/>
          </a:prstGeom>
        </p:spPr>
      </p:pic>
      <p:pic>
        <p:nvPicPr>
          <p:cNvPr id="11" name="Image 1" descr="preencoded.png"/>
          <p:cNvPicPr>
            <a:picLocks noChangeAspect="1"/>
          </p:cNvPicPr>
          <p:nvPr/>
        </p:nvPicPr>
        <p:blipFill>
          <a:blip r:embed="rId4"/>
          <a:stretch>
            <a:fillRect/>
          </a:stretch>
        </p:blipFill>
        <p:spPr>
          <a:xfrm>
            <a:off x="5303520" y="2926080"/>
            <a:ext cx="1691640" cy="1371600"/>
          </a:xfrm>
          <a:prstGeom prst="rect">
            <a:avLst/>
          </a:prstGeom>
        </p:spPr>
      </p:pic>
      <p:pic>
        <p:nvPicPr>
          <p:cNvPr id="12" name="Image 2" descr="preencoded.png"/>
          <p:cNvPicPr>
            <a:picLocks noChangeAspect="1"/>
          </p:cNvPicPr>
          <p:nvPr/>
        </p:nvPicPr>
        <p:blipFill>
          <a:blip r:embed="rId5"/>
          <a:stretch>
            <a:fillRect/>
          </a:stretch>
        </p:blipFill>
        <p:spPr>
          <a:xfrm>
            <a:off x="7086600" y="2926080"/>
            <a:ext cx="1691640" cy="1371600"/>
          </a:xfrm>
          <a:prstGeom prst="rect">
            <a:avLst/>
          </a:prstGeom>
        </p:spPr>
      </p:pic>
      <p:sp>
        <p:nvSpPr>
          <p:cNvPr id="13" name="Shape 8"/>
          <p:cNvSpPr/>
          <p:nvPr/>
        </p:nvSpPr>
        <p:spPr>
          <a:xfrm>
            <a:off x="0" y="4800600"/>
            <a:ext cx="9144000" cy="342900"/>
          </a:xfrm>
          <a:prstGeom prst="rect">
            <a:avLst/>
          </a:prstGeom>
          <a:solidFill>
            <a:srgbClr val="F3F4F6"/>
          </a:solidFill>
          <a:ln/>
        </p:spPr>
        <p:txBody>
          <a:bodyPr/>
          <a:lstStyle/>
          <a:p>
            <a:endParaRPr lang="en-GB"/>
          </a:p>
        </p:txBody>
      </p:sp>
      <p:sp>
        <p:nvSpPr>
          <p:cNvPr id="14" name="Text 9"/>
          <p:cNvSpPr/>
          <p:nvPr/>
        </p:nvSpPr>
        <p:spPr>
          <a:xfrm>
            <a:off x="457200" y="4828032"/>
            <a:ext cx="2743200" cy="274320"/>
          </a:xfrm>
          <a:prstGeom prst="rect">
            <a:avLst/>
          </a:prstGeom>
          <a:noFill/>
          <a:ln/>
        </p:spPr>
        <p:txBody>
          <a:bodyPr wrap="square" lIns="0" tIns="0" rIns="0" bIns="0" rtlCol="0" anchor="ctr"/>
          <a:lstStyle/>
          <a:p>
            <a:pPr marL="0" indent="0">
              <a:buNone/>
            </a:pPr>
            <a:r>
              <a:rPr lang="en-US" sz="800" dirty="0">
                <a:solidFill>
                  <a:srgbClr val="6B7280"/>
                </a:solidFill>
                <a:latin typeface="Calibri Light" pitchFamily="34" charset="0"/>
                <a:ea typeface="Calibri Light" pitchFamily="34" charset="-122"/>
                <a:cs typeface="Calibri Light" pitchFamily="34" charset="-120"/>
              </a:rPr>
              <a:t>tenderlab.co.uk</a:t>
            </a:r>
            <a:endParaRPr lang="en-US" sz="800" dirty="0"/>
          </a:p>
        </p:txBody>
      </p:sp>
      <p:pic>
        <p:nvPicPr>
          <p:cNvPr id="15" name="Image 3" descr="preencoded.png"/>
          <p:cNvPicPr>
            <a:picLocks noChangeAspect="1"/>
          </p:cNvPicPr>
          <p:nvPr/>
        </p:nvPicPr>
        <p:blipFill>
          <a:blip r:embed="rId6"/>
          <a:stretch>
            <a:fillRect/>
          </a:stretch>
        </p:blipFill>
        <p:spPr>
          <a:xfrm>
            <a:off x="8229600" y="4709160"/>
            <a:ext cx="502920" cy="50292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AF5"/>
        </a:solidFill>
        <a:effectLst/>
      </p:bgPr>
    </p:bg>
    <p:spTree>
      <p:nvGrpSpPr>
        <p:cNvPr id="1" name=""/>
        <p:cNvGrpSpPr/>
        <p:nvPr/>
      </p:nvGrpSpPr>
      <p:grpSpPr>
        <a:xfrm>
          <a:off x="0" y="0"/>
          <a:ext cx="0" cy="0"/>
          <a:chOff x="0" y="0"/>
          <a:chExt cx="0" cy="0"/>
        </a:xfrm>
      </p:grpSpPr>
      <p:sp>
        <p:nvSpPr>
          <p:cNvPr id="2" name="Shape 0"/>
          <p:cNvSpPr/>
          <p:nvPr/>
        </p:nvSpPr>
        <p:spPr>
          <a:xfrm>
            <a:off x="0" y="0"/>
            <a:ext cx="9144000" cy="32004"/>
          </a:xfrm>
          <a:prstGeom prst="rect">
            <a:avLst/>
          </a:prstGeom>
          <a:solidFill>
            <a:srgbClr val="D4382C"/>
          </a:solidFill>
          <a:ln/>
        </p:spPr>
        <p:txBody>
          <a:bodyPr/>
          <a:lstStyle/>
          <a:p>
            <a:endParaRPr lang="en-GB"/>
          </a:p>
        </p:txBody>
      </p:sp>
      <p:pic>
        <p:nvPicPr>
          <p:cNvPr id="3" name="Image 0" descr="preencoded.png"/>
          <p:cNvPicPr>
            <a:picLocks noChangeAspect="1"/>
          </p:cNvPicPr>
          <p:nvPr/>
        </p:nvPicPr>
        <p:blipFill>
          <a:blip r:embed="rId3"/>
          <a:stretch>
            <a:fillRect/>
          </a:stretch>
        </p:blipFill>
        <p:spPr>
          <a:xfrm>
            <a:off x="0" y="0"/>
            <a:ext cx="9144000" cy="2286000"/>
          </a:xfrm>
          <a:prstGeom prst="rect">
            <a:avLst/>
          </a:prstGeom>
        </p:spPr>
      </p:pic>
      <p:sp>
        <p:nvSpPr>
          <p:cNvPr id="4" name="Shape 1"/>
          <p:cNvSpPr/>
          <p:nvPr/>
        </p:nvSpPr>
        <p:spPr>
          <a:xfrm>
            <a:off x="0" y="0"/>
            <a:ext cx="9144000" cy="2286000"/>
          </a:xfrm>
          <a:prstGeom prst="rect">
            <a:avLst/>
          </a:prstGeom>
          <a:solidFill>
            <a:srgbClr val="192231">
              <a:alpha val="45000"/>
            </a:srgbClr>
          </a:solidFill>
          <a:ln/>
        </p:spPr>
        <p:txBody>
          <a:bodyPr/>
          <a:lstStyle/>
          <a:p>
            <a:endParaRPr lang="en-GB"/>
          </a:p>
        </p:txBody>
      </p:sp>
      <p:sp>
        <p:nvSpPr>
          <p:cNvPr id="5" name="Text 2"/>
          <p:cNvSpPr/>
          <p:nvPr/>
        </p:nvSpPr>
        <p:spPr>
          <a:xfrm>
            <a:off x="548640" y="457200"/>
            <a:ext cx="7772400" cy="1371600"/>
          </a:xfrm>
          <a:prstGeom prst="rect">
            <a:avLst/>
          </a:prstGeom>
          <a:noFill/>
          <a:ln/>
        </p:spPr>
        <p:txBody>
          <a:bodyPr wrap="square" lIns="0" tIns="0" rIns="0" bIns="0" rtlCol="0" anchor="ctr"/>
          <a:lstStyle/>
          <a:p>
            <a:pPr marL="0" indent="0">
              <a:buNone/>
            </a:pPr>
            <a:r>
              <a:rPr lang="en-US" sz="1800" b="1" i="1" dirty="0">
                <a:solidFill>
                  <a:srgbClr val="FFFFFF"/>
                </a:solidFill>
                <a:latin typeface="Calibri" pitchFamily="34" charset="0"/>
                <a:ea typeface="Calibri" pitchFamily="34" charset="-122"/>
                <a:cs typeface="Calibri" pitchFamily="34" charset="-120"/>
              </a:rPr>
              <a:t>To ensure every care provider with the operational</a:t>
            </a:r>
            <a:endParaRPr lang="en-US" sz="1800" dirty="0"/>
          </a:p>
          <a:p>
            <a:pPr marL="0" indent="0">
              <a:buNone/>
            </a:pPr>
            <a:r>
              <a:rPr lang="en-US" sz="1800" b="1" i="1" dirty="0">
                <a:solidFill>
                  <a:srgbClr val="FFFFFF"/>
                </a:solidFill>
                <a:latin typeface="Calibri" pitchFamily="34" charset="0"/>
                <a:ea typeface="Calibri" pitchFamily="34" charset="-122"/>
                <a:cs typeface="Calibri" pitchFamily="34" charset="-120"/>
              </a:rPr>
              <a:t>capability to deliver excellent services has the</a:t>
            </a:r>
            <a:endParaRPr lang="en-US" sz="1800" dirty="0"/>
          </a:p>
          <a:p>
            <a:pPr marL="0" indent="0">
              <a:buNone/>
            </a:pPr>
            <a:r>
              <a:rPr lang="en-US" sz="1800" b="1" i="1" dirty="0">
                <a:solidFill>
                  <a:srgbClr val="FFFFFF"/>
                </a:solidFill>
                <a:latin typeface="Calibri" pitchFamily="34" charset="0"/>
                <a:ea typeface="Calibri" pitchFamily="34" charset="-122"/>
                <a:cs typeface="Calibri" pitchFamily="34" charset="-120"/>
              </a:rPr>
              <a:t>written submission to prove it.</a:t>
            </a:r>
            <a:endParaRPr lang="en-US" sz="1800" dirty="0"/>
          </a:p>
        </p:txBody>
      </p:sp>
      <p:pic>
        <p:nvPicPr>
          <p:cNvPr id="6" name="Image 1" descr="preencoded.png"/>
          <p:cNvPicPr>
            <a:picLocks noChangeAspect="1"/>
          </p:cNvPicPr>
          <p:nvPr/>
        </p:nvPicPr>
        <p:blipFill>
          <a:blip r:embed="rId4"/>
          <a:stretch>
            <a:fillRect/>
          </a:stretch>
        </p:blipFill>
        <p:spPr>
          <a:xfrm>
            <a:off x="548640" y="1737360"/>
            <a:ext cx="457200" cy="457200"/>
          </a:xfrm>
          <a:prstGeom prst="rect">
            <a:avLst/>
          </a:prstGeom>
        </p:spPr>
      </p:pic>
      <p:sp>
        <p:nvSpPr>
          <p:cNvPr id="7" name="Shape 3"/>
          <p:cNvSpPr/>
          <p:nvPr/>
        </p:nvSpPr>
        <p:spPr>
          <a:xfrm>
            <a:off x="548640" y="2560320"/>
            <a:ext cx="1874520" cy="1920240"/>
          </a:xfrm>
          <a:prstGeom prst="rect">
            <a:avLst/>
          </a:prstGeom>
          <a:solidFill>
            <a:srgbClr val="FFFFFF"/>
          </a:solidFill>
          <a:ln/>
        </p:spPr>
        <p:txBody>
          <a:bodyPr/>
          <a:lstStyle/>
          <a:p>
            <a:endParaRPr lang="en-GB"/>
          </a:p>
        </p:txBody>
      </p:sp>
      <p:pic>
        <p:nvPicPr>
          <p:cNvPr id="8" name="Image 2" descr="preencoded.png"/>
          <p:cNvPicPr>
            <a:picLocks noChangeAspect="1"/>
          </p:cNvPicPr>
          <p:nvPr/>
        </p:nvPicPr>
        <p:blipFill>
          <a:blip r:embed="rId5"/>
          <a:stretch>
            <a:fillRect/>
          </a:stretch>
        </p:blipFill>
        <p:spPr>
          <a:xfrm>
            <a:off x="685800" y="2697480"/>
            <a:ext cx="256032" cy="256032"/>
          </a:xfrm>
          <a:prstGeom prst="rect">
            <a:avLst/>
          </a:prstGeom>
        </p:spPr>
      </p:pic>
      <p:sp>
        <p:nvSpPr>
          <p:cNvPr id="9" name="Text 4"/>
          <p:cNvSpPr/>
          <p:nvPr/>
        </p:nvSpPr>
        <p:spPr>
          <a:xfrm>
            <a:off x="685800" y="3017520"/>
            <a:ext cx="1600200" cy="320040"/>
          </a:xfrm>
          <a:prstGeom prst="rect">
            <a:avLst/>
          </a:prstGeom>
          <a:noFill/>
          <a:ln/>
        </p:spPr>
        <p:txBody>
          <a:bodyPr wrap="square" lIns="0" tIns="0" rIns="0" bIns="0" rtlCol="0" anchor="ctr"/>
          <a:lstStyle/>
          <a:p>
            <a:pPr marL="0" indent="0">
              <a:buNone/>
            </a:pPr>
            <a:r>
              <a:rPr lang="en-US" sz="1050" b="1" dirty="0">
                <a:solidFill>
                  <a:srgbClr val="192231"/>
                </a:solidFill>
                <a:latin typeface="Calibri" pitchFamily="34" charset="0"/>
                <a:ea typeface="Calibri" pitchFamily="34" charset="-122"/>
                <a:cs typeface="Calibri" pitchFamily="34" charset="-120"/>
              </a:rPr>
              <a:t>Specificity Over Generality</a:t>
            </a:r>
            <a:endParaRPr lang="en-US" sz="1050" dirty="0"/>
          </a:p>
        </p:txBody>
      </p:sp>
      <p:sp>
        <p:nvSpPr>
          <p:cNvPr id="10" name="Text 5"/>
          <p:cNvSpPr/>
          <p:nvPr/>
        </p:nvSpPr>
        <p:spPr>
          <a:xfrm>
            <a:off x="685800" y="3383280"/>
            <a:ext cx="1600200" cy="914400"/>
          </a:xfrm>
          <a:prstGeom prst="rect">
            <a:avLst/>
          </a:prstGeom>
          <a:noFill/>
          <a:ln/>
        </p:spPr>
        <p:txBody>
          <a:bodyPr wrap="square" lIns="0" tIns="0" rIns="0" bIns="0" rtlCol="0" anchor="ctr"/>
          <a:lstStyle/>
          <a:p>
            <a:pPr marL="0" indent="0">
              <a:buNone/>
            </a:pPr>
            <a:r>
              <a:rPr lang="en-US" sz="900" dirty="0">
                <a:solidFill>
                  <a:srgbClr val="6B7280"/>
                </a:solidFill>
                <a:latin typeface="Calibri Light" pitchFamily="34" charset="0"/>
                <a:ea typeface="Calibri Light" pitchFamily="34" charset="-122"/>
                <a:cs typeface="Calibri Light" pitchFamily="34" charset="-120"/>
              </a:rPr>
              <a:t>Named staff, real systems, quantified outcomes. Every claim anchored to operational evidence.</a:t>
            </a:r>
            <a:endParaRPr lang="en-US" sz="900" dirty="0"/>
          </a:p>
        </p:txBody>
      </p:sp>
      <p:sp>
        <p:nvSpPr>
          <p:cNvPr id="11" name="Shape 6"/>
          <p:cNvSpPr/>
          <p:nvPr/>
        </p:nvSpPr>
        <p:spPr>
          <a:xfrm>
            <a:off x="2651760" y="2560320"/>
            <a:ext cx="1874520" cy="1920240"/>
          </a:xfrm>
          <a:prstGeom prst="rect">
            <a:avLst/>
          </a:prstGeom>
          <a:solidFill>
            <a:srgbClr val="FFFFFF"/>
          </a:solidFill>
          <a:ln/>
        </p:spPr>
        <p:txBody>
          <a:bodyPr/>
          <a:lstStyle/>
          <a:p>
            <a:endParaRPr lang="en-GB"/>
          </a:p>
        </p:txBody>
      </p:sp>
      <p:pic>
        <p:nvPicPr>
          <p:cNvPr id="12" name="Image 3" descr="preencoded.png"/>
          <p:cNvPicPr>
            <a:picLocks noChangeAspect="1"/>
          </p:cNvPicPr>
          <p:nvPr/>
        </p:nvPicPr>
        <p:blipFill>
          <a:blip r:embed="rId6"/>
          <a:stretch>
            <a:fillRect/>
          </a:stretch>
        </p:blipFill>
        <p:spPr>
          <a:xfrm>
            <a:off x="2788920" y="2697480"/>
            <a:ext cx="256032" cy="256032"/>
          </a:xfrm>
          <a:prstGeom prst="rect">
            <a:avLst/>
          </a:prstGeom>
        </p:spPr>
      </p:pic>
      <p:sp>
        <p:nvSpPr>
          <p:cNvPr id="13" name="Text 7"/>
          <p:cNvSpPr/>
          <p:nvPr/>
        </p:nvSpPr>
        <p:spPr>
          <a:xfrm>
            <a:off x="2788920" y="3017520"/>
            <a:ext cx="1600200" cy="320040"/>
          </a:xfrm>
          <a:prstGeom prst="rect">
            <a:avLst/>
          </a:prstGeom>
          <a:noFill/>
          <a:ln/>
        </p:spPr>
        <p:txBody>
          <a:bodyPr wrap="square" lIns="0" tIns="0" rIns="0" bIns="0" rtlCol="0" anchor="ctr"/>
          <a:lstStyle/>
          <a:p>
            <a:pPr marL="0" indent="0">
              <a:buNone/>
            </a:pPr>
            <a:r>
              <a:rPr lang="en-US" sz="1050" b="1" dirty="0">
                <a:solidFill>
                  <a:srgbClr val="192231"/>
                </a:solidFill>
                <a:latin typeface="Calibri" pitchFamily="34" charset="0"/>
                <a:ea typeface="Calibri" pitchFamily="34" charset="-122"/>
                <a:cs typeface="Calibri" pitchFamily="34" charset="-120"/>
              </a:rPr>
              <a:t>Specification First</a:t>
            </a:r>
            <a:endParaRPr lang="en-US" sz="1050" dirty="0"/>
          </a:p>
        </p:txBody>
      </p:sp>
      <p:sp>
        <p:nvSpPr>
          <p:cNvPr id="14" name="Text 8"/>
          <p:cNvSpPr/>
          <p:nvPr/>
        </p:nvSpPr>
        <p:spPr>
          <a:xfrm>
            <a:off x="2788920" y="3383280"/>
            <a:ext cx="1600200" cy="914400"/>
          </a:xfrm>
          <a:prstGeom prst="rect">
            <a:avLst/>
          </a:prstGeom>
          <a:noFill/>
          <a:ln/>
        </p:spPr>
        <p:txBody>
          <a:bodyPr wrap="square" lIns="0" tIns="0" rIns="0" bIns="0" rtlCol="0" anchor="ctr"/>
          <a:lstStyle/>
          <a:p>
            <a:pPr marL="0" indent="0">
              <a:buNone/>
            </a:pPr>
            <a:r>
              <a:rPr lang="en-US" sz="900" dirty="0">
                <a:solidFill>
                  <a:srgbClr val="6B7280"/>
                </a:solidFill>
                <a:latin typeface="Calibri Light" pitchFamily="34" charset="0"/>
                <a:ea typeface="Calibri Light" pitchFamily="34" charset="-122"/>
                <a:cs typeface="Calibri Light" pitchFamily="34" charset="-120"/>
              </a:rPr>
              <a:t>We read the specification the way evaluators read responses. Their language becomes the provider's language.</a:t>
            </a:r>
            <a:endParaRPr lang="en-US" sz="900" dirty="0"/>
          </a:p>
        </p:txBody>
      </p:sp>
      <p:sp>
        <p:nvSpPr>
          <p:cNvPr id="15" name="Shape 9"/>
          <p:cNvSpPr/>
          <p:nvPr/>
        </p:nvSpPr>
        <p:spPr>
          <a:xfrm>
            <a:off x="4754880" y="2560320"/>
            <a:ext cx="1874520" cy="1920240"/>
          </a:xfrm>
          <a:prstGeom prst="rect">
            <a:avLst/>
          </a:prstGeom>
          <a:solidFill>
            <a:srgbClr val="FFFFFF"/>
          </a:solidFill>
          <a:ln/>
        </p:spPr>
        <p:txBody>
          <a:bodyPr/>
          <a:lstStyle/>
          <a:p>
            <a:endParaRPr lang="en-GB"/>
          </a:p>
        </p:txBody>
      </p:sp>
      <p:pic>
        <p:nvPicPr>
          <p:cNvPr id="16" name="Image 4" descr="preencoded.png"/>
          <p:cNvPicPr>
            <a:picLocks noChangeAspect="1"/>
          </p:cNvPicPr>
          <p:nvPr/>
        </p:nvPicPr>
        <p:blipFill>
          <a:blip r:embed="rId7"/>
          <a:stretch>
            <a:fillRect/>
          </a:stretch>
        </p:blipFill>
        <p:spPr>
          <a:xfrm>
            <a:off x="4892040" y="2697480"/>
            <a:ext cx="256032" cy="256032"/>
          </a:xfrm>
          <a:prstGeom prst="rect">
            <a:avLst/>
          </a:prstGeom>
        </p:spPr>
      </p:pic>
      <p:sp>
        <p:nvSpPr>
          <p:cNvPr id="17" name="Text 10"/>
          <p:cNvSpPr/>
          <p:nvPr/>
        </p:nvSpPr>
        <p:spPr>
          <a:xfrm>
            <a:off x="4892040" y="3017520"/>
            <a:ext cx="1600200" cy="320040"/>
          </a:xfrm>
          <a:prstGeom prst="rect">
            <a:avLst/>
          </a:prstGeom>
          <a:noFill/>
          <a:ln/>
        </p:spPr>
        <p:txBody>
          <a:bodyPr wrap="square" lIns="0" tIns="0" rIns="0" bIns="0" rtlCol="0" anchor="ctr"/>
          <a:lstStyle/>
          <a:p>
            <a:pPr marL="0" indent="0">
              <a:buNone/>
            </a:pPr>
            <a:r>
              <a:rPr lang="en-US" sz="1050" b="1" dirty="0">
                <a:solidFill>
                  <a:srgbClr val="192231"/>
                </a:solidFill>
                <a:latin typeface="Calibri" pitchFamily="34" charset="0"/>
                <a:ea typeface="Calibri" pitchFamily="34" charset="-122"/>
                <a:cs typeface="Calibri" pitchFamily="34" charset="-120"/>
              </a:rPr>
              <a:t>Quality Without Exception</a:t>
            </a:r>
            <a:endParaRPr lang="en-US" sz="1050" dirty="0"/>
          </a:p>
        </p:txBody>
      </p:sp>
      <p:sp>
        <p:nvSpPr>
          <p:cNvPr id="18" name="Text 11"/>
          <p:cNvSpPr/>
          <p:nvPr/>
        </p:nvSpPr>
        <p:spPr>
          <a:xfrm>
            <a:off x="4892040" y="3383280"/>
            <a:ext cx="1600200" cy="914400"/>
          </a:xfrm>
          <a:prstGeom prst="rect">
            <a:avLst/>
          </a:prstGeom>
          <a:noFill/>
          <a:ln/>
        </p:spPr>
        <p:txBody>
          <a:bodyPr wrap="square" lIns="0" tIns="0" rIns="0" bIns="0" rtlCol="0" anchor="ctr"/>
          <a:lstStyle/>
          <a:p>
            <a:pPr marL="0" indent="0">
              <a:buNone/>
            </a:pPr>
            <a:r>
              <a:rPr lang="en-US" sz="900" dirty="0">
                <a:solidFill>
                  <a:srgbClr val="6B7280"/>
                </a:solidFill>
                <a:latin typeface="Calibri Light" pitchFamily="34" charset="0"/>
                <a:ea typeface="Calibri Light" pitchFamily="34" charset="-122"/>
                <a:cs typeface="Calibri Light" pitchFamily="34" charset="-120"/>
              </a:rPr>
              <a:t>Every response scored internally before delivery. Nothing leaves below threshold.</a:t>
            </a:r>
            <a:endParaRPr lang="en-US" sz="900" dirty="0"/>
          </a:p>
        </p:txBody>
      </p:sp>
      <p:sp>
        <p:nvSpPr>
          <p:cNvPr id="19" name="Shape 12"/>
          <p:cNvSpPr/>
          <p:nvPr/>
        </p:nvSpPr>
        <p:spPr>
          <a:xfrm>
            <a:off x="6858000" y="2560320"/>
            <a:ext cx="1874520" cy="1920240"/>
          </a:xfrm>
          <a:prstGeom prst="rect">
            <a:avLst/>
          </a:prstGeom>
          <a:solidFill>
            <a:srgbClr val="FFFFFF"/>
          </a:solidFill>
          <a:ln/>
        </p:spPr>
        <p:txBody>
          <a:bodyPr/>
          <a:lstStyle/>
          <a:p>
            <a:endParaRPr lang="en-GB"/>
          </a:p>
        </p:txBody>
      </p:sp>
      <p:pic>
        <p:nvPicPr>
          <p:cNvPr id="20" name="Image 5" descr="preencoded.png"/>
          <p:cNvPicPr>
            <a:picLocks noChangeAspect="1"/>
          </p:cNvPicPr>
          <p:nvPr/>
        </p:nvPicPr>
        <p:blipFill>
          <a:blip r:embed="rId8"/>
          <a:stretch>
            <a:fillRect/>
          </a:stretch>
        </p:blipFill>
        <p:spPr>
          <a:xfrm>
            <a:off x="6995160" y="2697480"/>
            <a:ext cx="256032" cy="256032"/>
          </a:xfrm>
          <a:prstGeom prst="rect">
            <a:avLst/>
          </a:prstGeom>
        </p:spPr>
      </p:pic>
      <p:sp>
        <p:nvSpPr>
          <p:cNvPr id="21" name="Text 13"/>
          <p:cNvSpPr/>
          <p:nvPr/>
        </p:nvSpPr>
        <p:spPr>
          <a:xfrm>
            <a:off x="6995160" y="3017520"/>
            <a:ext cx="1600200" cy="320040"/>
          </a:xfrm>
          <a:prstGeom prst="rect">
            <a:avLst/>
          </a:prstGeom>
          <a:noFill/>
          <a:ln/>
        </p:spPr>
        <p:txBody>
          <a:bodyPr wrap="square" lIns="0" tIns="0" rIns="0" bIns="0" rtlCol="0" anchor="ctr"/>
          <a:lstStyle/>
          <a:p>
            <a:pPr marL="0" indent="0">
              <a:buNone/>
            </a:pPr>
            <a:r>
              <a:rPr lang="en-US" sz="1050" b="1" dirty="0">
                <a:solidFill>
                  <a:srgbClr val="192231"/>
                </a:solidFill>
                <a:latin typeface="Calibri" pitchFamily="34" charset="0"/>
                <a:ea typeface="Calibri" pitchFamily="34" charset="-122"/>
                <a:cs typeface="Calibri" pitchFamily="34" charset="-120"/>
              </a:rPr>
              <a:t>Sector Commitment</a:t>
            </a:r>
            <a:endParaRPr lang="en-US" sz="1050" dirty="0"/>
          </a:p>
        </p:txBody>
      </p:sp>
      <p:sp>
        <p:nvSpPr>
          <p:cNvPr id="22" name="Text 14"/>
          <p:cNvSpPr/>
          <p:nvPr/>
        </p:nvSpPr>
        <p:spPr>
          <a:xfrm>
            <a:off x="6995160" y="3383280"/>
            <a:ext cx="1600200" cy="914400"/>
          </a:xfrm>
          <a:prstGeom prst="rect">
            <a:avLst/>
          </a:prstGeom>
          <a:noFill/>
          <a:ln/>
        </p:spPr>
        <p:txBody>
          <a:bodyPr wrap="square" lIns="0" tIns="0" rIns="0" bIns="0" rtlCol="0" anchor="ctr"/>
          <a:lstStyle/>
          <a:p>
            <a:pPr marL="0" indent="0">
              <a:buNone/>
            </a:pPr>
            <a:r>
              <a:rPr lang="en-US" sz="900" dirty="0">
                <a:solidFill>
                  <a:srgbClr val="6B7280"/>
                </a:solidFill>
                <a:latin typeface="Calibri Light" pitchFamily="34" charset="0"/>
                <a:ea typeface="Calibri Light" pitchFamily="34" charset="-122"/>
                <a:cs typeface="Calibri Light" pitchFamily="34" charset="-120"/>
              </a:rPr>
              <a:t>One sector. One focus. We do not diversify. We go deeper.</a:t>
            </a:r>
            <a:endParaRPr lang="en-US" sz="900" dirty="0"/>
          </a:p>
        </p:txBody>
      </p:sp>
      <p:sp>
        <p:nvSpPr>
          <p:cNvPr id="23" name="Shape 15"/>
          <p:cNvSpPr/>
          <p:nvPr/>
        </p:nvSpPr>
        <p:spPr>
          <a:xfrm>
            <a:off x="0" y="4800600"/>
            <a:ext cx="9144000" cy="342900"/>
          </a:xfrm>
          <a:prstGeom prst="rect">
            <a:avLst/>
          </a:prstGeom>
          <a:solidFill>
            <a:srgbClr val="F3F4F6"/>
          </a:solidFill>
          <a:ln/>
        </p:spPr>
        <p:txBody>
          <a:bodyPr/>
          <a:lstStyle/>
          <a:p>
            <a:endParaRPr lang="en-GB"/>
          </a:p>
        </p:txBody>
      </p:sp>
      <p:sp>
        <p:nvSpPr>
          <p:cNvPr id="24" name="Text 16"/>
          <p:cNvSpPr/>
          <p:nvPr/>
        </p:nvSpPr>
        <p:spPr>
          <a:xfrm>
            <a:off x="457200" y="4828032"/>
            <a:ext cx="2743200" cy="274320"/>
          </a:xfrm>
          <a:prstGeom prst="rect">
            <a:avLst/>
          </a:prstGeom>
          <a:noFill/>
          <a:ln/>
        </p:spPr>
        <p:txBody>
          <a:bodyPr wrap="square" lIns="0" tIns="0" rIns="0" bIns="0" rtlCol="0" anchor="ctr"/>
          <a:lstStyle/>
          <a:p>
            <a:pPr marL="0" indent="0">
              <a:buNone/>
            </a:pPr>
            <a:r>
              <a:rPr lang="en-US" sz="800" dirty="0">
                <a:solidFill>
                  <a:srgbClr val="6B7280"/>
                </a:solidFill>
                <a:latin typeface="Calibri Light" pitchFamily="34" charset="0"/>
                <a:ea typeface="Calibri Light" pitchFamily="34" charset="-122"/>
                <a:cs typeface="Calibri Light" pitchFamily="34" charset="-120"/>
              </a:rPr>
              <a:t>tenderlab.co.uk</a:t>
            </a:r>
            <a:endParaRPr lang="en-US" sz="800" dirty="0"/>
          </a:p>
        </p:txBody>
      </p:sp>
      <p:pic>
        <p:nvPicPr>
          <p:cNvPr id="25" name="Image 6" descr="preencoded.png"/>
          <p:cNvPicPr>
            <a:picLocks noChangeAspect="1"/>
          </p:cNvPicPr>
          <p:nvPr/>
        </p:nvPicPr>
        <p:blipFill>
          <a:blip r:embed="rId4"/>
          <a:stretch>
            <a:fillRect/>
          </a:stretch>
        </p:blipFill>
        <p:spPr>
          <a:xfrm>
            <a:off x="8229600" y="4709160"/>
            <a:ext cx="502920" cy="50292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32004"/>
          </a:xfrm>
          <a:prstGeom prst="rect">
            <a:avLst/>
          </a:prstGeom>
          <a:solidFill>
            <a:srgbClr val="D4382C"/>
          </a:solidFill>
          <a:ln/>
        </p:spPr>
        <p:txBody>
          <a:bodyPr/>
          <a:lstStyle/>
          <a:p>
            <a:endParaRPr lang="en-GB"/>
          </a:p>
        </p:txBody>
      </p:sp>
      <p:sp>
        <p:nvSpPr>
          <p:cNvPr id="3" name="Text 1"/>
          <p:cNvSpPr/>
          <p:nvPr/>
        </p:nvSpPr>
        <p:spPr>
          <a:xfrm>
            <a:off x="548640" y="1645920"/>
            <a:ext cx="1371600" cy="457200"/>
          </a:xfrm>
          <a:prstGeom prst="rect">
            <a:avLst/>
          </a:prstGeom>
          <a:noFill/>
          <a:ln/>
        </p:spPr>
        <p:txBody>
          <a:bodyPr wrap="square" lIns="0" tIns="0" rIns="0" bIns="0" rtlCol="0" anchor="ctr"/>
          <a:lstStyle/>
          <a:p>
            <a:pPr marL="0" indent="0">
              <a:buNone/>
            </a:pPr>
            <a:r>
              <a:rPr lang="en-US" sz="2200" dirty="0">
                <a:solidFill>
                  <a:srgbClr val="5A7A96"/>
                </a:solidFill>
                <a:latin typeface="Arial" pitchFamily="34" charset="0"/>
                <a:ea typeface="Arial" pitchFamily="34" charset="-122"/>
                <a:cs typeface="Arial" pitchFamily="34" charset="-120"/>
              </a:rPr>
              <a:t>01</a:t>
            </a:r>
            <a:endParaRPr lang="en-US" sz="2200" dirty="0"/>
          </a:p>
        </p:txBody>
      </p:sp>
      <p:sp>
        <p:nvSpPr>
          <p:cNvPr id="4" name="Text 2"/>
          <p:cNvSpPr/>
          <p:nvPr/>
        </p:nvSpPr>
        <p:spPr>
          <a:xfrm>
            <a:off x="548640" y="2103120"/>
            <a:ext cx="7315200" cy="1463040"/>
          </a:xfrm>
          <a:prstGeom prst="rect">
            <a:avLst/>
          </a:prstGeom>
          <a:noFill/>
          <a:ln/>
        </p:spPr>
        <p:txBody>
          <a:bodyPr wrap="square" lIns="0" tIns="0" rIns="0" bIns="0" rtlCol="0" anchor="ctr"/>
          <a:lstStyle/>
          <a:p>
            <a:pPr marL="0" indent="0">
              <a:lnSpc>
                <a:spcPct val="90000"/>
              </a:lnSpc>
              <a:buNone/>
            </a:pPr>
            <a:r>
              <a:rPr lang="en-US" sz="4800" dirty="0">
                <a:solidFill>
                  <a:srgbClr val="FFFFFF"/>
                </a:solidFill>
                <a:latin typeface="Arial Black" pitchFamily="34" charset="0"/>
                <a:ea typeface="Arial Black" pitchFamily="34" charset="-122"/>
                <a:cs typeface="Arial Black" pitchFamily="34" charset="-120"/>
              </a:rPr>
              <a:t>THE MARKET</a:t>
            </a:r>
            <a:endParaRPr lang="en-US" sz="4800" dirty="0"/>
          </a:p>
        </p:txBody>
      </p:sp>
      <p:sp>
        <p:nvSpPr>
          <p:cNvPr id="5" name="Shape 3"/>
          <p:cNvSpPr/>
          <p:nvPr/>
        </p:nvSpPr>
        <p:spPr>
          <a:xfrm>
            <a:off x="548640" y="3657600"/>
            <a:ext cx="1828800" cy="0"/>
          </a:xfrm>
          <a:prstGeom prst="line">
            <a:avLst/>
          </a:prstGeom>
          <a:noFill/>
          <a:ln w="38100">
            <a:solidFill>
              <a:srgbClr val="D4382C"/>
            </a:solidFill>
            <a:prstDash val="solid"/>
          </a:ln>
        </p:spPr>
        <p:txBody>
          <a:bodyPr/>
          <a:lstStyle/>
          <a:p>
            <a:endParaRPr lang="en-GB"/>
          </a:p>
        </p:txBody>
      </p:sp>
      <p:pic>
        <p:nvPicPr>
          <p:cNvPr id="6" name="Image 0" descr="preencoded.png"/>
          <p:cNvPicPr>
            <a:picLocks noChangeAspect="1"/>
          </p:cNvPicPr>
          <p:nvPr/>
        </p:nvPicPr>
        <p:blipFill>
          <a:blip r:embed="rId4"/>
          <a:stretch>
            <a:fillRect/>
          </a:stretch>
        </p:blipFill>
        <p:spPr>
          <a:xfrm>
            <a:off x="7772400" y="4114800"/>
            <a:ext cx="731520" cy="73152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32004"/>
          </a:xfrm>
          <a:prstGeom prst="rect">
            <a:avLst/>
          </a:prstGeom>
          <a:solidFill>
            <a:srgbClr val="D4382C"/>
          </a:solidFill>
          <a:ln/>
        </p:spPr>
        <p:txBody>
          <a:bodyPr/>
          <a:lstStyle/>
          <a:p>
            <a:endParaRPr lang="en-GB"/>
          </a:p>
        </p:txBody>
      </p:sp>
      <p:sp>
        <p:nvSpPr>
          <p:cNvPr id="3" name="Text 1"/>
          <p:cNvSpPr/>
          <p:nvPr/>
        </p:nvSpPr>
        <p:spPr>
          <a:xfrm>
            <a:off x="548640" y="274320"/>
            <a:ext cx="5486400" cy="457200"/>
          </a:xfrm>
          <a:prstGeom prst="rect">
            <a:avLst/>
          </a:prstGeom>
          <a:noFill/>
          <a:ln/>
        </p:spPr>
        <p:txBody>
          <a:bodyPr wrap="square" lIns="0" tIns="0" rIns="0" bIns="0" rtlCol="0" anchor="ctr"/>
          <a:lstStyle/>
          <a:p>
            <a:pPr marL="0" indent="0">
              <a:buNone/>
            </a:pPr>
            <a:r>
              <a:rPr lang="en-US" sz="2800" dirty="0">
                <a:solidFill>
                  <a:srgbClr val="192231"/>
                </a:solidFill>
                <a:latin typeface="Arial Black" pitchFamily="34" charset="0"/>
                <a:ea typeface="Arial Black" pitchFamily="34" charset="-122"/>
                <a:cs typeface="Arial Black" pitchFamily="34" charset="-120"/>
              </a:rPr>
              <a:t>Market at a Glance</a:t>
            </a:r>
            <a:endParaRPr lang="en-US" sz="2800" dirty="0"/>
          </a:p>
        </p:txBody>
      </p:sp>
      <p:sp>
        <p:nvSpPr>
          <p:cNvPr id="4" name="Shape 2"/>
          <p:cNvSpPr/>
          <p:nvPr/>
        </p:nvSpPr>
        <p:spPr>
          <a:xfrm>
            <a:off x="548640" y="914400"/>
            <a:ext cx="3657600" cy="2286000"/>
          </a:xfrm>
          <a:prstGeom prst="rect">
            <a:avLst/>
          </a:prstGeom>
          <a:solidFill>
            <a:srgbClr val="F3F4F6"/>
          </a:solidFill>
          <a:ln/>
        </p:spPr>
        <p:txBody>
          <a:bodyPr/>
          <a:lstStyle/>
          <a:p>
            <a:endParaRPr lang="en-GB"/>
          </a:p>
        </p:txBody>
      </p:sp>
      <p:sp>
        <p:nvSpPr>
          <p:cNvPr id="5" name="Text 3"/>
          <p:cNvSpPr/>
          <p:nvPr/>
        </p:nvSpPr>
        <p:spPr>
          <a:xfrm>
            <a:off x="548640" y="1005840"/>
            <a:ext cx="3657600" cy="914400"/>
          </a:xfrm>
          <a:prstGeom prst="rect">
            <a:avLst/>
          </a:prstGeom>
          <a:noFill/>
          <a:ln/>
        </p:spPr>
        <p:txBody>
          <a:bodyPr wrap="square" lIns="0" tIns="0" rIns="0" bIns="0" rtlCol="0" anchor="ctr"/>
          <a:lstStyle/>
          <a:p>
            <a:pPr marL="0" indent="0" algn="ctr">
              <a:buNone/>
            </a:pPr>
            <a:r>
              <a:rPr lang="en-US" sz="5200" dirty="0">
                <a:solidFill>
                  <a:srgbClr val="D4382C"/>
                </a:solidFill>
                <a:latin typeface="Arial Black" pitchFamily="34" charset="0"/>
                <a:ea typeface="Arial Black" pitchFamily="34" charset="-122"/>
                <a:cs typeface="Arial Black" pitchFamily="34" charset="-120"/>
              </a:rPr>
              <a:t>£29.4BN</a:t>
            </a:r>
            <a:endParaRPr lang="en-US" sz="5200" dirty="0"/>
          </a:p>
        </p:txBody>
      </p:sp>
      <p:sp>
        <p:nvSpPr>
          <p:cNvPr id="6" name="Text 4"/>
          <p:cNvSpPr/>
          <p:nvPr/>
        </p:nvSpPr>
        <p:spPr>
          <a:xfrm>
            <a:off x="822960" y="1920240"/>
            <a:ext cx="3108960" cy="502920"/>
          </a:xfrm>
          <a:prstGeom prst="rect">
            <a:avLst/>
          </a:prstGeom>
          <a:noFill/>
          <a:ln/>
        </p:spPr>
        <p:txBody>
          <a:bodyPr wrap="square" lIns="0" tIns="0" rIns="0" bIns="0" rtlCol="0" anchor="ctr"/>
          <a:lstStyle/>
          <a:p>
            <a:pPr marL="0" indent="0" algn="ctr">
              <a:buNone/>
            </a:pPr>
            <a:r>
              <a:rPr lang="en-US" sz="1000" dirty="0">
                <a:solidFill>
                  <a:srgbClr val="6B7280"/>
                </a:solidFill>
                <a:latin typeface="Calibri Light" pitchFamily="34" charset="0"/>
                <a:ea typeface="Calibri Light" pitchFamily="34" charset="-122"/>
                <a:cs typeface="Calibri Light" pitchFamily="34" charset="-120"/>
              </a:rPr>
              <a:t>Gross current expenditure on adult social</a:t>
            </a:r>
            <a:endParaRPr lang="en-US" sz="1000" dirty="0"/>
          </a:p>
          <a:p>
            <a:pPr marL="0" indent="0" algn="ctr">
              <a:buNone/>
            </a:pPr>
            <a:r>
              <a:rPr lang="en-US" sz="1000" dirty="0">
                <a:solidFill>
                  <a:srgbClr val="6B7280"/>
                </a:solidFill>
                <a:latin typeface="Calibri Light" pitchFamily="34" charset="0"/>
                <a:ea typeface="Calibri Light" pitchFamily="34" charset="-122"/>
                <a:cs typeface="Calibri Light" pitchFamily="34" charset="-120"/>
              </a:rPr>
              <a:t>care by local authorities, England 2024-25</a:t>
            </a:r>
            <a:endParaRPr lang="en-US" sz="1000" dirty="0"/>
          </a:p>
        </p:txBody>
      </p:sp>
      <p:sp>
        <p:nvSpPr>
          <p:cNvPr id="7" name="Text 5"/>
          <p:cNvSpPr/>
          <p:nvPr/>
        </p:nvSpPr>
        <p:spPr>
          <a:xfrm>
            <a:off x="822960" y="2468880"/>
            <a:ext cx="3108960" cy="182880"/>
          </a:xfrm>
          <a:prstGeom prst="rect">
            <a:avLst/>
          </a:prstGeom>
          <a:noFill/>
          <a:ln/>
        </p:spPr>
        <p:txBody>
          <a:bodyPr wrap="square" lIns="0" tIns="0" rIns="0" bIns="0" rtlCol="0" anchor="ctr"/>
          <a:lstStyle/>
          <a:p>
            <a:pPr marL="0" indent="0" algn="ctr">
              <a:buNone/>
            </a:pPr>
            <a:r>
              <a:rPr lang="en-US" sz="700" dirty="0">
                <a:solidFill>
                  <a:srgbClr val="9CA3AF"/>
                </a:solidFill>
                <a:latin typeface="Calibri Light" pitchFamily="34" charset="0"/>
                <a:ea typeface="Calibri Light" pitchFamily="34" charset="-122"/>
                <a:cs typeface="Calibri Light" pitchFamily="34" charset="-120"/>
              </a:rPr>
              <a:t>Source: DHSC ASC Finance Report 2024-25</a:t>
            </a:r>
            <a:endParaRPr lang="en-US" sz="700" dirty="0"/>
          </a:p>
        </p:txBody>
      </p:sp>
      <p:pic>
        <p:nvPicPr>
          <p:cNvPr id="8" name="Image 0" descr="preencoded.png"/>
          <p:cNvPicPr>
            <a:picLocks noChangeAspect="1"/>
          </p:cNvPicPr>
          <p:nvPr/>
        </p:nvPicPr>
        <p:blipFill>
          <a:blip r:embed="rId3"/>
          <a:stretch>
            <a:fillRect/>
          </a:stretch>
        </p:blipFill>
        <p:spPr>
          <a:xfrm>
            <a:off x="4480560" y="914400"/>
            <a:ext cx="4297680" cy="2286000"/>
          </a:xfrm>
          <a:prstGeom prst="rect">
            <a:avLst/>
          </a:prstGeom>
        </p:spPr>
      </p:pic>
      <p:sp>
        <p:nvSpPr>
          <p:cNvPr id="9" name="Shape 6"/>
          <p:cNvSpPr/>
          <p:nvPr/>
        </p:nvSpPr>
        <p:spPr>
          <a:xfrm>
            <a:off x="0" y="3429000"/>
            <a:ext cx="9144000" cy="1371600"/>
          </a:xfrm>
          <a:prstGeom prst="rect">
            <a:avLst/>
          </a:prstGeom>
          <a:solidFill>
            <a:srgbClr val="192231"/>
          </a:solidFill>
          <a:ln/>
        </p:spPr>
        <p:txBody>
          <a:bodyPr/>
          <a:lstStyle/>
          <a:p>
            <a:endParaRPr lang="en-GB"/>
          </a:p>
        </p:txBody>
      </p:sp>
      <p:sp>
        <p:nvSpPr>
          <p:cNvPr id="10" name="Text 7"/>
          <p:cNvSpPr/>
          <p:nvPr/>
        </p:nvSpPr>
        <p:spPr>
          <a:xfrm>
            <a:off x="274320" y="3520440"/>
            <a:ext cx="1920240" cy="457200"/>
          </a:xfrm>
          <a:prstGeom prst="rect">
            <a:avLst/>
          </a:prstGeom>
          <a:noFill/>
          <a:ln/>
        </p:spPr>
        <p:txBody>
          <a:bodyPr wrap="square" lIns="0" tIns="0" rIns="0" bIns="0" rtlCol="0" anchor="ctr"/>
          <a:lstStyle/>
          <a:p>
            <a:pPr marL="0" indent="0" algn="ctr">
              <a:buNone/>
            </a:pPr>
            <a:r>
              <a:rPr lang="en-US" sz="2400" dirty="0">
                <a:solidFill>
                  <a:srgbClr val="FFFFFF"/>
                </a:solidFill>
                <a:latin typeface="Arial Black" pitchFamily="34" charset="0"/>
                <a:ea typeface="Arial Black" pitchFamily="34" charset="-122"/>
                <a:cs typeface="Arial Black" pitchFamily="34" charset="-120"/>
              </a:rPr>
              <a:t>£6.7BN</a:t>
            </a:r>
            <a:endParaRPr lang="en-US" sz="2400" dirty="0"/>
          </a:p>
        </p:txBody>
      </p:sp>
      <p:sp>
        <p:nvSpPr>
          <p:cNvPr id="11" name="Text 8"/>
          <p:cNvSpPr/>
          <p:nvPr/>
        </p:nvSpPr>
        <p:spPr>
          <a:xfrm>
            <a:off x="274320" y="4023360"/>
            <a:ext cx="1920240" cy="365760"/>
          </a:xfrm>
          <a:prstGeom prst="rect">
            <a:avLst/>
          </a:prstGeom>
          <a:noFill/>
          <a:ln/>
        </p:spPr>
        <p:txBody>
          <a:bodyPr wrap="square" lIns="0" tIns="0" rIns="0" bIns="0" rtlCol="0" anchor="ctr"/>
          <a:lstStyle/>
          <a:p>
            <a:pPr marL="0" indent="0" algn="ctr">
              <a:buNone/>
            </a:pPr>
            <a:r>
              <a:rPr lang="en-US" sz="800" dirty="0">
                <a:solidFill>
                  <a:srgbClr val="6B7280"/>
                </a:solidFill>
                <a:latin typeface="Calibri" pitchFamily="34" charset="0"/>
                <a:ea typeface="Calibri" pitchFamily="34" charset="-122"/>
                <a:cs typeface="Calibri" pitchFamily="34" charset="-120"/>
              </a:rPr>
              <a:t>Domiciliary care</a:t>
            </a:r>
            <a:endParaRPr lang="en-US" sz="800" dirty="0"/>
          </a:p>
          <a:p>
            <a:pPr marL="0" indent="0" algn="ctr">
              <a:buNone/>
            </a:pPr>
            <a:r>
              <a:rPr lang="en-US" sz="800" dirty="0">
                <a:solidFill>
                  <a:srgbClr val="6B7280"/>
                </a:solidFill>
                <a:latin typeface="Calibri" pitchFamily="34" charset="0"/>
                <a:ea typeface="Calibri" pitchFamily="34" charset="-122"/>
                <a:cs typeface="Calibri" pitchFamily="34" charset="-120"/>
              </a:rPr>
              <a:t>market 2026</a:t>
            </a:r>
            <a:endParaRPr lang="en-US" sz="800" dirty="0"/>
          </a:p>
        </p:txBody>
      </p:sp>
      <p:sp>
        <p:nvSpPr>
          <p:cNvPr id="12" name="Shape 9"/>
          <p:cNvSpPr/>
          <p:nvPr/>
        </p:nvSpPr>
        <p:spPr>
          <a:xfrm>
            <a:off x="2377440" y="3611880"/>
            <a:ext cx="0" cy="914400"/>
          </a:xfrm>
          <a:prstGeom prst="line">
            <a:avLst/>
          </a:prstGeom>
          <a:noFill/>
          <a:ln w="6350">
            <a:solidFill>
              <a:srgbClr val="374151"/>
            </a:solidFill>
            <a:prstDash val="solid"/>
          </a:ln>
        </p:spPr>
        <p:txBody>
          <a:bodyPr/>
          <a:lstStyle/>
          <a:p>
            <a:endParaRPr lang="en-GB"/>
          </a:p>
        </p:txBody>
      </p:sp>
      <p:sp>
        <p:nvSpPr>
          <p:cNvPr id="13" name="Text 10"/>
          <p:cNvSpPr/>
          <p:nvPr/>
        </p:nvSpPr>
        <p:spPr>
          <a:xfrm>
            <a:off x="2514600" y="3520440"/>
            <a:ext cx="1920240" cy="457200"/>
          </a:xfrm>
          <a:prstGeom prst="rect">
            <a:avLst/>
          </a:prstGeom>
          <a:noFill/>
          <a:ln/>
        </p:spPr>
        <p:txBody>
          <a:bodyPr wrap="square" lIns="0" tIns="0" rIns="0" bIns="0" rtlCol="0" anchor="ctr"/>
          <a:lstStyle/>
          <a:p>
            <a:pPr marL="0" indent="0" algn="ctr">
              <a:buNone/>
            </a:pPr>
            <a:r>
              <a:rPr lang="en-US" sz="2400" dirty="0">
                <a:solidFill>
                  <a:srgbClr val="FFFFFF"/>
                </a:solidFill>
                <a:latin typeface="Arial Black" pitchFamily="34" charset="0"/>
                <a:ea typeface="Arial Black" pitchFamily="34" charset="-122"/>
                <a:cs typeface="Arial Black" pitchFamily="34" charset="-120"/>
              </a:rPr>
              <a:t>£4.6BN</a:t>
            </a:r>
            <a:endParaRPr lang="en-US" sz="2400" dirty="0"/>
          </a:p>
        </p:txBody>
      </p:sp>
      <p:sp>
        <p:nvSpPr>
          <p:cNvPr id="14" name="Text 11"/>
          <p:cNvSpPr/>
          <p:nvPr/>
        </p:nvSpPr>
        <p:spPr>
          <a:xfrm>
            <a:off x="2514600" y="4023360"/>
            <a:ext cx="1920240" cy="365760"/>
          </a:xfrm>
          <a:prstGeom prst="rect">
            <a:avLst/>
          </a:prstGeom>
          <a:noFill/>
          <a:ln/>
        </p:spPr>
        <p:txBody>
          <a:bodyPr wrap="square" lIns="0" tIns="0" rIns="0" bIns="0" rtlCol="0" anchor="ctr"/>
          <a:lstStyle/>
          <a:p>
            <a:pPr marL="0" indent="0" algn="ctr">
              <a:buNone/>
            </a:pPr>
            <a:r>
              <a:rPr lang="en-US" sz="800" dirty="0">
                <a:solidFill>
                  <a:srgbClr val="6B7280"/>
                </a:solidFill>
                <a:latin typeface="Calibri" pitchFamily="34" charset="0"/>
                <a:ea typeface="Calibri" pitchFamily="34" charset="-122"/>
                <a:cs typeface="Calibri" pitchFamily="34" charset="-120"/>
              </a:rPr>
              <a:t>Additional funding</a:t>
            </a:r>
            <a:endParaRPr lang="en-US" sz="800" dirty="0"/>
          </a:p>
          <a:p>
            <a:pPr marL="0" indent="0" algn="ctr">
              <a:buNone/>
            </a:pPr>
            <a:r>
              <a:rPr lang="en-US" sz="800" dirty="0">
                <a:solidFill>
                  <a:srgbClr val="6B7280"/>
                </a:solidFill>
                <a:latin typeface="Calibri" pitchFamily="34" charset="0"/>
                <a:ea typeface="Calibri" pitchFamily="34" charset="-122"/>
                <a:cs typeface="Calibri" pitchFamily="34" charset="-120"/>
              </a:rPr>
              <a:t>by 2028-29</a:t>
            </a:r>
            <a:endParaRPr lang="en-US" sz="800" dirty="0"/>
          </a:p>
        </p:txBody>
      </p:sp>
      <p:sp>
        <p:nvSpPr>
          <p:cNvPr id="15" name="Shape 12"/>
          <p:cNvSpPr/>
          <p:nvPr/>
        </p:nvSpPr>
        <p:spPr>
          <a:xfrm>
            <a:off x="4617720" y="3611880"/>
            <a:ext cx="0" cy="914400"/>
          </a:xfrm>
          <a:prstGeom prst="line">
            <a:avLst/>
          </a:prstGeom>
          <a:noFill/>
          <a:ln w="6350">
            <a:solidFill>
              <a:srgbClr val="374151"/>
            </a:solidFill>
            <a:prstDash val="solid"/>
          </a:ln>
        </p:spPr>
        <p:txBody>
          <a:bodyPr/>
          <a:lstStyle/>
          <a:p>
            <a:endParaRPr lang="en-GB"/>
          </a:p>
        </p:txBody>
      </p:sp>
      <p:sp>
        <p:nvSpPr>
          <p:cNvPr id="16" name="Text 13"/>
          <p:cNvSpPr/>
          <p:nvPr/>
        </p:nvSpPr>
        <p:spPr>
          <a:xfrm>
            <a:off x="4754880" y="3520440"/>
            <a:ext cx="1920240" cy="457200"/>
          </a:xfrm>
          <a:prstGeom prst="rect">
            <a:avLst/>
          </a:prstGeom>
          <a:noFill/>
          <a:ln/>
        </p:spPr>
        <p:txBody>
          <a:bodyPr wrap="square" lIns="0" tIns="0" rIns="0" bIns="0" rtlCol="0" anchor="ctr"/>
          <a:lstStyle/>
          <a:p>
            <a:pPr marL="0" indent="0" algn="ctr">
              <a:buNone/>
            </a:pPr>
            <a:r>
              <a:rPr lang="en-US" sz="2400" dirty="0">
                <a:solidFill>
                  <a:srgbClr val="FFFFFF"/>
                </a:solidFill>
                <a:latin typeface="Arial Black" pitchFamily="34" charset="0"/>
                <a:ea typeface="Arial Black" pitchFamily="34" charset="-122"/>
                <a:cs typeface="Arial Black" pitchFamily="34" charset="-120"/>
              </a:rPr>
              <a:t>10,681</a:t>
            </a:r>
            <a:endParaRPr lang="en-US" sz="2400" dirty="0"/>
          </a:p>
        </p:txBody>
      </p:sp>
      <p:sp>
        <p:nvSpPr>
          <p:cNvPr id="17" name="Text 14"/>
          <p:cNvSpPr/>
          <p:nvPr/>
        </p:nvSpPr>
        <p:spPr>
          <a:xfrm>
            <a:off x="4754880" y="4023360"/>
            <a:ext cx="1920240" cy="365760"/>
          </a:xfrm>
          <a:prstGeom prst="rect">
            <a:avLst/>
          </a:prstGeom>
          <a:noFill/>
          <a:ln/>
        </p:spPr>
        <p:txBody>
          <a:bodyPr wrap="square" lIns="0" tIns="0" rIns="0" bIns="0" rtlCol="0" anchor="ctr"/>
          <a:lstStyle/>
          <a:p>
            <a:pPr marL="0" indent="0" algn="ctr">
              <a:buNone/>
            </a:pPr>
            <a:r>
              <a:rPr lang="en-US" sz="800" dirty="0">
                <a:solidFill>
                  <a:srgbClr val="6B7280"/>
                </a:solidFill>
                <a:latin typeface="Calibri" pitchFamily="34" charset="0"/>
                <a:ea typeface="Calibri" pitchFamily="34" charset="-122"/>
                <a:cs typeface="Calibri" pitchFamily="34" charset="-120"/>
              </a:rPr>
              <a:t>Domiciliary care</a:t>
            </a:r>
            <a:endParaRPr lang="en-US" sz="800" dirty="0"/>
          </a:p>
          <a:p>
            <a:pPr marL="0" indent="0" algn="ctr">
              <a:buNone/>
            </a:pPr>
            <a:r>
              <a:rPr lang="en-US" sz="800" dirty="0">
                <a:solidFill>
                  <a:srgbClr val="6B7280"/>
                </a:solidFill>
                <a:latin typeface="Calibri" pitchFamily="34" charset="0"/>
                <a:ea typeface="Calibri" pitchFamily="34" charset="-122"/>
                <a:cs typeface="Calibri" pitchFamily="34" charset="-120"/>
              </a:rPr>
              <a:t>providers</a:t>
            </a:r>
            <a:endParaRPr lang="en-US" sz="800" dirty="0"/>
          </a:p>
        </p:txBody>
      </p:sp>
      <p:sp>
        <p:nvSpPr>
          <p:cNvPr id="18" name="Shape 15"/>
          <p:cNvSpPr/>
          <p:nvPr/>
        </p:nvSpPr>
        <p:spPr>
          <a:xfrm>
            <a:off x="6858000" y="3611880"/>
            <a:ext cx="0" cy="914400"/>
          </a:xfrm>
          <a:prstGeom prst="line">
            <a:avLst/>
          </a:prstGeom>
          <a:noFill/>
          <a:ln w="6350">
            <a:solidFill>
              <a:srgbClr val="374151"/>
            </a:solidFill>
            <a:prstDash val="solid"/>
          </a:ln>
        </p:spPr>
        <p:txBody>
          <a:bodyPr/>
          <a:lstStyle/>
          <a:p>
            <a:endParaRPr lang="en-GB"/>
          </a:p>
        </p:txBody>
      </p:sp>
      <p:sp>
        <p:nvSpPr>
          <p:cNvPr id="19" name="Text 16"/>
          <p:cNvSpPr/>
          <p:nvPr/>
        </p:nvSpPr>
        <p:spPr>
          <a:xfrm>
            <a:off x="6995160" y="3520440"/>
            <a:ext cx="1920240" cy="457200"/>
          </a:xfrm>
          <a:prstGeom prst="rect">
            <a:avLst/>
          </a:prstGeom>
          <a:noFill/>
          <a:ln/>
        </p:spPr>
        <p:txBody>
          <a:bodyPr wrap="square" lIns="0" tIns="0" rIns="0" bIns="0" rtlCol="0" anchor="ctr"/>
          <a:lstStyle/>
          <a:p>
            <a:pPr marL="0" indent="0" algn="ctr">
              <a:buNone/>
            </a:pPr>
            <a:r>
              <a:rPr lang="en-US" sz="2400" dirty="0">
                <a:solidFill>
                  <a:srgbClr val="FFFFFF"/>
                </a:solidFill>
                <a:latin typeface="Arial Black" pitchFamily="34" charset="0"/>
                <a:ea typeface="Arial Black" pitchFamily="34" charset="-122"/>
                <a:cs typeface="Arial Black" pitchFamily="34" charset="-120"/>
              </a:rPr>
              <a:t>£30BN</a:t>
            </a:r>
            <a:endParaRPr lang="en-US" sz="2400" dirty="0"/>
          </a:p>
        </p:txBody>
      </p:sp>
      <p:sp>
        <p:nvSpPr>
          <p:cNvPr id="20" name="Text 17"/>
          <p:cNvSpPr/>
          <p:nvPr/>
        </p:nvSpPr>
        <p:spPr>
          <a:xfrm>
            <a:off x="6995160" y="4023360"/>
            <a:ext cx="1920240" cy="365760"/>
          </a:xfrm>
          <a:prstGeom prst="rect">
            <a:avLst/>
          </a:prstGeom>
          <a:noFill/>
          <a:ln/>
        </p:spPr>
        <p:txBody>
          <a:bodyPr wrap="square" lIns="0" tIns="0" rIns="0" bIns="0" rtlCol="0" anchor="ctr"/>
          <a:lstStyle/>
          <a:p>
            <a:pPr marL="0" indent="0" algn="ctr">
              <a:buNone/>
            </a:pPr>
            <a:r>
              <a:rPr lang="en-US" sz="800" dirty="0">
                <a:solidFill>
                  <a:srgbClr val="6B7280"/>
                </a:solidFill>
                <a:latin typeface="Calibri" pitchFamily="34" charset="0"/>
                <a:ea typeface="Calibri" pitchFamily="34" charset="-122"/>
                <a:cs typeface="Calibri" pitchFamily="34" charset="-120"/>
              </a:rPr>
              <a:t>Projected ASC</a:t>
            </a:r>
            <a:endParaRPr lang="en-US" sz="800" dirty="0"/>
          </a:p>
          <a:p>
            <a:pPr marL="0" indent="0" algn="ctr">
              <a:buNone/>
            </a:pPr>
            <a:r>
              <a:rPr lang="en-US" sz="800" dirty="0">
                <a:solidFill>
                  <a:srgbClr val="6B7280"/>
                </a:solidFill>
                <a:latin typeface="Calibri" pitchFamily="34" charset="0"/>
                <a:ea typeface="Calibri" pitchFamily="34" charset="-122"/>
                <a:cs typeface="Calibri" pitchFamily="34" charset="-120"/>
              </a:rPr>
              <a:t>spend 2025-26</a:t>
            </a:r>
            <a:endParaRPr lang="en-US" sz="800" dirty="0"/>
          </a:p>
        </p:txBody>
      </p:sp>
      <p:sp>
        <p:nvSpPr>
          <p:cNvPr id="21" name="Shape 18"/>
          <p:cNvSpPr/>
          <p:nvPr/>
        </p:nvSpPr>
        <p:spPr>
          <a:xfrm>
            <a:off x="0" y="4800600"/>
            <a:ext cx="9144000" cy="342900"/>
          </a:xfrm>
          <a:prstGeom prst="rect">
            <a:avLst/>
          </a:prstGeom>
          <a:solidFill>
            <a:srgbClr val="192231"/>
          </a:solidFill>
          <a:ln/>
        </p:spPr>
        <p:txBody>
          <a:bodyPr/>
          <a:lstStyle/>
          <a:p>
            <a:endParaRPr lang="en-GB"/>
          </a:p>
        </p:txBody>
      </p:sp>
      <p:sp>
        <p:nvSpPr>
          <p:cNvPr id="22" name="Text 19"/>
          <p:cNvSpPr/>
          <p:nvPr/>
        </p:nvSpPr>
        <p:spPr>
          <a:xfrm>
            <a:off x="457200" y="4828032"/>
            <a:ext cx="2743200" cy="274320"/>
          </a:xfrm>
          <a:prstGeom prst="rect">
            <a:avLst/>
          </a:prstGeom>
          <a:noFill/>
          <a:ln/>
        </p:spPr>
        <p:txBody>
          <a:bodyPr wrap="square" lIns="0" tIns="0" rIns="0" bIns="0" rtlCol="0" anchor="ctr"/>
          <a:lstStyle/>
          <a:p>
            <a:pPr marL="0" indent="0">
              <a:buNone/>
            </a:pPr>
            <a:r>
              <a:rPr lang="en-US" sz="800" dirty="0">
                <a:solidFill>
                  <a:srgbClr val="6B7280"/>
                </a:solidFill>
                <a:latin typeface="Calibri Light" pitchFamily="34" charset="0"/>
                <a:ea typeface="Calibri Light" pitchFamily="34" charset="-122"/>
                <a:cs typeface="Calibri Light" pitchFamily="34" charset="-120"/>
              </a:rPr>
              <a:t>tenderlab.co.uk</a:t>
            </a:r>
            <a:endParaRPr lang="en-US" sz="800" dirty="0"/>
          </a:p>
        </p:txBody>
      </p:sp>
      <p:pic>
        <p:nvPicPr>
          <p:cNvPr id="23" name="Image 1" descr="preencoded.png"/>
          <p:cNvPicPr>
            <a:picLocks noChangeAspect="1"/>
          </p:cNvPicPr>
          <p:nvPr/>
        </p:nvPicPr>
        <p:blipFill>
          <a:blip r:embed="rId4"/>
          <a:stretch>
            <a:fillRect/>
          </a:stretch>
        </p:blipFill>
        <p:spPr>
          <a:xfrm>
            <a:off x="8229600" y="4709160"/>
            <a:ext cx="502920" cy="50292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32004"/>
          </a:xfrm>
          <a:prstGeom prst="rect">
            <a:avLst/>
          </a:prstGeom>
          <a:solidFill>
            <a:srgbClr val="D4382C"/>
          </a:solidFill>
          <a:ln/>
        </p:spPr>
        <p:txBody>
          <a:bodyPr/>
          <a:lstStyle/>
          <a:p>
            <a:endParaRPr lang="en-GB"/>
          </a:p>
        </p:txBody>
      </p:sp>
      <p:sp>
        <p:nvSpPr>
          <p:cNvPr id="3" name="Text 1"/>
          <p:cNvSpPr/>
          <p:nvPr/>
        </p:nvSpPr>
        <p:spPr>
          <a:xfrm>
            <a:off x="548640" y="274320"/>
            <a:ext cx="5486400" cy="457200"/>
          </a:xfrm>
          <a:prstGeom prst="rect">
            <a:avLst/>
          </a:prstGeom>
          <a:noFill/>
          <a:ln/>
        </p:spPr>
        <p:txBody>
          <a:bodyPr wrap="square" lIns="0" tIns="0" rIns="0" bIns="0" rtlCol="0" anchor="ctr"/>
          <a:lstStyle/>
          <a:p>
            <a:pPr marL="0" indent="0">
              <a:buNone/>
            </a:pPr>
            <a:r>
              <a:rPr lang="en-US" sz="2800" dirty="0">
                <a:solidFill>
                  <a:srgbClr val="192231"/>
                </a:solidFill>
                <a:latin typeface="Arial Black" pitchFamily="34" charset="0"/>
                <a:ea typeface="Arial Black" pitchFamily="34" charset="-122"/>
                <a:cs typeface="Arial Black" pitchFamily="34" charset="-120"/>
              </a:rPr>
              <a:t>Market Pressures</a:t>
            </a:r>
            <a:endParaRPr lang="en-US" sz="2800" dirty="0"/>
          </a:p>
        </p:txBody>
      </p:sp>
      <p:sp>
        <p:nvSpPr>
          <p:cNvPr id="4" name="Text 2"/>
          <p:cNvSpPr/>
          <p:nvPr/>
        </p:nvSpPr>
        <p:spPr>
          <a:xfrm>
            <a:off x="548640" y="731520"/>
            <a:ext cx="4572000" cy="274320"/>
          </a:xfrm>
          <a:prstGeom prst="rect">
            <a:avLst/>
          </a:prstGeom>
          <a:noFill/>
          <a:ln/>
        </p:spPr>
        <p:txBody>
          <a:bodyPr wrap="square" lIns="0" tIns="0" rIns="0" bIns="0" rtlCol="0" anchor="ctr"/>
          <a:lstStyle/>
          <a:p>
            <a:pPr marL="0" indent="0">
              <a:buNone/>
            </a:pPr>
            <a:r>
              <a:rPr lang="en-US" sz="1100" dirty="0">
                <a:solidFill>
                  <a:srgbClr val="6B7280"/>
                </a:solidFill>
                <a:latin typeface="Calibri" pitchFamily="34" charset="0"/>
                <a:ea typeface="Calibri" pitchFamily="34" charset="-122"/>
                <a:cs typeface="Calibri" pitchFamily="34" charset="-120"/>
              </a:rPr>
              <a:t>Every pressure below creates procurement activity.</a:t>
            </a:r>
            <a:endParaRPr lang="en-US" sz="1100" dirty="0"/>
          </a:p>
        </p:txBody>
      </p:sp>
      <p:pic>
        <p:nvPicPr>
          <p:cNvPr id="5" name="Image 0" descr="preencoded.png"/>
          <p:cNvPicPr>
            <a:picLocks noChangeAspect="1"/>
          </p:cNvPicPr>
          <p:nvPr/>
        </p:nvPicPr>
        <p:blipFill>
          <a:blip r:embed="rId3"/>
          <a:stretch>
            <a:fillRect/>
          </a:stretch>
        </p:blipFill>
        <p:spPr>
          <a:xfrm>
            <a:off x="5486400" y="274320"/>
            <a:ext cx="3291840" cy="4206240"/>
          </a:xfrm>
          <a:prstGeom prst="rect">
            <a:avLst/>
          </a:prstGeom>
        </p:spPr>
      </p:pic>
      <p:sp>
        <p:nvSpPr>
          <p:cNvPr id="6" name="Text 3"/>
          <p:cNvSpPr/>
          <p:nvPr/>
        </p:nvSpPr>
        <p:spPr>
          <a:xfrm>
            <a:off x="548640" y="1097280"/>
            <a:ext cx="1097280" cy="320040"/>
          </a:xfrm>
          <a:prstGeom prst="rect">
            <a:avLst/>
          </a:prstGeom>
          <a:noFill/>
          <a:ln/>
        </p:spPr>
        <p:txBody>
          <a:bodyPr wrap="square" lIns="0" tIns="0" rIns="0" bIns="0" rtlCol="0" anchor="ctr"/>
          <a:lstStyle/>
          <a:p>
            <a:pPr marL="0" indent="0">
              <a:buNone/>
            </a:pPr>
            <a:r>
              <a:rPr lang="en-US" sz="1800" dirty="0">
                <a:solidFill>
                  <a:srgbClr val="D4382C"/>
                </a:solidFill>
                <a:latin typeface="Arial Black" pitchFamily="34" charset="0"/>
                <a:ea typeface="Arial Black" pitchFamily="34" charset="-122"/>
                <a:cs typeface="Arial Black" pitchFamily="34" charset="-120"/>
              </a:rPr>
              <a:t>£4BN+</a:t>
            </a:r>
            <a:endParaRPr lang="en-US" sz="1800" dirty="0"/>
          </a:p>
        </p:txBody>
      </p:sp>
      <p:sp>
        <p:nvSpPr>
          <p:cNvPr id="7" name="Text 4"/>
          <p:cNvSpPr/>
          <p:nvPr/>
        </p:nvSpPr>
        <p:spPr>
          <a:xfrm>
            <a:off x="1737360" y="1097280"/>
            <a:ext cx="1828800" cy="320040"/>
          </a:xfrm>
          <a:prstGeom prst="rect">
            <a:avLst/>
          </a:prstGeom>
          <a:noFill/>
          <a:ln/>
        </p:spPr>
        <p:txBody>
          <a:bodyPr wrap="square" lIns="0" tIns="0" rIns="0" bIns="0" rtlCol="0" anchor="ctr"/>
          <a:lstStyle/>
          <a:p>
            <a:pPr marL="0" indent="0">
              <a:buNone/>
            </a:pPr>
            <a:r>
              <a:rPr lang="en-US" sz="1000" b="1" dirty="0">
                <a:solidFill>
                  <a:srgbClr val="192231"/>
                </a:solidFill>
                <a:latin typeface="Calibri" pitchFamily="34" charset="0"/>
                <a:ea typeface="Calibri" pitchFamily="34" charset="-122"/>
                <a:cs typeface="Calibri" pitchFamily="34" charset="-120"/>
              </a:rPr>
              <a:t>Combined LA budget gaps</a:t>
            </a:r>
            <a:endParaRPr lang="en-US" sz="1000" dirty="0"/>
          </a:p>
          <a:p>
            <a:pPr marL="0" indent="0">
              <a:buNone/>
            </a:pPr>
            <a:r>
              <a:rPr lang="en-US" sz="1000" b="1" dirty="0">
                <a:solidFill>
                  <a:srgbClr val="192231"/>
                </a:solidFill>
                <a:latin typeface="Calibri" pitchFamily="34" charset="0"/>
                <a:ea typeface="Calibri" pitchFamily="34" charset="-122"/>
                <a:cs typeface="Calibri" pitchFamily="34" charset="-120"/>
              </a:rPr>
              <a:t>2025-26</a:t>
            </a:r>
            <a:endParaRPr lang="en-US" sz="1000" dirty="0"/>
          </a:p>
        </p:txBody>
      </p:sp>
      <p:sp>
        <p:nvSpPr>
          <p:cNvPr id="8" name="Text 5"/>
          <p:cNvSpPr/>
          <p:nvPr/>
        </p:nvSpPr>
        <p:spPr>
          <a:xfrm>
            <a:off x="1737360" y="1444752"/>
            <a:ext cx="3474720" cy="274320"/>
          </a:xfrm>
          <a:prstGeom prst="rect">
            <a:avLst/>
          </a:prstGeom>
          <a:noFill/>
          <a:ln/>
        </p:spPr>
        <p:txBody>
          <a:bodyPr wrap="square" lIns="0" tIns="0" rIns="0" bIns="0" rtlCol="0" anchor="ctr"/>
          <a:lstStyle/>
          <a:p>
            <a:pPr marL="0" indent="0">
              <a:buNone/>
            </a:pPr>
            <a:r>
              <a:rPr lang="en-US" sz="900" dirty="0">
                <a:solidFill>
                  <a:srgbClr val="6B7280"/>
                </a:solidFill>
                <a:latin typeface="Calibri Light" pitchFamily="34" charset="0"/>
                <a:ea typeface="Calibri Light" pitchFamily="34" charset="-122"/>
                <a:cs typeface="Calibri Light" pitchFamily="34" charset="-120"/>
              </a:rPr>
              <a:t>Councils projecting savings of £1.4bn in ASC alone.</a:t>
            </a:r>
            <a:endParaRPr lang="en-US" sz="900" dirty="0"/>
          </a:p>
        </p:txBody>
      </p:sp>
      <p:sp>
        <p:nvSpPr>
          <p:cNvPr id="9" name="Shape 6"/>
          <p:cNvSpPr/>
          <p:nvPr/>
        </p:nvSpPr>
        <p:spPr>
          <a:xfrm>
            <a:off x="548640" y="1828800"/>
            <a:ext cx="4572000" cy="0"/>
          </a:xfrm>
          <a:prstGeom prst="line">
            <a:avLst/>
          </a:prstGeom>
          <a:noFill/>
          <a:ln w="6350">
            <a:solidFill>
              <a:srgbClr val="E5E7EB"/>
            </a:solidFill>
            <a:prstDash val="solid"/>
          </a:ln>
        </p:spPr>
        <p:txBody>
          <a:bodyPr/>
          <a:lstStyle/>
          <a:p>
            <a:endParaRPr lang="en-GB"/>
          </a:p>
        </p:txBody>
      </p:sp>
      <p:sp>
        <p:nvSpPr>
          <p:cNvPr id="10" name="Text 7"/>
          <p:cNvSpPr/>
          <p:nvPr/>
        </p:nvSpPr>
        <p:spPr>
          <a:xfrm>
            <a:off x="548640" y="2011680"/>
            <a:ext cx="1097280" cy="320040"/>
          </a:xfrm>
          <a:prstGeom prst="rect">
            <a:avLst/>
          </a:prstGeom>
          <a:noFill/>
          <a:ln/>
        </p:spPr>
        <p:txBody>
          <a:bodyPr wrap="square" lIns="0" tIns="0" rIns="0" bIns="0" rtlCol="0" anchor="ctr"/>
          <a:lstStyle/>
          <a:p>
            <a:pPr marL="0" indent="0">
              <a:buNone/>
            </a:pPr>
            <a:r>
              <a:rPr lang="en-US" sz="1800" dirty="0">
                <a:solidFill>
                  <a:srgbClr val="D4382C"/>
                </a:solidFill>
                <a:latin typeface="Arial Black" pitchFamily="34" charset="0"/>
                <a:ea typeface="Arial Black" pitchFamily="34" charset="-122"/>
                <a:cs typeface="Arial Black" pitchFamily="34" charset="-120"/>
              </a:rPr>
              <a:t>6.7%</a:t>
            </a:r>
            <a:endParaRPr lang="en-US" sz="1800" dirty="0"/>
          </a:p>
        </p:txBody>
      </p:sp>
      <p:sp>
        <p:nvSpPr>
          <p:cNvPr id="11" name="Text 8"/>
          <p:cNvSpPr/>
          <p:nvPr/>
        </p:nvSpPr>
        <p:spPr>
          <a:xfrm>
            <a:off x="1737360" y="2011680"/>
            <a:ext cx="1828800" cy="320040"/>
          </a:xfrm>
          <a:prstGeom prst="rect">
            <a:avLst/>
          </a:prstGeom>
          <a:noFill/>
          <a:ln/>
        </p:spPr>
        <p:txBody>
          <a:bodyPr wrap="square" lIns="0" tIns="0" rIns="0" bIns="0" rtlCol="0" anchor="ctr"/>
          <a:lstStyle/>
          <a:p>
            <a:pPr marL="0" indent="0">
              <a:buNone/>
            </a:pPr>
            <a:r>
              <a:rPr lang="en-US" sz="1000" b="1" dirty="0">
                <a:solidFill>
                  <a:srgbClr val="192231"/>
                </a:solidFill>
                <a:latin typeface="Calibri" pitchFamily="34" charset="0"/>
                <a:ea typeface="Calibri" pitchFamily="34" charset="-122"/>
                <a:cs typeface="Calibri" pitchFamily="34" charset="-120"/>
              </a:rPr>
              <a:t>National Living Wage</a:t>
            </a:r>
            <a:endParaRPr lang="en-US" sz="1000" dirty="0"/>
          </a:p>
          <a:p>
            <a:pPr marL="0" indent="0">
              <a:buNone/>
            </a:pPr>
            <a:r>
              <a:rPr lang="en-US" sz="1000" b="1" dirty="0">
                <a:solidFill>
                  <a:srgbClr val="192231"/>
                </a:solidFill>
                <a:latin typeface="Calibri" pitchFamily="34" charset="0"/>
                <a:ea typeface="Calibri" pitchFamily="34" charset="-122"/>
                <a:cs typeface="Calibri" pitchFamily="34" charset="-120"/>
              </a:rPr>
              <a:t>increase 2025</a:t>
            </a:r>
            <a:endParaRPr lang="en-US" sz="1000" dirty="0"/>
          </a:p>
        </p:txBody>
      </p:sp>
      <p:sp>
        <p:nvSpPr>
          <p:cNvPr id="12" name="Text 9"/>
          <p:cNvSpPr/>
          <p:nvPr/>
        </p:nvSpPr>
        <p:spPr>
          <a:xfrm>
            <a:off x="1737360" y="2359152"/>
            <a:ext cx="3474720" cy="274320"/>
          </a:xfrm>
          <a:prstGeom prst="rect">
            <a:avLst/>
          </a:prstGeom>
          <a:noFill/>
          <a:ln/>
        </p:spPr>
        <p:txBody>
          <a:bodyPr wrap="square" lIns="0" tIns="0" rIns="0" bIns="0" rtlCol="0" anchor="ctr"/>
          <a:lstStyle/>
          <a:p>
            <a:pPr marL="0" indent="0">
              <a:buNone/>
            </a:pPr>
            <a:r>
              <a:rPr lang="en-US" sz="900" dirty="0">
                <a:solidFill>
                  <a:srgbClr val="6B7280"/>
                </a:solidFill>
                <a:latin typeface="Calibri Light" pitchFamily="34" charset="0"/>
                <a:ea typeface="Calibri Light" pitchFamily="34" charset="-122"/>
                <a:cs typeface="Calibri Light" pitchFamily="34" charset="-120"/>
              </a:rPr>
              <a:t>Costs the care sector approximately £1.2bn.</a:t>
            </a:r>
            <a:endParaRPr lang="en-US" sz="900" dirty="0"/>
          </a:p>
        </p:txBody>
      </p:sp>
      <p:sp>
        <p:nvSpPr>
          <p:cNvPr id="13" name="Shape 10"/>
          <p:cNvSpPr/>
          <p:nvPr/>
        </p:nvSpPr>
        <p:spPr>
          <a:xfrm>
            <a:off x="548640" y="2743200"/>
            <a:ext cx="4572000" cy="0"/>
          </a:xfrm>
          <a:prstGeom prst="line">
            <a:avLst/>
          </a:prstGeom>
          <a:noFill/>
          <a:ln w="6350">
            <a:solidFill>
              <a:srgbClr val="E5E7EB"/>
            </a:solidFill>
            <a:prstDash val="solid"/>
          </a:ln>
        </p:spPr>
        <p:txBody>
          <a:bodyPr/>
          <a:lstStyle/>
          <a:p>
            <a:endParaRPr lang="en-GB"/>
          </a:p>
        </p:txBody>
      </p:sp>
      <p:sp>
        <p:nvSpPr>
          <p:cNvPr id="14" name="Text 11"/>
          <p:cNvSpPr/>
          <p:nvPr/>
        </p:nvSpPr>
        <p:spPr>
          <a:xfrm>
            <a:off x="548640" y="2926080"/>
            <a:ext cx="1097280" cy="320040"/>
          </a:xfrm>
          <a:prstGeom prst="rect">
            <a:avLst/>
          </a:prstGeom>
          <a:noFill/>
          <a:ln/>
        </p:spPr>
        <p:txBody>
          <a:bodyPr wrap="square" lIns="0" tIns="0" rIns="0" bIns="0" rtlCol="0" anchor="ctr"/>
          <a:lstStyle/>
          <a:p>
            <a:pPr marL="0" indent="0">
              <a:buNone/>
            </a:pPr>
            <a:r>
              <a:rPr lang="en-US" sz="1800" dirty="0">
                <a:solidFill>
                  <a:srgbClr val="D4382C"/>
                </a:solidFill>
                <a:latin typeface="Arial Black" pitchFamily="34" charset="0"/>
                <a:ea typeface="Arial Black" pitchFamily="34" charset="-122"/>
                <a:cs typeface="Arial Black" pitchFamily="34" charset="-120"/>
              </a:rPr>
              <a:t>7.39M</a:t>
            </a:r>
            <a:endParaRPr lang="en-US" sz="1800" dirty="0"/>
          </a:p>
        </p:txBody>
      </p:sp>
      <p:sp>
        <p:nvSpPr>
          <p:cNvPr id="15" name="Text 12"/>
          <p:cNvSpPr/>
          <p:nvPr/>
        </p:nvSpPr>
        <p:spPr>
          <a:xfrm>
            <a:off x="1737360" y="2926080"/>
            <a:ext cx="1828800" cy="320040"/>
          </a:xfrm>
          <a:prstGeom prst="rect">
            <a:avLst/>
          </a:prstGeom>
          <a:noFill/>
          <a:ln/>
        </p:spPr>
        <p:txBody>
          <a:bodyPr wrap="square" lIns="0" tIns="0" rIns="0" bIns="0" rtlCol="0" anchor="ctr"/>
          <a:lstStyle/>
          <a:p>
            <a:pPr marL="0" indent="0">
              <a:buNone/>
            </a:pPr>
            <a:r>
              <a:rPr lang="en-US" sz="1000" b="1" dirty="0">
                <a:solidFill>
                  <a:srgbClr val="192231"/>
                </a:solidFill>
                <a:latin typeface="Calibri" pitchFamily="34" charset="0"/>
                <a:ea typeface="Calibri" pitchFamily="34" charset="-122"/>
                <a:cs typeface="Calibri" pitchFamily="34" charset="-120"/>
              </a:rPr>
              <a:t>NHS pathways awaiting</a:t>
            </a:r>
            <a:endParaRPr lang="en-US" sz="1000" dirty="0"/>
          </a:p>
          <a:p>
            <a:pPr marL="0" indent="0">
              <a:buNone/>
            </a:pPr>
            <a:r>
              <a:rPr lang="en-US" sz="1000" b="1" dirty="0">
                <a:solidFill>
                  <a:srgbClr val="192231"/>
                </a:solidFill>
                <a:latin typeface="Calibri" pitchFamily="34" charset="0"/>
                <a:ea typeface="Calibri" pitchFamily="34" charset="-122"/>
                <a:cs typeface="Calibri" pitchFamily="34" charset="-120"/>
              </a:rPr>
              <a:t>treatment</a:t>
            </a:r>
            <a:endParaRPr lang="en-US" sz="1000" dirty="0"/>
          </a:p>
        </p:txBody>
      </p:sp>
      <p:sp>
        <p:nvSpPr>
          <p:cNvPr id="16" name="Text 13"/>
          <p:cNvSpPr/>
          <p:nvPr/>
        </p:nvSpPr>
        <p:spPr>
          <a:xfrm>
            <a:off x="1737360" y="3273552"/>
            <a:ext cx="3474720" cy="274320"/>
          </a:xfrm>
          <a:prstGeom prst="rect">
            <a:avLst/>
          </a:prstGeom>
          <a:noFill/>
          <a:ln/>
        </p:spPr>
        <p:txBody>
          <a:bodyPr wrap="square" lIns="0" tIns="0" rIns="0" bIns="0" rtlCol="0" anchor="ctr"/>
          <a:lstStyle/>
          <a:p>
            <a:pPr marL="0" indent="0">
              <a:buNone/>
            </a:pPr>
            <a:r>
              <a:rPr lang="en-US" sz="900" dirty="0">
                <a:solidFill>
                  <a:srgbClr val="6B7280"/>
                </a:solidFill>
                <a:latin typeface="Calibri Light" pitchFamily="34" charset="0"/>
                <a:ea typeface="Calibri Light" pitchFamily="34" charset="-122"/>
                <a:cs typeface="Calibri Light" pitchFamily="34" charset="-120"/>
              </a:rPr>
              <a:t>Only 59.7% treated within 18-week target.</a:t>
            </a:r>
            <a:endParaRPr lang="en-US" sz="900" dirty="0"/>
          </a:p>
        </p:txBody>
      </p:sp>
      <p:sp>
        <p:nvSpPr>
          <p:cNvPr id="17" name="Shape 14"/>
          <p:cNvSpPr/>
          <p:nvPr/>
        </p:nvSpPr>
        <p:spPr>
          <a:xfrm>
            <a:off x="548640" y="3657600"/>
            <a:ext cx="4572000" cy="0"/>
          </a:xfrm>
          <a:prstGeom prst="line">
            <a:avLst/>
          </a:prstGeom>
          <a:noFill/>
          <a:ln w="6350">
            <a:solidFill>
              <a:srgbClr val="E5E7EB"/>
            </a:solidFill>
            <a:prstDash val="solid"/>
          </a:ln>
        </p:spPr>
        <p:txBody>
          <a:bodyPr/>
          <a:lstStyle/>
          <a:p>
            <a:endParaRPr lang="en-GB"/>
          </a:p>
        </p:txBody>
      </p:sp>
      <p:sp>
        <p:nvSpPr>
          <p:cNvPr id="18" name="Text 15"/>
          <p:cNvSpPr/>
          <p:nvPr/>
        </p:nvSpPr>
        <p:spPr>
          <a:xfrm>
            <a:off x="548640" y="3840480"/>
            <a:ext cx="1097280" cy="320040"/>
          </a:xfrm>
          <a:prstGeom prst="rect">
            <a:avLst/>
          </a:prstGeom>
          <a:noFill/>
          <a:ln/>
        </p:spPr>
        <p:txBody>
          <a:bodyPr wrap="square" lIns="0" tIns="0" rIns="0" bIns="0" rtlCol="0" anchor="ctr"/>
          <a:lstStyle/>
          <a:p>
            <a:pPr marL="0" indent="0">
              <a:buNone/>
            </a:pPr>
            <a:r>
              <a:rPr lang="en-US" sz="1800" dirty="0">
                <a:solidFill>
                  <a:srgbClr val="D4382C"/>
                </a:solidFill>
                <a:latin typeface="Arial Black" pitchFamily="34" charset="0"/>
                <a:ea typeface="Arial Black" pitchFamily="34" charset="-122"/>
                <a:cs typeface="Arial Black" pitchFamily="34" charset="-120"/>
              </a:rPr>
              <a:t>47%</a:t>
            </a:r>
            <a:endParaRPr lang="en-US" sz="1800" dirty="0"/>
          </a:p>
        </p:txBody>
      </p:sp>
      <p:sp>
        <p:nvSpPr>
          <p:cNvPr id="19" name="Text 16"/>
          <p:cNvSpPr/>
          <p:nvPr/>
        </p:nvSpPr>
        <p:spPr>
          <a:xfrm>
            <a:off x="1737360" y="3840480"/>
            <a:ext cx="1828800" cy="320040"/>
          </a:xfrm>
          <a:prstGeom prst="rect">
            <a:avLst/>
          </a:prstGeom>
          <a:noFill/>
          <a:ln/>
        </p:spPr>
        <p:txBody>
          <a:bodyPr wrap="square" lIns="0" tIns="0" rIns="0" bIns="0" rtlCol="0" anchor="ctr"/>
          <a:lstStyle/>
          <a:p>
            <a:pPr marL="0" indent="0">
              <a:buNone/>
            </a:pPr>
            <a:r>
              <a:rPr lang="en-US" sz="1000" b="1" dirty="0">
                <a:solidFill>
                  <a:srgbClr val="192231"/>
                </a:solidFill>
                <a:latin typeface="Calibri" pitchFamily="34" charset="0"/>
                <a:ea typeface="Calibri" pitchFamily="34" charset="-122"/>
                <a:cs typeface="Calibri" pitchFamily="34" charset="-120"/>
              </a:rPr>
              <a:t>ASC spending increase</a:t>
            </a:r>
            <a:endParaRPr lang="en-US" sz="1000" dirty="0"/>
          </a:p>
          <a:p>
            <a:pPr marL="0" indent="0">
              <a:buNone/>
            </a:pPr>
            <a:r>
              <a:rPr lang="en-US" sz="1000" b="1" dirty="0">
                <a:solidFill>
                  <a:srgbClr val="192231"/>
                </a:solidFill>
                <a:latin typeface="Calibri" pitchFamily="34" charset="0"/>
                <a:ea typeface="Calibri" pitchFamily="34" charset="-122"/>
                <a:cs typeface="Calibri" pitchFamily="34" charset="-120"/>
              </a:rPr>
              <a:t>since 2015 (cash terms)</a:t>
            </a:r>
            <a:endParaRPr lang="en-US" sz="1000" dirty="0"/>
          </a:p>
        </p:txBody>
      </p:sp>
      <p:sp>
        <p:nvSpPr>
          <p:cNvPr id="20" name="Text 17"/>
          <p:cNvSpPr/>
          <p:nvPr/>
        </p:nvSpPr>
        <p:spPr>
          <a:xfrm>
            <a:off x="1737360" y="4187952"/>
            <a:ext cx="3474720" cy="274320"/>
          </a:xfrm>
          <a:prstGeom prst="rect">
            <a:avLst/>
          </a:prstGeom>
          <a:noFill/>
          <a:ln/>
        </p:spPr>
        <p:txBody>
          <a:bodyPr wrap="square" lIns="0" tIns="0" rIns="0" bIns="0" rtlCol="0" anchor="ctr"/>
          <a:lstStyle/>
          <a:p>
            <a:pPr marL="0" indent="0">
              <a:buNone/>
            </a:pPr>
            <a:r>
              <a:rPr lang="en-US" sz="900" dirty="0">
                <a:solidFill>
                  <a:srgbClr val="6B7280"/>
                </a:solidFill>
                <a:latin typeface="Calibri Light" pitchFamily="34" charset="0"/>
                <a:ea typeface="Calibri Light" pitchFamily="34" charset="-122"/>
                <a:cs typeface="Calibri Light" pitchFamily="34" charset="-120"/>
              </a:rPr>
              <a:t>Buys 9% fewer care hours due to inflation.</a:t>
            </a:r>
            <a:endParaRPr lang="en-US" sz="900" dirty="0"/>
          </a:p>
        </p:txBody>
      </p:sp>
      <p:sp>
        <p:nvSpPr>
          <p:cNvPr id="21" name="Shape 18"/>
          <p:cNvSpPr/>
          <p:nvPr/>
        </p:nvSpPr>
        <p:spPr>
          <a:xfrm>
            <a:off x="0" y="4800600"/>
            <a:ext cx="9144000" cy="342900"/>
          </a:xfrm>
          <a:prstGeom prst="rect">
            <a:avLst/>
          </a:prstGeom>
          <a:solidFill>
            <a:srgbClr val="F3F4F6"/>
          </a:solidFill>
          <a:ln/>
        </p:spPr>
        <p:txBody>
          <a:bodyPr/>
          <a:lstStyle/>
          <a:p>
            <a:endParaRPr lang="en-GB"/>
          </a:p>
        </p:txBody>
      </p:sp>
      <p:sp>
        <p:nvSpPr>
          <p:cNvPr id="22" name="Text 19"/>
          <p:cNvSpPr/>
          <p:nvPr/>
        </p:nvSpPr>
        <p:spPr>
          <a:xfrm>
            <a:off x="457200" y="4828032"/>
            <a:ext cx="2743200" cy="274320"/>
          </a:xfrm>
          <a:prstGeom prst="rect">
            <a:avLst/>
          </a:prstGeom>
          <a:noFill/>
          <a:ln/>
        </p:spPr>
        <p:txBody>
          <a:bodyPr wrap="square" lIns="0" tIns="0" rIns="0" bIns="0" rtlCol="0" anchor="ctr"/>
          <a:lstStyle/>
          <a:p>
            <a:pPr marL="0" indent="0">
              <a:buNone/>
            </a:pPr>
            <a:r>
              <a:rPr lang="en-US" sz="800" dirty="0">
                <a:solidFill>
                  <a:srgbClr val="6B7280"/>
                </a:solidFill>
                <a:latin typeface="Calibri Light" pitchFamily="34" charset="0"/>
                <a:ea typeface="Calibri Light" pitchFamily="34" charset="-122"/>
                <a:cs typeface="Calibri Light" pitchFamily="34" charset="-120"/>
              </a:rPr>
              <a:t>tenderlab.co.uk</a:t>
            </a:r>
            <a:endParaRPr lang="en-US" sz="800" dirty="0"/>
          </a:p>
        </p:txBody>
      </p:sp>
      <p:pic>
        <p:nvPicPr>
          <p:cNvPr id="23" name="Image 1" descr="preencoded.png"/>
          <p:cNvPicPr>
            <a:picLocks noChangeAspect="1"/>
          </p:cNvPicPr>
          <p:nvPr/>
        </p:nvPicPr>
        <p:blipFill>
          <a:blip r:embed="rId4"/>
          <a:stretch>
            <a:fillRect/>
          </a:stretch>
        </p:blipFill>
        <p:spPr>
          <a:xfrm>
            <a:off x="8229600" y="4709160"/>
            <a:ext cx="502920" cy="50292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32004"/>
          </a:xfrm>
          <a:prstGeom prst="rect">
            <a:avLst/>
          </a:prstGeom>
          <a:solidFill>
            <a:srgbClr val="D4382C"/>
          </a:solidFill>
          <a:ln/>
        </p:spPr>
        <p:txBody>
          <a:bodyPr/>
          <a:lstStyle/>
          <a:p>
            <a:endParaRPr lang="en-GB"/>
          </a:p>
        </p:txBody>
      </p:sp>
      <p:sp>
        <p:nvSpPr>
          <p:cNvPr id="3" name="Text 1"/>
          <p:cNvSpPr/>
          <p:nvPr/>
        </p:nvSpPr>
        <p:spPr>
          <a:xfrm>
            <a:off x="548640" y="274320"/>
            <a:ext cx="5486400" cy="457200"/>
          </a:xfrm>
          <a:prstGeom prst="rect">
            <a:avLst/>
          </a:prstGeom>
          <a:noFill/>
          <a:ln/>
        </p:spPr>
        <p:txBody>
          <a:bodyPr wrap="square" lIns="0" tIns="0" rIns="0" bIns="0" rtlCol="0" anchor="ctr"/>
          <a:lstStyle/>
          <a:p>
            <a:pPr marL="0" indent="0">
              <a:buNone/>
            </a:pPr>
            <a:r>
              <a:rPr lang="en-US" sz="2800" dirty="0">
                <a:solidFill>
                  <a:srgbClr val="192231"/>
                </a:solidFill>
                <a:latin typeface="Arial Black" pitchFamily="34" charset="0"/>
                <a:ea typeface="Arial Black" pitchFamily="34" charset="-122"/>
                <a:cs typeface="Arial Black" pitchFamily="34" charset="-120"/>
              </a:rPr>
              <a:t>Market Opportunity</a:t>
            </a:r>
            <a:endParaRPr lang="en-US" sz="2800" dirty="0"/>
          </a:p>
        </p:txBody>
      </p:sp>
      <p:pic>
        <p:nvPicPr>
          <p:cNvPr id="4" name="Image 0" descr="preencoded.png"/>
          <p:cNvPicPr>
            <a:picLocks noChangeAspect="1"/>
          </p:cNvPicPr>
          <p:nvPr/>
        </p:nvPicPr>
        <p:blipFill>
          <a:blip r:embed="rId3"/>
          <a:stretch>
            <a:fillRect/>
          </a:stretch>
        </p:blipFill>
        <p:spPr>
          <a:xfrm>
            <a:off x="0" y="914400"/>
            <a:ext cx="4114800" cy="2743200"/>
          </a:xfrm>
          <a:prstGeom prst="rect">
            <a:avLst/>
          </a:prstGeom>
        </p:spPr>
      </p:pic>
      <p:sp>
        <p:nvSpPr>
          <p:cNvPr id="5" name="Text 2"/>
          <p:cNvSpPr/>
          <p:nvPr/>
        </p:nvSpPr>
        <p:spPr>
          <a:xfrm>
            <a:off x="4389120" y="914400"/>
            <a:ext cx="4389120" cy="3200400"/>
          </a:xfrm>
          <a:prstGeom prst="rect">
            <a:avLst/>
          </a:prstGeom>
          <a:noFill/>
          <a:ln/>
        </p:spPr>
        <p:txBody>
          <a:bodyPr wrap="square" lIns="0" tIns="0" rIns="0" bIns="0" rtlCol="0" anchor="ctr"/>
          <a:lstStyle/>
          <a:p>
            <a:pPr marL="0" indent="0">
              <a:buNone/>
            </a:pPr>
            <a:r>
              <a:rPr lang="en-US" sz="1100" b="1" dirty="0">
                <a:solidFill>
                  <a:srgbClr val="192231"/>
                </a:solidFill>
              </a:rPr>
              <a:t>Government is consolidating ASC funding </a:t>
            </a:r>
            <a:r>
              <a:rPr lang="en-US" sz="1000" dirty="0">
                <a:solidFill>
                  <a:srgbClr val="6B7280"/>
                </a:solidFill>
              </a:rPr>
              <a:t>through Fair Funding Allocation from 2026-27. This restructuring triggers new commissioning cycles across every local authority in England.</a:t>
            </a:r>
            <a:endParaRPr lang="en-US" sz="1100" dirty="0"/>
          </a:p>
          <a:p>
            <a:pPr marL="0" indent="0">
              <a:buNone/>
            </a:pPr>
            <a:endParaRPr lang="en-US" sz="1100" dirty="0"/>
          </a:p>
          <a:p>
            <a:pPr marL="0" indent="0">
              <a:buNone/>
            </a:pPr>
            <a:r>
              <a:rPr lang="en-US" sz="1100" b="1" dirty="0">
                <a:solidFill>
                  <a:srgbClr val="192231"/>
                </a:solidFill>
              </a:rPr>
              <a:t>CQC refreshed local authority assessments </a:t>
            </a:r>
            <a:r>
              <a:rPr lang="en-US" sz="1000" dirty="0">
                <a:solidFill>
                  <a:srgbClr val="6B7280"/>
                </a:solidFill>
              </a:rPr>
              <a:t>roll out in 2026-27. Greater transparency means providers need stronger evidence in submissions to demonstrate alignment.</a:t>
            </a:r>
            <a:endParaRPr lang="en-US" sz="1100" dirty="0"/>
          </a:p>
          <a:p>
            <a:pPr marL="0" indent="0">
              <a:buNone/>
            </a:pPr>
            <a:endParaRPr lang="en-US" sz="1100" dirty="0"/>
          </a:p>
          <a:p>
            <a:pPr marL="0" indent="0">
              <a:buNone/>
            </a:pPr>
            <a:r>
              <a:rPr lang="en-US" sz="1100" b="1" dirty="0">
                <a:solidFill>
                  <a:srgbClr val="192231"/>
                </a:solidFill>
              </a:rPr>
              <a:t>The domiciliary care market alone is worth £6.7bn </a:t>
            </a:r>
            <a:r>
              <a:rPr lang="en-US" sz="1000" dirty="0">
                <a:solidFill>
                  <a:srgbClr val="6B7280"/>
                </a:solidFill>
              </a:rPr>
              <a:t>with 10,681 providers competing. The difference between winning and losing is the quality of the written submission.</a:t>
            </a:r>
            <a:endParaRPr lang="en-US" sz="1100" dirty="0"/>
          </a:p>
        </p:txBody>
      </p:sp>
      <p:pic>
        <p:nvPicPr>
          <p:cNvPr id="6" name="Image 1" descr="preencoded.png"/>
          <p:cNvPicPr>
            <a:picLocks noChangeAspect="1"/>
          </p:cNvPicPr>
          <p:nvPr/>
        </p:nvPicPr>
        <p:blipFill>
          <a:blip r:embed="rId4"/>
          <a:stretch>
            <a:fillRect/>
          </a:stretch>
        </p:blipFill>
        <p:spPr>
          <a:xfrm>
            <a:off x="0" y="3749040"/>
            <a:ext cx="4572000" cy="1051560"/>
          </a:xfrm>
          <a:prstGeom prst="rect">
            <a:avLst/>
          </a:prstGeom>
        </p:spPr>
      </p:pic>
      <p:pic>
        <p:nvPicPr>
          <p:cNvPr id="7" name="Image 2" descr="preencoded.png"/>
          <p:cNvPicPr>
            <a:picLocks noChangeAspect="1"/>
          </p:cNvPicPr>
          <p:nvPr/>
        </p:nvPicPr>
        <p:blipFill>
          <a:blip r:embed="rId5"/>
          <a:stretch>
            <a:fillRect/>
          </a:stretch>
        </p:blipFill>
        <p:spPr>
          <a:xfrm>
            <a:off x="4572000" y="3749040"/>
            <a:ext cx="4572000" cy="105156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32004"/>
          </a:xfrm>
          <a:prstGeom prst="rect">
            <a:avLst/>
          </a:prstGeom>
          <a:solidFill>
            <a:srgbClr val="D4382C"/>
          </a:solidFill>
          <a:ln/>
        </p:spPr>
        <p:txBody>
          <a:bodyPr/>
          <a:lstStyle/>
          <a:p>
            <a:endParaRPr lang="en-GB"/>
          </a:p>
        </p:txBody>
      </p:sp>
      <p:sp>
        <p:nvSpPr>
          <p:cNvPr id="3" name="Text 1"/>
          <p:cNvSpPr/>
          <p:nvPr/>
        </p:nvSpPr>
        <p:spPr>
          <a:xfrm>
            <a:off x="548640" y="1645920"/>
            <a:ext cx="1371600" cy="457200"/>
          </a:xfrm>
          <a:prstGeom prst="rect">
            <a:avLst/>
          </a:prstGeom>
          <a:noFill/>
          <a:ln/>
        </p:spPr>
        <p:txBody>
          <a:bodyPr wrap="square" lIns="0" tIns="0" rIns="0" bIns="0" rtlCol="0" anchor="ctr"/>
          <a:lstStyle/>
          <a:p>
            <a:pPr marL="0" indent="0">
              <a:buNone/>
            </a:pPr>
            <a:r>
              <a:rPr lang="en-US" sz="2200" dirty="0">
                <a:solidFill>
                  <a:srgbClr val="5A7A96"/>
                </a:solidFill>
                <a:latin typeface="Arial" pitchFamily="34" charset="0"/>
                <a:ea typeface="Arial" pitchFamily="34" charset="-122"/>
                <a:cs typeface="Arial" pitchFamily="34" charset="-120"/>
              </a:rPr>
              <a:t>02</a:t>
            </a:r>
            <a:endParaRPr lang="en-US" sz="2200" dirty="0"/>
          </a:p>
        </p:txBody>
      </p:sp>
      <p:sp>
        <p:nvSpPr>
          <p:cNvPr id="4" name="Text 2"/>
          <p:cNvSpPr/>
          <p:nvPr/>
        </p:nvSpPr>
        <p:spPr>
          <a:xfrm>
            <a:off x="548640" y="2103120"/>
            <a:ext cx="7315200" cy="1463040"/>
          </a:xfrm>
          <a:prstGeom prst="rect">
            <a:avLst/>
          </a:prstGeom>
          <a:noFill/>
          <a:ln/>
        </p:spPr>
        <p:txBody>
          <a:bodyPr wrap="square" lIns="0" tIns="0" rIns="0" bIns="0" rtlCol="0" anchor="ctr"/>
          <a:lstStyle/>
          <a:p>
            <a:pPr marL="0" indent="0">
              <a:lnSpc>
                <a:spcPct val="90000"/>
              </a:lnSpc>
              <a:buNone/>
            </a:pPr>
            <a:r>
              <a:rPr lang="en-US" sz="4800" dirty="0">
                <a:solidFill>
                  <a:srgbClr val="FFFFFF"/>
                </a:solidFill>
                <a:latin typeface="Arial Black" pitchFamily="34" charset="0"/>
                <a:ea typeface="Arial Black" pitchFamily="34" charset="-122"/>
                <a:cs typeface="Arial Black" pitchFamily="34" charset="-120"/>
              </a:rPr>
              <a:t>WHO WE</a:t>
            </a:r>
            <a:endParaRPr lang="en-US" sz="4800" dirty="0"/>
          </a:p>
          <a:p>
            <a:pPr marL="0" indent="0">
              <a:lnSpc>
                <a:spcPct val="90000"/>
              </a:lnSpc>
              <a:buNone/>
            </a:pPr>
            <a:r>
              <a:rPr lang="en-US" sz="4800" dirty="0">
                <a:solidFill>
                  <a:srgbClr val="FFFFFF"/>
                </a:solidFill>
                <a:latin typeface="Arial Black" pitchFamily="34" charset="0"/>
                <a:ea typeface="Arial Black" pitchFamily="34" charset="-122"/>
                <a:cs typeface="Arial Black" pitchFamily="34" charset="-120"/>
              </a:rPr>
              <a:t>SERVE</a:t>
            </a:r>
            <a:endParaRPr lang="en-US" sz="4800" dirty="0"/>
          </a:p>
        </p:txBody>
      </p:sp>
      <p:sp>
        <p:nvSpPr>
          <p:cNvPr id="5" name="Shape 3"/>
          <p:cNvSpPr/>
          <p:nvPr/>
        </p:nvSpPr>
        <p:spPr>
          <a:xfrm>
            <a:off x="548640" y="3657600"/>
            <a:ext cx="1828800" cy="0"/>
          </a:xfrm>
          <a:prstGeom prst="line">
            <a:avLst/>
          </a:prstGeom>
          <a:noFill/>
          <a:ln w="38100">
            <a:solidFill>
              <a:srgbClr val="D4382C"/>
            </a:solidFill>
            <a:prstDash val="solid"/>
          </a:ln>
        </p:spPr>
        <p:txBody>
          <a:bodyPr/>
          <a:lstStyle/>
          <a:p>
            <a:endParaRPr lang="en-GB"/>
          </a:p>
        </p:txBody>
      </p:sp>
      <p:pic>
        <p:nvPicPr>
          <p:cNvPr id="6" name="Image 0" descr="preencoded.png"/>
          <p:cNvPicPr>
            <a:picLocks noChangeAspect="1"/>
          </p:cNvPicPr>
          <p:nvPr/>
        </p:nvPicPr>
        <p:blipFill>
          <a:blip r:embed="rId4"/>
          <a:stretch>
            <a:fillRect/>
          </a:stretch>
        </p:blipFill>
        <p:spPr>
          <a:xfrm>
            <a:off x="7772400" y="4114800"/>
            <a:ext cx="731520" cy="73152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32004"/>
          </a:xfrm>
          <a:prstGeom prst="rect">
            <a:avLst/>
          </a:prstGeom>
          <a:solidFill>
            <a:srgbClr val="D4382C"/>
          </a:solidFill>
          <a:ln/>
        </p:spPr>
        <p:txBody>
          <a:bodyPr/>
          <a:lstStyle/>
          <a:p>
            <a:endParaRPr lang="en-GB"/>
          </a:p>
        </p:txBody>
      </p:sp>
      <p:sp>
        <p:nvSpPr>
          <p:cNvPr id="3" name="Text 1"/>
          <p:cNvSpPr/>
          <p:nvPr/>
        </p:nvSpPr>
        <p:spPr>
          <a:xfrm>
            <a:off x="548640" y="274320"/>
            <a:ext cx="3657600" cy="457200"/>
          </a:xfrm>
          <a:prstGeom prst="rect">
            <a:avLst/>
          </a:prstGeom>
          <a:noFill/>
          <a:ln/>
        </p:spPr>
        <p:txBody>
          <a:bodyPr wrap="square" lIns="0" tIns="0" rIns="0" bIns="0" rtlCol="0" anchor="ctr"/>
          <a:lstStyle/>
          <a:p>
            <a:pPr marL="0" indent="0">
              <a:buNone/>
            </a:pPr>
            <a:r>
              <a:rPr lang="en-US" sz="2800" dirty="0">
                <a:solidFill>
                  <a:srgbClr val="192231"/>
                </a:solidFill>
                <a:latin typeface="Arial Black" pitchFamily="34" charset="0"/>
                <a:ea typeface="Arial Black" pitchFamily="34" charset="-122"/>
                <a:cs typeface="Arial Black" pitchFamily="34" charset="-120"/>
              </a:rPr>
              <a:t>Our Clients</a:t>
            </a:r>
            <a:endParaRPr lang="en-US" sz="2800" dirty="0"/>
          </a:p>
        </p:txBody>
      </p:sp>
      <p:sp>
        <p:nvSpPr>
          <p:cNvPr id="4" name="Shape 2"/>
          <p:cNvSpPr/>
          <p:nvPr/>
        </p:nvSpPr>
        <p:spPr>
          <a:xfrm>
            <a:off x="548640" y="914400"/>
            <a:ext cx="3840480" cy="1280160"/>
          </a:xfrm>
          <a:prstGeom prst="rect">
            <a:avLst/>
          </a:prstGeom>
          <a:solidFill>
            <a:srgbClr val="F3F4F6"/>
          </a:solidFill>
          <a:ln/>
        </p:spPr>
        <p:txBody>
          <a:bodyPr/>
          <a:lstStyle/>
          <a:p>
            <a:endParaRPr lang="en-GB"/>
          </a:p>
        </p:txBody>
      </p:sp>
      <p:pic>
        <p:nvPicPr>
          <p:cNvPr id="5" name="Image 0" descr="preencoded.png"/>
          <p:cNvPicPr>
            <a:picLocks noChangeAspect="1"/>
          </p:cNvPicPr>
          <p:nvPr/>
        </p:nvPicPr>
        <p:blipFill>
          <a:blip r:embed="rId3"/>
          <a:stretch>
            <a:fillRect/>
          </a:stretch>
        </p:blipFill>
        <p:spPr>
          <a:xfrm>
            <a:off x="685800" y="1051560"/>
            <a:ext cx="274320" cy="274320"/>
          </a:xfrm>
          <a:prstGeom prst="rect">
            <a:avLst/>
          </a:prstGeom>
        </p:spPr>
      </p:pic>
      <p:sp>
        <p:nvSpPr>
          <p:cNvPr id="6" name="Text 3"/>
          <p:cNvSpPr/>
          <p:nvPr/>
        </p:nvSpPr>
        <p:spPr>
          <a:xfrm>
            <a:off x="1051560" y="1005840"/>
            <a:ext cx="3200400" cy="320040"/>
          </a:xfrm>
          <a:prstGeom prst="rect">
            <a:avLst/>
          </a:prstGeom>
          <a:noFill/>
          <a:ln/>
        </p:spPr>
        <p:txBody>
          <a:bodyPr wrap="square" lIns="0" tIns="0" rIns="0" bIns="0" rtlCol="0" anchor="ctr"/>
          <a:lstStyle/>
          <a:p>
            <a:pPr marL="0" indent="0">
              <a:buNone/>
            </a:pPr>
            <a:r>
              <a:rPr lang="en-US" sz="1100" b="1" dirty="0">
                <a:solidFill>
                  <a:srgbClr val="192231"/>
                </a:solidFill>
                <a:latin typeface="Calibri" pitchFamily="34" charset="0"/>
                <a:ea typeface="Calibri" pitchFamily="34" charset="-122"/>
                <a:cs typeface="Calibri" pitchFamily="34" charset="-120"/>
              </a:rPr>
              <a:t>CQC-Regulated Adult Care Providers</a:t>
            </a:r>
            <a:endParaRPr lang="en-US" sz="1100" dirty="0"/>
          </a:p>
        </p:txBody>
      </p:sp>
      <p:sp>
        <p:nvSpPr>
          <p:cNvPr id="7" name="Text 4"/>
          <p:cNvSpPr/>
          <p:nvPr/>
        </p:nvSpPr>
        <p:spPr>
          <a:xfrm>
            <a:off x="1051560" y="1371600"/>
            <a:ext cx="3200400" cy="640080"/>
          </a:xfrm>
          <a:prstGeom prst="rect">
            <a:avLst/>
          </a:prstGeom>
          <a:noFill/>
          <a:ln/>
        </p:spPr>
        <p:txBody>
          <a:bodyPr wrap="square" lIns="0" tIns="0" rIns="0" bIns="0" rtlCol="0" anchor="ctr"/>
          <a:lstStyle/>
          <a:p>
            <a:pPr marL="0" indent="0">
              <a:buNone/>
            </a:pPr>
            <a:r>
              <a:rPr lang="en-US" sz="950" dirty="0">
                <a:solidFill>
                  <a:srgbClr val="6B7280"/>
                </a:solidFill>
                <a:latin typeface="Calibri Light" pitchFamily="34" charset="0"/>
                <a:ea typeface="Calibri Light" pitchFamily="34" charset="-122"/>
                <a:cs typeface="Calibri Light" pitchFamily="34" charset="-120"/>
              </a:rPr>
              <a:t>Domiciliary care, residential, nursing, supported living, reablement, and specialist services.</a:t>
            </a:r>
            <a:endParaRPr lang="en-US" sz="950" dirty="0"/>
          </a:p>
        </p:txBody>
      </p:sp>
      <p:sp>
        <p:nvSpPr>
          <p:cNvPr id="8" name="Shape 5"/>
          <p:cNvSpPr/>
          <p:nvPr/>
        </p:nvSpPr>
        <p:spPr>
          <a:xfrm>
            <a:off x="4754880" y="914400"/>
            <a:ext cx="3840480" cy="1280160"/>
          </a:xfrm>
          <a:prstGeom prst="rect">
            <a:avLst/>
          </a:prstGeom>
          <a:solidFill>
            <a:srgbClr val="F3F4F6"/>
          </a:solidFill>
          <a:ln/>
        </p:spPr>
        <p:txBody>
          <a:bodyPr/>
          <a:lstStyle/>
          <a:p>
            <a:endParaRPr lang="en-GB"/>
          </a:p>
        </p:txBody>
      </p:sp>
      <p:pic>
        <p:nvPicPr>
          <p:cNvPr id="9" name="Image 1" descr="preencoded.png"/>
          <p:cNvPicPr>
            <a:picLocks noChangeAspect="1"/>
          </p:cNvPicPr>
          <p:nvPr/>
        </p:nvPicPr>
        <p:blipFill>
          <a:blip r:embed="rId4"/>
          <a:stretch>
            <a:fillRect/>
          </a:stretch>
        </p:blipFill>
        <p:spPr>
          <a:xfrm>
            <a:off x="4892040" y="1051560"/>
            <a:ext cx="274320" cy="274320"/>
          </a:xfrm>
          <a:prstGeom prst="rect">
            <a:avLst/>
          </a:prstGeom>
        </p:spPr>
      </p:pic>
      <p:sp>
        <p:nvSpPr>
          <p:cNvPr id="10" name="Text 6"/>
          <p:cNvSpPr/>
          <p:nvPr/>
        </p:nvSpPr>
        <p:spPr>
          <a:xfrm>
            <a:off x="5257800" y="1005840"/>
            <a:ext cx="3200400" cy="320040"/>
          </a:xfrm>
          <a:prstGeom prst="rect">
            <a:avLst/>
          </a:prstGeom>
          <a:noFill/>
          <a:ln/>
        </p:spPr>
        <p:txBody>
          <a:bodyPr wrap="square" lIns="0" tIns="0" rIns="0" bIns="0" rtlCol="0" anchor="ctr"/>
          <a:lstStyle/>
          <a:p>
            <a:pPr marL="0" indent="0">
              <a:buNone/>
            </a:pPr>
            <a:r>
              <a:rPr lang="en-US" sz="1100" b="1" dirty="0">
                <a:solidFill>
                  <a:srgbClr val="192231"/>
                </a:solidFill>
                <a:latin typeface="Calibri" pitchFamily="34" charset="0"/>
                <a:ea typeface="Calibri" pitchFamily="34" charset="-122"/>
                <a:cs typeface="Calibri" pitchFamily="34" charset="-120"/>
              </a:rPr>
              <a:t>Ofsted-Registered Children's Services</a:t>
            </a:r>
            <a:endParaRPr lang="en-US" sz="1100" dirty="0"/>
          </a:p>
        </p:txBody>
      </p:sp>
      <p:sp>
        <p:nvSpPr>
          <p:cNvPr id="11" name="Text 7"/>
          <p:cNvSpPr/>
          <p:nvPr/>
        </p:nvSpPr>
        <p:spPr>
          <a:xfrm>
            <a:off x="5257800" y="1371600"/>
            <a:ext cx="3200400" cy="640080"/>
          </a:xfrm>
          <a:prstGeom prst="rect">
            <a:avLst/>
          </a:prstGeom>
          <a:noFill/>
          <a:ln/>
        </p:spPr>
        <p:txBody>
          <a:bodyPr wrap="square" lIns="0" tIns="0" rIns="0" bIns="0" rtlCol="0" anchor="ctr"/>
          <a:lstStyle/>
          <a:p>
            <a:pPr marL="0" indent="0">
              <a:buNone/>
            </a:pPr>
            <a:r>
              <a:rPr lang="en-US" sz="950" dirty="0">
                <a:solidFill>
                  <a:srgbClr val="6B7280"/>
                </a:solidFill>
                <a:latin typeface="Calibri Light" pitchFamily="34" charset="0"/>
                <a:ea typeface="Calibri Light" pitchFamily="34" charset="-122"/>
                <a:cs typeface="Calibri Light" pitchFamily="34" charset="-120"/>
              </a:rPr>
              <a:t>Children's residential homes, supported accommodation for young people, fostering agencies.</a:t>
            </a:r>
            <a:endParaRPr lang="en-US" sz="950" dirty="0"/>
          </a:p>
        </p:txBody>
      </p:sp>
      <p:sp>
        <p:nvSpPr>
          <p:cNvPr id="12" name="Shape 8"/>
          <p:cNvSpPr/>
          <p:nvPr/>
        </p:nvSpPr>
        <p:spPr>
          <a:xfrm>
            <a:off x="548640" y="2377440"/>
            <a:ext cx="3840480" cy="1280160"/>
          </a:xfrm>
          <a:prstGeom prst="rect">
            <a:avLst/>
          </a:prstGeom>
          <a:solidFill>
            <a:srgbClr val="F3F4F6"/>
          </a:solidFill>
          <a:ln/>
        </p:spPr>
        <p:txBody>
          <a:bodyPr/>
          <a:lstStyle/>
          <a:p>
            <a:endParaRPr lang="en-GB"/>
          </a:p>
        </p:txBody>
      </p:sp>
      <p:pic>
        <p:nvPicPr>
          <p:cNvPr id="13" name="Image 2" descr="preencoded.png"/>
          <p:cNvPicPr>
            <a:picLocks noChangeAspect="1"/>
          </p:cNvPicPr>
          <p:nvPr/>
        </p:nvPicPr>
        <p:blipFill>
          <a:blip r:embed="rId5"/>
          <a:stretch>
            <a:fillRect/>
          </a:stretch>
        </p:blipFill>
        <p:spPr>
          <a:xfrm>
            <a:off x="685800" y="2514600"/>
            <a:ext cx="274320" cy="274320"/>
          </a:xfrm>
          <a:prstGeom prst="rect">
            <a:avLst/>
          </a:prstGeom>
        </p:spPr>
      </p:pic>
      <p:sp>
        <p:nvSpPr>
          <p:cNvPr id="14" name="Text 9"/>
          <p:cNvSpPr/>
          <p:nvPr/>
        </p:nvSpPr>
        <p:spPr>
          <a:xfrm>
            <a:off x="1051560" y="2468880"/>
            <a:ext cx="3200400" cy="320040"/>
          </a:xfrm>
          <a:prstGeom prst="rect">
            <a:avLst/>
          </a:prstGeom>
          <a:noFill/>
          <a:ln/>
        </p:spPr>
        <p:txBody>
          <a:bodyPr wrap="square" lIns="0" tIns="0" rIns="0" bIns="0" rtlCol="0" anchor="ctr"/>
          <a:lstStyle/>
          <a:p>
            <a:pPr marL="0" indent="0">
              <a:buNone/>
            </a:pPr>
            <a:r>
              <a:rPr lang="en-US" sz="1100" b="1" dirty="0">
                <a:solidFill>
                  <a:srgbClr val="192231"/>
                </a:solidFill>
                <a:latin typeface="Calibri" pitchFamily="34" charset="0"/>
                <a:ea typeface="Calibri" pitchFamily="34" charset="-122"/>
                <a:cs typeface="Calibri" pitchFamily="34" charset="-120"/>
              </a:rPr>
              <a:t>NHS ICB Framework Applicants</a:t>
            </a:r>
            <a:endParaRPr lang="en-US" sz="1100" dirty="0"/>
          </a:p>
        </p:txBody>
      </p:sp>
      <p:sp>
        <p:nvSpPr>
          <p:cNvPr id="15" name="Text 10"/>
          <p:cNvSpPr/>
          <p:nvPr/>
        </p:nvSpPr>
        <p:spPr>
          <a:xfrm>
            <a:off x="1051560" y="2834640"/>
            <a:ext cx="3200400" cy="640080"/>
          </a:xfrm>
          <a:prstGeom prst="rect">
            <a:avLst/>
          </a:prstGeom>
          <a:noFill/>
          <a:ln/>
        </p:spPr>
        <p:txBody>
          <a:bodyPr wrap="square" lIns="0" tIns="0" rIns="0" bIns="0" rtlCol="0" anchor="ctr"/>
          <a:lstStyle/>
          <a:p>
            <a:pPr marL="0" indent="0">
              <a:buNone/>
            </a:pPr>
            <a:r>
              <a:rPr lang="en-US" sz="950" dirty="0">
                <a:solidFill>
                  <a:srgbClr val="6B7280"/>
                </a:solidFill>
                <a:latin typeface="Calibri Light" pitchFamily="34" charset="0"/>
                <a:ea typeface="Calibri Light" pitchFamily="34" charset="-122"/>
                <a:cs typeface="Calibri Light" pitchFamily="34" charset="-120"/>
              </a:rPr>
              <a:t>Continuing healthcare, community services, preferred provider list applications.</a:t>
            </a:r>
            <a:endParaRPr lang="en-US" sz="950" dirty="0"/>
          </a:p>
        </p:txBody>
      </p:sp>
      <p:sp>
        <p:nvSpPr>
          <p:cNvPr id="16" name="Shape 11"/>
          <p:cNvSpPr/>
          <p:nvPr/>
        </p:nvSpPr>
        <p:spPr>
          <a:xfrm>
            <a:off x="4754880" y="2377440"/>
            <a:ext cx="3840480" cy="1280160"/>
          </a:xfrm>
          <a:prstGeom prst="rect">
            <a:avLst/>
          </a:prstGeom>
          <a:solidFill>
            <a:srgbClr val="F3F4F6"/>
          </a:solidFill>
          <a:ln/>
        </p:spPr>
        <p:txBody>
          <a:bodyPr/>
          <a:lstStyle/>
          <a:p>
            <a:endParaRPr lang="en-GB"/>
          </a:p>
        </p:txBody>
      </p:sp>
      <p:pic>
        <p:nvPicPr>
          <p:cNvPr id="17" name="Image 3" descr="preencoded.png"/>
          <p:cNvPicPr>
            <a:picLocks noChangeAspect="1"/>
          </p:cNvPicPr>
          <p:nvPr/>
        </p:nvPicPr>
        <p:blipFill>
          <a:blip r:embed="rId6"/>
          <a:stretch>
            <a:fillRect/>
          </a:stretch>
        </p:blipFill>
        <p:spPr>
          <a:xfrm>
            <a:off x="4892040" y="2514600"/>
            <a:ext cx="274320" cy="274320"/>
          </a:xfrm>
          <a:prstGeom prst="rect">
            <a:avLst/>
          </a:prstGeom>
        </p:spPr>
      </p:pic>
      <p:sp>
        <p:nvSpPr>
          <p:cNvPr id="18" name="Text 12"/>
          <p:cNvSpPr/>
          <p:nvPr/>
        </p:nvSpPr>
        <p:spPr>
          <a:xfrm>
            <a:off x="5257800" y="2468880"/>
            <a:ext cx="3200400" cy="320040"/>
          </a:xfrm>
          <a:prstGeom prst="rect">
            <a:avLst/>
          </a:prstGeom>
          <a:noFill/>
          <a:ln/>
        </p:spPr>
        <p:txBody>
          <a:bodyPr wrap="square" lIns="0" tIns="0" rIns="0" bIns="0" rtlCol="0" anchor="ctr"/>
          <a:lstStyle/>
          <a:p>
            <a:pPr marL="0" indent="0">
              <a:buNone/>
            </a:pPr>
            <a:r>
              <a:rPr lang="en-US" sz="1100" b="1" dirty="0">
                <a:solidFill>
                  <a:srgbClr val="192231"/>
                </a:solidFill>
                <a:latin typeface="Calibri" pitchFamily="34" charset="0"/>
                <a:ea typeface="Calibri" pitchFamily="34" charset="-122"/>
                <a:cs typeface="Calibri" pitchFamily="34" charset="-120"/>
              </a:rPr>
              <a:t>Supported Living &amp; Housing Providers</a:t>
            </a:r>
            <a:endParaRPr lang="en-US" sz="1100" dirty="0"/>
          </a:p>
        </p:txBody>
      </p:sp>
      <p:sp>
        <p:nvSpPr>
          <p:cNvPr id="19" name="Text 13"/>
          <p:cNvSpPr/>
          <p:nvPr/>
        </p:nvSpPr>
        <p:spPr>
          <a:xfrm>
            <a:off x="5257800" y="2834640"/>
            <a:ext cx="3200400" cy="640080"/>
          </a:xfrm>
          <a:prstGeom prst="rect">
            <a:avLst/>
          </a:prstGeom>
          <a:noFill/>
          <a:ln/>
        </p:spPr>
        <p:txBody>
          <a:bodyPr wrap="square" lIns="0" tIns="0" rIns="0" bIns="0" rtlCol="0" anchor="ctr"/>
          <a:lstStyle/>
          <a:p>
            <a:pPr marL="0" indent="0">
              <a:buNone/>
            </a:pPr>
            <a:r>
              <a:rPr lang="en-US" sz="950" dirty="0">
                <a:solidFill>
                  <a:srgbClr val="6B7280"/>
                </a:solidFill>
                <a:latin typeface="Calibri Light" pitchFamily="34" charset="0"/>
                <a:ea typeface="Calibri Light" pitchFamily="34" charset="-122"/>
                <a:cs typeface="Calibri Light" pitchFamily="34" charset="-120"/>
              </a:rPr>
              <a:t>Learning disability, mental health, autism, physical disability, semi-independent services.</a:t>
            </a:r>
            <a:endParaRPr lang="en-US" sz="950" dirty="0"/>
          </a:p>
        </p:txBody>
      </p:sp>
      <p:pic>
        <p:nvPicPr>
          <p:cNvPr id="20" name="Image 4" descr="preencoded.png"/>
          <p:cNvPicPr>
            <a:picLocks noChangeAspect="1"/>
          </p:cNvPicPr>
          <p:nvPr/>
        </p:nvPicPr>
        <p:blipFill>
          <a:blip r:embed="rId7"/>
          <a:stretch>
            <a:fillRect/>
          </a:stretch>
        </p:blipFill>
        <p:spPr>
          <a:xfrm>
            <a:off x="0" y="3840480"/>
            <a:ext cx="3063240" cy="960120"/>
          </a:xfrm>
          <a:prstGeom prst="rect">
            <a:avLst/>
          </a:prstGeom>
        </p:spPr>
      </p:pic>
      <p:pic>
        <p:nvPicPr>
          <p:cNvPr id="21" name="Image 5"/>
          <p:cNvPicPr>
            <a:picLocks noChangeAspect="1"/>
          </p:cNvPicPr>
          <p:nvPr/>
        </p:nvPicPr>
        <p:blipFill>
          <a:blip r:embed="rId8"/>
          <a:srcRect/>
          <a:stretch/>
        </p:blipFill>
        <p:spPr>
          <a:xfrm>
            <a:off x="3109030" y="3840290"/>
            <a:ext cx="1440040" cy="960120"/>
          </a:xfrm>
          <a:prstGeom prst="rect">
            <a:avLst/>
          </a:prstGeom>
        </p:spPr>
      </p:pic>
      <p:pic>
        <p:nvPicPr>
          <p:cNvPr id="22" name="Image 6" descr="preencoded.png"/>
          <p:cNvPicPr>
            <a:picLocks noChangeAspect="1"/>
          </p:cNvPicPr>
          <p:nvPr/>
        </p:nvPicPr>
        <p:blipFill>
          <a:blip r:embed="rId9"/>
          <a:stretch>
            <a:fillRect/>
          </a:stretch>
        </p:blipFill>
        <p:spPr>
          <a:xfrm>
            <a:off x="6126480" y="3840480"/>
            <a:ext cx="3017520" cy="960120"/>
          </a:xfrm>
          <a:prstGeom prst="rect">
            <a:avLst/>
          </a:prstGeom>
        </p:spPr>
      </p:pic>
      <p:pic>
        <p:nvPicPr>
          <p:cNvPr id="23" name="Image 5">
            <a:extLst>
              <a:ext uri="{FF2B5EF4-FFF2-40B4-BE49-F238E27FC236}">
                <a16:creationId xmlns:a16="http://schemas.microsoft.com/office/drawing/2014/main" id="{56B3338A-A473-4AE0-ED01-96555FF67D5B}"/>
              </a:ext>
            </a:extLst>
          </p:cNvPr>
          <p:cNvPicPr>
            <a:picLocks noChangeAspect="1"/>
          </p:cNvPicPr>
          <p:nvPr/>
        </p:nvPicPr>
        <p:blipFill>
          <a:blip r:embed="rId10"/>
          <a:srcRect/>
          <a:stretch/>
        </p:blipFill>
        <p:spPr>
          <a:xfrm>
            <a:off x="4594860" y="3840480"/>
            <a:ext cx="1440040" cy="95993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32004"/>
          </a:xfrm>
          <a:prstGeom prst="rect">
            <a:avLst/>
          </a:prstGeom>
          <a:solidFill>
            <a:srgbClr val="D4382C"/>
          </a:solidFill>
          <a:ln/>
        </p:spPr>
        <p:txBody>
          <a:bodyPr/>
          <a:lstStyle/>
          <a:p>
            <a:endParaRPr lang="en-GB"/>
          </a:p>
        </p:txBody>
      </p:sp>
      <p:sp>
        <p:nvSpPr>
          <p:cNvPr id="3" name="Text 1"/>
          <p:cNvSpPr/>
          <p:nvPr/>
        </p:nvSpPr>
        <p:spPr>
          <a:xfrm>
            <a:off x="548640" y="274320"/>
            <a:ext cx="3657600" cy="457200"/>
          </a:xfrm>
          <a:prstGeom prst="rect">
            <a:avLst/>
          </a:prstGeom>
          <a:noFill/>
          <a:ln/>
        </p:spPr>
        <p:txBody>
          <a:bodyPr wrap="square" lIns="0" tIns="0" rIns="0" bIns="0" rtlCol="0" anchor="ctr"/>
          <a:lstStyle/>
          <a:p>
            <a:pPr marL="0" indent="0">
              <a:buNone/>
            </a:pPr>
            <a:r>
              <a:rPr lang="en-US" sz="2800" dirty="0">
                <a:solidFill>
                  <a:srgbClr val="192231"/>
                </a:solidFill>
                <a:latin typeface="Arial Black" pitchFamily="34" charset="0"/>
                <a:ea typeface="Arial Black" pitchFamily="34" charset="-122"/>
                <a:cs typeface="Arial Black" pitchFamily="34" charset="-120"/>
              </a:rPr>
              <a:t>Client Sectors</a:t>
            </a:r>
            <a:endParaRPr lang="en-US" sz="2800" dirty="0"/>
          </a:p>
        </p:txBody>
      </p:sp>
      <p:sp>
        <p:nvSpPr>
          <p:cNvPr id="4" name="Shape 2"/>
          <p:cNvSpPr/>
          <p:nvPr/>
        </p:nvSpPr>
        <p:spPr>
          <a:xfrm>
            <a:off x="548640" y="914400"/>
            <a:ext cx="2606040" cy="1463040"/>
          </a:xfrm>
          <a:prstGeom prst="rect">
            <a:avLst/>
          </a:prstGeom>
          <a:solidFill>
            <a:srgbClr val="FAFAF5"/>
          </a:solidFill>
          <a:ln/>
        </p:spPr>
        <p:txBody>
          <a:bodyPr/>
          <a:lstStyle/>
          <a:p>
            <a:endParaRPr lang="en-GB"/>
          </a:p>
        </p:txBody>
      </p:sp>
      <p:sp>
        <p:nvSpPr>
          <p:cNvPr id="5" name="Shape 3"/>
          <p:cNvSpPr/>
          <p:nvPr/>
        </p:nvSpPr>
        <p:spPr>
          <a:xfrm>
            <a:off x="548640" y="914400"/>
            <a:ext cx="2606040" cy="36576"/>
          </a:xfrm>
          <a:prstGeom prst="rect">
            <a:avLst/>
          </a:prstGeom>
          <a:solidFill>
            <a:srgbClr val="D4382C"/>
          </a:solidFill>
          <a:ln/>
        </p:spPr>
        <p:txBody>
          <a:bodyPr/>
          <a:lstStyle/>
          <a:p>
            <a:endParaRPr lang="en-GB"/>
          </a:p>
        </p:txBody>
      </p:sp>
      <p:pic>
        <p:nvPicPr>
          <p:cNvPr id="6" name="Image 0" descr="preencoded.png"/>
          <p:cNvPicPr>
            <a:picLocks noChangeAspect="1"/>
          </p:cNvPicPr>
          <p:nvPr/>
        </p:nvPicPr>
        <p:blipFill>
          <a:blip r:embed="rId3"/>
          <a:stretch>
            <a:fillRect/>
          </a:stretch>
        </p:blipFill>
        <p:spPr>
          <a:xfrm>
            <a:off x="685800" y="1097280"/>
            <a:ext cx="228600" cy="228600"/>
          </a:xfrm>
          <a:prstGeom prst="rect">
            <a:avLst/>
          </a:prstGeom>
        </p:spPr>
      </p:pic>
      <p:sp>
        <p:nvSpPr>
          <p:cNvPr id="7" name="Text 4"/>
          <p:cNvSpPr/>
          <p:nvPr/>
        </p:nvSpPr>
        <p:spPr>
          <a:xfrm>
            <a:off x="1005840" y="1051560"/>
            <a:ext cx="2011680" cy="274320"/>
          </a:xfrm>
          <a:prstGeom prst="rect">
            <a:avLst/>
          </a:prstGeom>
          <a:noFill/>
          <a:ln/>
        </p:spPr>
        <p:txBody>
          <a:bodyPr wrap="square" lIns="0" tIns="0" rIns="0" bIns="0" rtlCol="0" anchor="ctr"/>
          <a:lstStyle/>
          <a:p>
            <a:pPr marL="0" indent="0">
              <a:buNone/>
            </a:pPr>
            <a:r>
              <a:rPr lang="en-US" sz="1100" b="1" dirty="0">
                <a:solidFill>
                  <a:srgbClr val="192231"/>
                </a:solidFill>
                <a:latin typeface="Calibri" pitchFamily="34" charset="0"/>
                <a:ea typeface="Calibri" pitchFamily="34" charset="-122"/>
                <a:cs typeface="Calibri" pitchFamily="34" charset="-120"/>
              </a:rPr>
              <a:t>Domiciliary Care</a:t>
            </a:r>
            <a:endParaRPr lang="en-US" sz="1100" dirty="0"/>
          </a:p>
        </p:txBody>
      </p:sp>
      <p:sp>
        <p:nvSpPr>
          <p:cNvPr id="8" name="Text 5"/>
          <p:cNvSpPr/>
          <p:nvPr/>
        </p:nvSpPr>
        <p:spPr>
          <a:xfrm>
            <a:off x="685800" y="1417320"/>
            <a:ext cx="2331720" cy="822960"/>
          </a:xfrm>
          <a:prstGeom prst="rect">
            <a:avLst/>
          </a:prstGeom>
          <a:noFill/>
          <a:ln/>
        </p:spPr>
        <p:txBody>
          <a:bodyPr wrap="square" lIns="0" tIns="0" rIns="0" bIns="0" rtlCol="0" anchor="ctr"/>
          <a:lstStyle/>
          <a:p>
            <a:pPr marL="0" indent="0">
              <a:buNone/>
            </a:pPr>
            <a:r>
              <a:rPr lang="en-US" sz="950" dirty="0">
                <a:solidFill>
                  <a:srgbClr val="6B7280"/>
                </a:solidFill>
                <a:latin typeface="Calibri Light" pitchFamily="34" charset="0"/>
                <a:ea typeface="Calibri Light" pitchFamily="34" charset="-122"/>
                <a:cs typeface="Calibri Light" pitchFamily="34" charset="-120"/>
              </a:rPr>
              <a:t>Home care, reablement, live-in care, complex care at home.</a:t>
            </a:r>
            <a:endParaRPr lang="en-US" sz="950" dirty="0"/>
          </a:p>
        </p:txBody>
      </p:sp>
      <p:sp>
        <p:nvSpPr>
          <p:cNvPr id="9" name="Shape 6"/>
          <p:cNvSpPr/>
          <p:nvPr/>
        </p:nvSpPr>
        <p:spPr>
          <a:xfrm>
            <a:off x="3383280" y="914400"/>
            <a:ext cx="2606040" cy="1463040"/>
          </a:xfrm>
          <a:prstGeom prst="rect">
            <a:avLst/>
          </a:prstGeom>
          <a:solidFill>
            <a:srgbClr val="FAFAF5"/>
          </a:solidFill>
          <a:ln/>
        </p:spPr>
        <p:txBody>
          <a:bodyPr/>
          <a:lstStyle/>
          <a:p>
            <a:endParaRPr lang="en-GB"/>
          </a:p>
        </p:txBody>
      </p:sp>
      <p:sp>
        <p:nvSpPr>
          <p:cNvPr id="10" name="Shape 7"/>
          <p:cNvSpPr/>
          <p:nvPr/>
        </p:nvSpPr>
        <p:spPr>
          <a:xfrm>
            <a:off x="3383280" y="914400"/>
            <a:ext cx="2606040" cy="36576"/>
          </a:xfrm>
          <a:prstGeom prst="rect">
            <a:avLst/>
          </a:prstGeom>
          <a:solidFill>
            <a:srgbClr val="D4382C"/>
          </a:solidFill>
          <a:ln/>
        </p:spPr>
        <p:txBody>
          <a:bodyPr/>
          <a:lstStyle/>
          <a:p>
            <a:endParaRPr lang="en-GB"/>
          </a:p>
        </p:txBody>
      </p:sp>
      <p:pic>
        <p:nvPicPr>
          <p:cNvPr id="11" name="Image 1" descr="preencoded.png"/>
          <p:cNvPicPr>
            <a:picLocks noChangeAspect="1"/>
          </p:cNvPicPr>
          <p:nvPr/>
        </p:nvPicPr>
        <p:blipFill>
          <a:blip r:embed="rId4"/>
          <a:stretch>
            <a:fillRect/>
          </a:stretch>
        </p:blipFill>
        <p:spPr>
          <a:xfrm>
            <a:off x="3520440" y="1097280"/>
            <a:ext cx="228600" cy="228600"/>
          </a:xfrm>
          <a:prstGeom prst="rect">
            <a:avLst/>
          </a:prstGeom>
        </p:spPr>
      </p:pic>
      <p:sp>
        <p:nvSpPr>
          <p:cNvPr id="12" name="Text 8"/>
          <p:cNvSpPr/>
          <p:nvPr/>
        </p:nvSpPr>
        <p:spPr>
          <a:xfrm>
            <a:off x="3840480" y="1051560"/>
            <a:ext cx="2011680" cy="274320"/>
          </a:xfrm>
          <a:prstGeom prst="rect">
            <a:avLst/>
          </a:prstGeom>
          <a:noFill/>
          <a:ln/>
        </p:spPr>
        <p:txBody>
          <a:bodyPr wrap="square" lIns="0" tIns="0" rIns="0" bIns="0" rtlCol="0" anchor="ctr"/>
          <a:lstStyle/>
          <a:p>
            <a:pPr marL="0" indent="0">
              <a:buNone/>
            </a:pPr>
            <a:r>
              <a:rPr lang="en-US" sz="1100" b="1" dirty="0">
                <a:solidFill>
                  <a:srgbClr val="192231"/>
                </a:solidFill>
                <a:latin typeface="Calibri" pitchFamily="34" charset="0"/>
                <a:ea typeface="Calibri" pitchFamily="34" charset="-122"/>
                <a:cs typeface="Calibri" pitchFamily="34" charset="-120"/>
              </a:rPr>
              <a:t>Residential &amp; Nursing</a:t>
            </a:r>
            <a:endParaRPr lang="en-US" sz="1100" dirty="0"/>
          </a:p>
        </p:txBody>
      </p:sp>
      <p:sp>
        <p:nvSpPr>
          <p:cNvPr id="13" name="Text 9"/>
          <p:cNvSpPr/>
          <p:nvPr/>
        </p:nvSpPr>
        <p:spPr>
          <a:xfrm>
            <a:off x="3520440" y="1417320"/>
            <a:ext cx="2331720" cy="822960"/>
          </a:xfrm>
          <a:prstGeom prst="rect">
            <a:avLst/>
          </a:prstGeom>
          <a:noFill/>
          <a:ln/>
        </p:spPr>
        <p:txBody>
          <a:bodyPr wrap="square" lIns="0" tIns="0" rIns="0" bIns="0" rtlCol="0" anchor="ctr"/>
          <a:lstStyle/>
          <a:p>
            <a:pPr marL="0" indent="0">
              <a:buNone/>
            </a:pPr>
            <a:r>
              <a:rPr lang="en-US" sz="950" dirty="0">
                <a:solidFill>
                  <a:srgbClr val="6B7280"/>
                </a:solidFill>
                <a:latin typeface="Calibri Light" pitchFamily="34" charset="0"/>
                <a:ea typeface="Calibri Light" pitchFamily="34" charset="-122"/>
                <a:cs typeface="Calibri Light" pitchFamily="34" charset="-120"/>
              </a:rPr>
              <a:t>Care homes, nursing homes, specialist dementia units.</a:t>
            </a:r>
            <a:endParaRPr lang="en-US" sz="950" dirty="0"/>
          </a:p>
        </p:txBody>
      </p:sp>
      <p:sp>
        <p:nvSpPr>
          <p:cNvPr id="14" name="Shape 10"/>
          <p:cNvSpPr/>
          <p:nvPr/>
        </p:nvSpPr>
        <p:spPr>
          <a:xfrm>
            <a:off x="6217920" y="914400"/>
            <a:ext cx="2606040" cy="1463040"/>
          </a:xfrm>
          <a:prstGeom prst="rect">
            <a:avLst/>
          </a:prstGeom>
          <a:solidFill>
            <a:srgbClr val="FAFAF5"/>
          </a:solidFill>
          <a:ln/>
        </p:spPr>
        <p:txBody>
          <a:bodyPr/>
          <a:lstStyle/>
          <a:p>
            <a:endParaRPr lang="en-GB"/>
          </a:p>
        </p:txBody>
      </p:sp>
      <p:sp>
        <p:nvSpPr>
          <p:cNvPr id="15" name="Shape 11"/>
          <p:cNvSpPr/>
          <p:nvPr/>
        </p:nvSpPr>
        <p:spPr>
          <a:xfrm>
            <a:off x="6217920" y="914400"/>
            <a:ext cx="2606040" cy="36576"/>
          </a:xfrm>
          <a:prstGeom prst="rect">
            <a:avLst/>
          </a:prstGeom>
          <a:solidFill>
            <a:srgbClr val="D4382C"/>
          </a:solidFill>
          <a:ln/>
        </p:spPr>
        <p:txBody>
          <a:bodyPr/>
          <a:lstStyle/>
          <a:p>
            <a:endParaRPr lang="en-GB"/>
          </a:p>
        </p:txBody>
      </p:sp>
      <p:pic>
        <p:nvPicPr>
          <p:cNvPr id="16" name="Image 2" descr="preencoded.png"/>
          <p:cNvPicPr>
            <a:picLocks noChangeAspect="1"/>
          </p:cNvPicPr>
          <p:nvPr/>
        </p:nvPicPr>
        <p:blipFill>
          <a:blip r:embed="rId5"/>
          <a:stretch>
            <a:fillRect/>
          </a:stretch>
        </p:blipFill>
        <p:spPr>
          <a:xfrm>
            <a:off x="6355080" y="1097280"/>
            <a:ext cx="228600" cy="228600"/>
          </a:xfrm>
          <a:prstGeom prst="rect">
            <a:avLst/>
          </a:prstGeom>
        </p:spPr>
      </p:pic>
      <p:sp>
        <p:nvSpPr>
          <p:cNvPr id="17" name="Text 12"/>
          <p:cNvSpPr/>
          <p:nvPr/>
        </p:nvSpPr>
        <p:spPr>
          <a:xfrm>
            <a:off x="6675120" y="1051560"/>
            <a:ext cx="2011680" cy="274320"/>
          </a:xfrm>
          <a:prstGeom prst="rect">
            <a:avLst/>
          </a:prstGeom>
          <a:noFill/>
          <a:ln/>
        </p:spPr>
        <p:txBody>
          <a:bodyPr wrap="square" lIns="0" tIns="0" rIns="0" bIns="0" rtlCol="0" anchor="ctr"/>
          <a:lstStyle/>
          <a:p>
            <a:pPr marL="0" indent="0">
              <a:buNone/>
            </a:pPr>
            <a:r>
              <a:rPr lang="en-US" sz="1100" b="1" dirty="0">
                <a:solidFill>
                  <a:srgbClr val="192231"/>
                </a:solidFill>
                <a:latin typeface="Calibri" pitchFamily="34" charset="0"/>
                <a:ea typeface="Calibri" pitchFamily="34" charset="-122"/>
                <a:cs typeface="Calibri" pitchFamily="34" charset="-120"/>
              </a:rPr>
              <a:t>Supported Living</a:t>
            </a:r>
            <a:endParaRPr lang="en-US" sz="1100" dirty="0"/>
          </a:p>
        </p:txBody>
      </p:sp>
      <p:sp>
        <p:nvSpPr>
          <p:cNvPr id="18" name="Text 13"/>
          <p:cNvSpPr/>
          <p:nvPr/>
        </p:nvSpPr>
        <p:spPr>
          <a:xfrm>
            <a:off x="6355080" y="1417320"/>
            <a:ext cx="2331720" cy="822960"/>
          </a:xfrm>
          <a:prstGeom prst="rect">
            <a:avLst/>
          </a:prstGeom>
          <a:noFill/>
          <a:ln/>
        </p:spPr>
        <p:txBody>
          <a:bodyPr wrap="square" lIns="0" tIns="0" rIns="0" bIns="0" rtlCol="0" anchor="ctr"/>
          <a:lstStyle/>
          <a:p>
            <a:pPr marL="0" indent="0">
              <a:buNone/>
            </a:pPr>
            <a:r>
              <a:rPr lang="en-US" sz="950" dirty="0">
                <a:solidFill>
                  <a:srgbClr val="6B7280"/>
                </a:solidFill>
                <a:latin typeface="Calibri Light" pitchFamily="34" charset="0"/>
                <a:ea typeface="Calibri Light" pitchFamily="34" charset="-122"/>
                <a:cs typeface="Calibri Light" pitchFamily="34" charset="-120"/>
              </a:rPr>
              <a:t>Learning disability, mental health, autism, physical disability.</a:t>
            </a:r>
            <a:endParaRPr lang="en-US" sz="950" dirty="0"/>
          </a:p>
        </p:txBody>
      </p:sp>
      <p:sp>
        <p:nvSpPr>
          <p:cNvPr id="19" name="Shape 14"/>
          <p:cNvSpPr/>
          <p:nvPr/>
        </p:nvSpPr>
        <p:spPr>
          <a:xfrm>
            <a:off x="548640" y="2560320"/>
            <a:ext cx="2606040" cy="1463040"/>
          </a:xfrm>
          <a:prstGeom prst="rect">
            <a:avLst/>
          </a:prstGeom>
          <a:solidFill>
            <a:srgbClr val="FAFAF5"/>
          </a:solidFill>
          <a:ln/>
        </p:spPr>
        <p:txBody>
          <a:bodyPr/>
          <a:lstStyle/>
          <a:p>
            <a:endParaRPr lang="en-GB"/>
          </a:p>
        </p:txBody>
      </p:sp>
      <p:sp>
        <p:nvSpPr>
          <p:cNvPr id="20" name="Shape 15"/>
          <p:cNvSpPr/>
          <p:nvPr/>
        </p:nvSpPr>
        <p:spPr>
          <a:xfrm>
            <a:off x="548640" y="2560320"/>
            <a:ext cx="2606040" cy="36576"/>
          </a:xfrm>
          <a:prstGeom prst="rect">
            <a:avLst/>
          </a:prstGeom>
          <a:solidFill>
            <a:srgbClr val="D4382C"/>
          </a:solidFill>
          <a:ln/>
        </p:spPr>
        <p:txBody>
          <a:bodyPr/>
          <a:lstStyle/>
          <a:p>
            <a:endParaRPr lang="en-GB"/>
          </a:p>
        </p:txBody>
      </p:sp>
      <p:pic>
        <p:nvPicPr>
          <p:cNvPr id="21" name="Image 3" descr="preencoded.png"/>
          <p:cNvPicPr>
            <a:picLocks noChangeAspect="1"/>
          </p:cNvPicPr>
          <p:nvPr/>
        </p:nvPicPr>
        <p:blipFill>
          <a:blip r:embed="rId6"/>
          <a:stretch>
            <a:fillRect/>
          </a:stretch>
        </p:blipFill>
        <p:spPr>
          <a:xfrm>
            <a:off x="685800" y="2743200"/>
            <a:ext cx="228600" cy="228600"/>
          </a:xfrm>
          <a:prstGeom prst="rect">
            <a:avLst/>
          </a:prstGeom>
        </p:spPr>
      </p:pic>
      <p:sp>
        <p:nvSpPr>
          <p:cNvPr id="22" name="Text 16"/>
          <p:cNvSpPr/>
          <p:nvPr/>
        </p:nvSpPr>
        <p:spPr>
          <a:xfrm>
            <a:off x="1005840" y="2697480"/>
            <a:ext cx="2011680" cy="274320"/>
          </a:xfrm>
          <a:prstGeom prst="rect">
            <a:avLst/>
          </a:prstGeom>
          <a:noFill/>
          <a:ln/>
        </p:spPr>
        <p:txBody>
          <a:bodyPr wrap="square" lIns="0" tIns="0" rIns="0" bIns="0" rtlCol="0" anchor="ctr"/>
          <a:lstStyle/>
          <a:p>
            <a:pPr marL="0" indent="0">
              <a:buNone/>
            </a:pPr>
            <a:r>
              <a:rPr lang="en-US" sz="1100" b="1" dirty="0">
                <a:solidFill>
                  <a:srgbClr val="192231"/>
                </a:solidFill>
                <a:latin typeface="Calibri" pitchFamily="34" charset="0"/>
                <a:ea typeface="Calibri" pitchFamily="34" charset="-122"/>
                <a:cs typeface="Calibri" pitchFamily="34" charset="-120"/>
              </a:rPr>
              <a:t>Children's Services</a:t>
            </a:r>
            <a:endParaRPr lang="en-US" sz="1100" dirty="0"/>
          </a:p>
        </p:txBody>
      </p:sp>
      <p:sp>
        <p:nvSpPr>
          <p:cNvPr id="23" name="Text 17"/>
          <p:cNvSpPr/>
          <p:nvPr/>
        </p:nvSpPr>
        <p:spPr>
          <a:xfrm>
            <a:off x="685800" y="3063240"/>
            <a:ext cx="2331720" cy="822960"/>
          </a:xfrm>
          <a:prstGeom prst="rect">
            <a:avLst/>
          </a:prstGeom>
          <a:noFill/>
          <a:ln/>
        </p:spPr>
        <p:txBody>
          <a:bodyPr wrap="square" lIns="0" tIns="0" rIns="0" bIns="0" rtlCol="0" anchor="ctr"/>
          <a:lstStyle/>
          <a:p>
            <a:pPr marL="0" indent="0">
              <a:buNone/>
            </a:pPr>
            <a:r>
              <a:rPr lang="en-US" sz="950" dirty="0">
                <a:solidFill>
                  <a:srgbClr val="6B7280"/>
                </a:solidFill>
                <a:latin typeface="Calibri Light" pitchFamily="34" charset="0"/>
                <a:ea typeface="Calibri Light" pitchFamily="34" charset="-122"/>
                <a:cs typeface="Calibri Light" pitchFamily="34" charset="-120"/>
              </a:rPr>
              <a:t>Residential children's homes, supported accommodation 16-25.</a:t>
            </a:r>
            <a:endParaRPr lang="en-US" sz="950" dirty="0"/>
          </a:p>
        </p:txBody>
      </p:sp>
      <p:sp>
        <p:nvSpPr>
          <p:cNvPr id="24" name="Shape 18"/>
          <p:cNvSpPr/>
          <p:nvPr/>
        </p:nvSpPr>
        <p:spPr>
          <a:xfrm>
            <a:off x="3383280" y="2560320"/>
            <a:ext cx="2606040" cy="1463040"/>
          </a:xfrm>
          <a:prstGeom prst="rect">
            <a:avLst/>
          </a:prstGeom>
          <a:solidFill>
            <a:srgbClr val="FAFAF5"/>
          </a:solidFill>
          <a:ln/>
        </p:spPr>
        <p:txBody>
          <a:bodyPr/>
          <a:lstStyle/>
          <a:p>
            <a:endParaRPr lang="en-GB"/>
          </a:p>
        </p:txBody>
      </p:sp>
      <p:sp>
        <p:nvSpPr>
          <p:cNvPr id="25" name="Shape 19"/>
          <p:cNvSpPr/>
          <p:nvPr/>
        </p:nvSpPr>
        <p:spPr>
          <a:xfrm>
            <a:off x="3383280" y="2560320"/>
            <a:ext cx="2606040" cy="36576"/>
          </a:xfrm>
          <a:prstGeom prst="rect">
            <a:avLst/>
          </a:prstGeom>
          <a:solidFill>
            <a:srgbClr val="D4382C"/>
          </a:solidFill>
          <a:ln/>
        </p:spPr>
        <p:txBody>
          <a:bodyPr/>
          <a:lstStyle/>
          <a:p>
            <a:endParaRPr lang="en-GB"/>
          </a:p>
        </p:txBody>
      </p:sp>
      <p:pic>
        <p:nvPicPr>
          <p:cNvPr id="26" name="Image 4" descr="preencoded.png"/>
          <p:cNvPicPr>
            <a:picLocks noChangeAspect="1"/>
          </p:cNvPicPr>
          <p:nvPr/>
        </p:nvPicPr>
        <p:blipFill>
          <a:blip r:embed="rId7"/>
          <a:stretch>
            <a:fillRect/>
          </a:stretch>
        </p:blipFill>
        <p:spPr>
          <a:xfrm>
            <a:off x="3520440" y="2743200"/>
            <a:ext cx="228600" cy="228600"/>
          </a:xfrm>
          <a:prstGeom prst="rect">
            <a:avLst/>
          </a:prstGeom>
        </p:spPr>
      </p:pic>
      <p:sp>
        <p:nvSpPr>
          <p:cNvPr id="27" name="Text 20"/>
          <p:cNvSpPr/>
          <p:nvPr/>
        </p:nvSpPr>
        <p:spPr>
          <a:xfrm>
            <a:off x="3840480" y="2697480"/>
            <a:ext cx="2011680" cy="274320"/>
          </a:xfrm>
          <a:prstGeom prst="rect">
            <a:avLst/>
          </a:prstGeom>
          <a:noFill/>
          <a:ln/>
        </p:spPr>
        <p:txBody>
          <a:bodyPr wrap="square" lIns="0" tIns="0" rIns="0" bIns="0" rtlCol="0" anchor="ctr"/>
          <a:lstStyle/>
          <a:p>
            <a:pPr marL="0" indent="0">
              <a:buNone/>
            </a:pPr>
            <a:r>
              <a:rPr lang="en-US" sz="1100" b="1" dirty="0">
                <a:solidFill>
                  <a:srgbClr val="192231"/>
                </a:solidFill>
                <a:latin typeface="Calibri" pitchFamily="34" charset="0"/>
                <a:ea typeface="Calibri" pitchFamily="34" charset="-122"/>
                <a:cs typeface="Calibri" pitchFamily="34" charset="-120"/>
              </a:rPr>
              <a:t>Specialist Services</a:t>
            </a:r>
            <a:endParaRPr lang="en-US" sz="1100" dirty="0"/>
          </a:p>
        </p:txBody>
      </p:sp>
      <p:sp>
        <p:nvSpPr>
          <p:cNvPr id="28" name="Text 21"/>
          <p:cNvSpPr/>
          <p:nvPr/>
        </p:nvSpPr>
        <p:spPr>
          <a:xfrm>
            <a:off x="3520440" y="3063240"/>
            <a:ext cx="2331720" cy="822960"/>
          </a:xfrm>
          <a:prstGeom prst="rect">
            <a:avLst/>
          </a:prstGeom>
          <a:noFill/>
          <a:ln/>
        </p:spPr>
        <p:txBody>
          <a:bodyPr wrap="square" lIns="0" tIns="0" rIns="0" bIns="0" rtlCol="0" anchor="ctr"/>
          <a:lstStyle/>
          <a:p>
            <a:pPr marL="0" indent="0">
              <a:buNone/>
            </a:pPr>
            <a:r>
              <a:rPr lang="en-US" sz="950" dirty="0">
                <a:solidFill>
                  <a:srgbClr val="6B7280"/>
                </a:solidFill>
                <a:latin typeface="Calibri Light" pitchFamily="34" charset="0"/>
                <a:ea typeface="Calibri Light" pitchFamily="34" charset="-122"/>
                <a:cs typeface="Calibri Light" pitchFamily="34" charset="-120"/>
              </a:rPr>
              <a:t>Continuing healthcare, neurological, end of life, palliative.</a:t>
            </a:r>
            <a:endParaRPr lang="en-US" sz="950" dirty="0"/>
          </a:p>
        </p:txBody>
      </p:sp>
      <p:sp>
        <p:nvSpPr>
          <p:cNvPr id="29" name="Shape 22"/>
          <p:cNvSpPr/>
          <p:nvPr/>
        </p:nvSpPr>
        <p:spPr>
          <a:xfrm>
            <a:off x="6217920" y="2560320"/>
            <a:ext cx="2606040" cy="1463040"/>
          </a:xfrm>
          <a:prstGeom prst="rect">
            <a:avLst/>
          </a:prstGeom>
          <a:solidFill>
            <a:srgbClr val="FAFAF5"/>
          </a:solidFill>
          <a:ln/>
        </p:spPr>
        <p:txBody>
          <a:bodyPr/>
          <a:lstStyle/>
          <a:p>
            <a:endParaRPr lang="en-GB"/>
          </a:p>
        </p:txBody>
      </p:sp>
      <p:sp>
        <p:nvSpPr>
          <p:cNvPr id="30" name="Shape 23"/>
          <p:cNvSpPr/>
          <p:nvPr/>
        </p:nvSpPr>
        <p:spPr>
          <a:xfrm>
            <a:off x="6217920" y="2560320"/>
            <a:ext cx="2606040" cy="36576"/>
          </a:xfrm>
          <a:prstGeom prst="rect">
            <a:avLst/>
          </a:prstGeom>
          <a:solidFill>
            <a:srgbClr val="D4382C"/>
          </a:solidFill>
          <a:ln/>
        </p:spPr>
        <p:txBody>
          <a:bodyPr/>
          <a:lstStyle/>
          <a:p>
            <a:endParaRPr lang="en-GB"/>
          </a:p>
        </p:txBody>
      </p:sp>
      <p:pic>
        <p:nvPicPr>
          <p:cNvPr id="31" name="Image 5" descr="preencoded.png"/>
          <p:cNvPicPr>
            <a:picLocks noChangeAspect="1"/>
          </p:cNvPicPr>
          <p:nvPr/>
        </p:nvPicPr>
        <p:blipFill>
          <a:blip r:embed="rId8"/>
          <a:stretch>
            <a:fillRect/>
          </a:stretch>
        </p:blipFill>
        <p:spPr>
          <a:xfrm>
            <a:off x="6355080" y="2743200"/>
            <a:ext cx="228600" cy="228600"/>
          </a:xfrm>
          <a:prstGeom prst="rect">
            <a:avLst/>
          </a:prstGeom>
        </p:spPr>
      </p:pic>
      <p:sp>
        <p:nvSpPr>
          <p:cNvPr id="32" name="Text 24"/>
          <p:cNvSpPr/>
          <p:nvPr/>
        </p:nvSpPr>
        <p:spPr>
          <a:xfrm>
            <a:off x="6675120" y="2697480"/>
            <a:ext cx="2011680" cy="274320"/>
          </a:xfrm>
          <a:prstGeom prst="rect">
            <a:avLst/>
          </a:prstGeom>
          <a:noFill/>
          <a:ln/>
        </p:spPr>
        <p:txBody>
          <a:bodyPr wrap="square" lIns="0" tIns="0" rIns="0" bIns="0" rtlCol="0" anchor="ctr"/>
          <a:lstStyle/>
          <a:p>
            <a:pPr marL="0" indent="0">
              <a:buNone/>
            </a:pPr>
            <a:r>
              <a:rPr lang="en-US" sz="1100" b="1" dirty="0">
                <a:solidFill>
                  <a:srgbClr val="192231"/>
                </a:solidFill>
                <a:latin typeface="Calibri" pitchFamily="34" charset="0"/>
                <a:ea typeface="Calibri" pitchFamily="34" charset="-122"/>
                <a:cs typeface="Calibri" pitchFamily="34" charset="-120"/>
              </a:rPr>
              <a:t>Frameworks &amp; DPS</a:t>
            </a:r>
            <a:endParaRPr lang="en-US" sz="1100" dirty="0"/>
          </a:p>
        </p:txBody>
      </p:sp>
      <p:sp>
        <p:nvSpPr>
          <p:cNvPr id="33" name="Text 25"/>
          <p:cNvSpPr/>
          <p:nvPr/>
        </p:nvSpPr>
        <p:spPr>
          <a:xfrm>
            <a:off x="6355080" y="3063240"/>
            <a:ext cx="2331720" cy="822960"/>
          </a:xfrm>
          <a:prstGeom prst="rect">
            <a:avLst/>
          </a:prstGeom>
          <a:noFill/>
          <a:ln/>
        </p:spPr>
        <p:txBody>
          <a:bodyPr wrap="square" lIns="0" tIns="0" rIns="0" bIns="0" rtlCol="0" anchor="ctr"/>
          <a:lstStyle/>
          <a:p>
            <a:pPr marL="0" indent="0">
              <a:buNone/>
            </a:pPr>
            <a:r>
              <a:rPr lang="en-US" sz="950" dirty="0">
                <a:solidFill>
                  <a:srgbClr val="6B7280"/>
                </a:solidFill>
                <a:latin typeface="Calibri Light" pitchFamily="34" charset="0"/>
                <a:ea typeface="Calibri Light" pitchFamily="34" charset="-122"/>
                <a:cs typeface="Calibri Light" pitchFamily="34" charset="-120"/>
              </a:rPr>
              <a:t>Multi-provider frameworks, DPS, preferred provider lists.</a:t>
            </a:r>
            <a:endParaRPr lang="en-US" sz="950" dirty="0"/>
          </a:p>
        </p:txBody>
      </p:sp>
      <p:sp>
        <p:nvSpPr>
          <p:cNvPr id="34" name="Shape 26"/>
          <p:cNvSpPr/>
          <p:nvPr/>
        </p:nvSpPr>
        <p:spPr>
          <a:xfrm>
            <a:off x="0" y="4800600"/>
            <a:ext cx="9144000" cy="342900"/>
          </a:xfrm>
          <a:prstGeom prst="rect">
            <a:avLst/>
          </a:prstGeom>
          <a:solidFill>
            <a:srgbClr val="F3F4F6"/>
          </a:solidFill>
          <a:ln/>
        </p:spPr>
        <p:txBody>
          <a:bodyPr/>
          <a:lstStyle/>
          <a:p>
            <a:endParaRPr lang="en-GB"/>
          </a:p>
        </p:txBody>
      </p:sp>
      <p:sp>
        <p:nvSpPr>
          <p:cNvPr id="35" name="Text 27"/>
          <p:cNvSpPr/>
          <p:nvPr/>
        </p:nvSpPr>
        <p:spPr>
          <a:xfrm>
            <a:off x="457200" y="4828032"/>
            <a:ext cx="2743200" cy="274320"/>
          </a:xfrm>
          <a:prstGeom prst="rect">
            <a:avLst/>
          </a:prstGeom>
          <a:noFill/>
          <a:ln/>
        </p:spPr>
        <p:txBody>
          <a:bodyPr wrap="square" lIns="0" tIns="0" rIns="0" bIns="0" rtlCol="0" anchor="ctr"/>
          <a:lstStyle/>
          <a:p>
            <a:pPr marL="0" indent="0">
              <a:buNone/>
            </a:pPr>
            <a:r>
              <a:rPr lang="en-US" sz="800" dirty="0">
                <a:solidFill>
                  <a:srgbClr val="6B7280"/>
                </a:solidFill>
                <a:latin typeface="Calibri Light" pitchFamily="34" charset="0"/>
                <a:ea typeface="Calibri Light" pitchFamily="34" charset="-122"/>
                <a:cs typeface="Calibri Light" pitchFamily="34" charset="-120"/>
              </a:rPr>
              <a:t>tenderlab.co.uk</a:t>
            </a:r>
            <a:endParaRPr lang="en-US" sz="800" dirty="0"/>
          </a:p>
        </p:txBody>
      </p:sp>
      <p:pic>
        <p:nvPicPr>
          <p:cNvPr id="36" name="Image 6" descr="preencoded.png"/>
          <p:cNvPicPr>
            <a:picLocks noChangeAspect="1"/>
          </p:cNvPicPr>
          <p:nvPr/>
        </p:nvPicPr>
        <p:blipFill>
          <a:blip r:embed="rId9"/>
          <a:stretch>
            <a:fillRect/>
          </a:stretch>
        </p:blipFill>
        <p:spPr>
          <a:xfrm>
            <a:off x="8229600" y="4709160"/>
            <a:ext cx="502920" cy="50292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32004"/>
          </a:xfrm>
          <a:prstGeom prst="rect">
            <a:avLst/>
          </a:prstGeom>
          <a:solidFill>
            <a:srgbClr val="D4382C"/>
          </a:solidFill>
          <a:ln/>
        </p:spPr>
        <p:txBody>
          <a:bodyPr/>
          <a:lstStyle/>
          <a:p>
            <a:endParaRPr lang="en-GB"/>
          </a:p>
        </p:txBody>
      </p:sp>
      <p:sp>
        <p:nvSpPr>
          <p:cNvPr id="3" name="Text 1"/>
          <p:cNvSpPr/>
          <p:nvPr/>
        </p:nvSpPr>
        <p:spPr>
          <a:xfrm>
            <a:off x="548640" y="274320"/>
            <a:ext cx="4572000" cy="457200"/>
          </a:xfrm>
          <a:prstGeom prst="rect">
            <a:avLst/>
          </a:prstGeom>
          <a:noFill/>
          <a:ln/>
        </p:spPr>
        <p:txBody>
          <a:bodyPr wrap="square" lIns="0" tIns="0" rIns="0" bIns="0" rtlCol="0" anchor="ctr"/>
          <a:lstStyle/>
          <a:p>
            <a:pPr marL="0" indent="0">
              <a:buNone/>
            </a:pPr>
            <a:r>
              <a:rPr lang="en-US" sz="2800" dirty="0">
                <a:solidFill>
                  <a:srgbClr val="192231"/>
                </a:solidFill>
                <a:latin typeface="Arial Black" pitchFamily="34" charset="0"/>
                <a:ea typeface="Arial Black" pitchFamily="34" charset="-122"/>
                <a:cs typeface="Arial Black" pitchFamily="34" charset="-120"/>
              </a:rPr>
              <a:t>Where We Operate</a:t>
            </a:r>
            <a:endParaRPr lang="en-US" sz="2800" dirty="0"/>
          </a:p>
        </p:txBody>
      </p:sp>
      <p:pic>
        <p:nvPicPr>
          <p:cNvPr id="4" name="Image 0" descr="preencoded.png"/>
          <p:cNvPicPr>
            <a:picLocks noChangeAspect="1"/>
          </p:cNvPicPr>
          <p:nvPr/>
        </p:nvPicPr>
        <p:blipFill>
          <a:blip r:embed="rId3"/>
          <a:stretch>
            <a:fillRect/>
          </a:stretch>
        </p:blipFill>
        <p:spPr>
          <a:xfrm>
            <a:off x="182880" y="914400"/>
            <a:ext cx="3200400" cy="3566160"/>
          </a:xfrm>
          <a:prstGeom prst="rect">
            <a:avLst/>
          </a:prstGeom>
        </p:spPr>
      </p:pic>
      <p:sp>
        <p:nvSpPr>
          <p:cNvPr id="5" name="Text 2"/>
          <p:cNvSpPr/>
          <p:nvPr/>
        </p:nvSpPr>
        <p:spPr>
          <a:xfrm>
            <a:off x="3657600" y="1097280"/>
            <a:ext cx="5029200" cy="1097280"/>
          </a:xfrm>
          <a:prstGeom prst="rect">
            <a:avLst/>
          </a:prstGeom>
          <a:noFill/>
          <a:ln/>
        </p:spPr>
        <p:txBody>
          <a:bodyPr wrap="square" lIns="0" tIns="0" rIns="0" bIns="0" rtlCol="0" anchor="ctr"/>
          <a:lstStyle/>
          <a:p>
            <a:pPr marL="0" indent="0">
              <a:buNone/>
            </a:pPr>
            <a:r>
              <a:rPr lang="en-US" sz="1100" dirty="0">
                <a:solidFill>
                  <a:srgbClr val="374151"/>
                </a:solidFill>
                <a:latin typeface="Calibri" pitchFamily="34" charset="0"/>
                <a:ea typeface="Calibri" pitchFamily="34" charset="-122"/>
                <a:cs typeface="Calibri" pitchFamily="34" charset="-120"/>
              </a:rPr>
              <a:t>Based in Hatfield, Hertfordshire. We work across every local authority and Integrated Care Board commissioning structure in England. Our client base spans Birmingham, London, Norfolk, West Sussex, Worcestershire, Buckinghamshire, Peterborough, and beyond.</a:t>
            </a:r>
            <a:endParaRPr lang="en-US" sz="1100" dirty="0"/>
          </a:p>
        </p:txBody>
      </p:sp>
      <p:pic>
        <p:nvPicPr>
          <p:cNvPr id="6" name="Image 1" descr="preencoded.png"/>
          <p:cNvPicPr>
            <a:picLocks noChangeAspect="1"/>
          </p:cNvPicPr>
          <p:nvPr/>
        </p:nvPicPr>
        <p:blipFill>
          <a:blip r:embed="rId4"/>
          <a:stretch>
            <a:fillRect/>
          </a:stretch>
        </p:blipFill>
        <p:spPr>
          <a:xfrm>
            <a:off x="3657600" y="2377440"/>
            <a:ext cx="2468880" cy="1645920"/>
          </a:xfrm>
          <a:prstGeom prst="rect">
            <a:avLst/>
          </a:prstGeom>
        </p:spPr>
      </p:pic>
      <p:pic>
        <p:nvPicPr>
          <p:cNvPr id="7" name="Image 2" descr="preencoded.png"/>
          <p:cNvPicPr>
            <a:picLocks noChangeAspect="1"/>
          </p:cNvPicPr>
          <p:nvPr/>
        </p:nvPicPr>
        <p:blipFill>
          <a:blip r:embed="rId5"/>
          <a:stretch>
            <a:fillRect/>
          </a:stretch>
        </p:blipFill>
        <p:spPr>
          <a:xfrm>
            <a:off x="6217920" y="2377440"/>
            <a:ext cx="2468880" cy="1645920"/>
          </a:xfrm>
          <a:prstGeom prst="rect">
            <a:avLst/>
          </a:prstGeom>
        </p:spPr>
      </p:pic>
      <p:sp>
        <p:nvSpPr>
          <p:cNvPr id="8" name="Shape 3"/>
          <p:cNvSpPr/>
          <p:nvPr/>
        </p:nvSpPr>
        <p:spPr>
          <a:xfrm>
            <a:off x="0" y="4800600"/>
            <a:ext cx="9144000" cy="342900"/>
          </a:xfrm>
          <a:prstGeom prst="rect">
            <a:avLst/>
          </a:prstGeom>
          <a:solidFill>
            <a:srgbClr val="F3F4F6"/>
          </a:solidFill>
          <a:ln/>
        </p:spPr>
        <p:txBody>
          <a:bodyPr/>
          <a:lstStyle/>
          <a:p>
            <a:endParaRPr lang="en-GB"/>
          </a:p>
        </p:txBody>
      </p:sp>
      <p:sp>
        <p:nvSpPr>
          <p:cNvPr id="9" name="Text 4"/>
          <p:cNvSpPr/>
          <p:nvPr/>
        </p:nvSpPr>
        <p:spPr>
          <a:xfrm>
            <a:off x="457200" y="4828032"/>
            <a:ext cx="2743200" cy="274320"/>
          </a:xfrm>
          <a:prstGeom prst="rect">
            <a:avLst/>
          </a:prstGeom>
          <a:noFill/>
          <a:ln/>
        </p:spPr>
        <p:txBody>
          <a:bodyPr wrap="square" lIns="0" tIns="0" rIns="0" bIns="0" rtlCol="0" anchor="ctr"/>
          <a:lstStyle/>
          <a:p>
            <a:pPr marL="0" indent="0">
              <a:buNone/>
            </a:pPr>
            <a:r>
              <a:rPr lang="en-US" sz="800" dirty="0">
                <a:solidFill>
                  <a:srgbClr val="6B7280"/>
                </a:solidFill>
                <a:latin typeface="Calibri Light" pitchFamily="34" charset="0"/>
                <a:ea typeface="Calibri Light" pitchFamily="34" charset="-122"/>
                <a:cs typeface="Calibri Light" pitchFamily="34" charset="-120"/>
              </a:rPr>
              <a:t>tenderlab.co.uk</a:t>
            </a:r>
            <a:endParaRPr lang="en-US" sz="800" dirty="0"/>
          </a:p>
        </p:txBody>
      </p:sp>
      <p:pic>
        <p:nvPicPr>
          <p:cNvPr id="10" name="Image 3" descr="preencoded.png"/>
          <p:cNvPicPr>
            <a:picLocks noChangeAspect="1"/>
          </p:cNvPicPr>
          <p:nvPr/>
        </p:nvPicPr>
        <p:blipFill>
          <a:blip r:embed="rId6"/>
          <a:stretch>
            <a:fillRect/>
          </a:stretch>
        </p:blipFill>
        <p:spPr>
          <a:xfrm>
            <a:off x="8229600" y="4709160"/>
            <a:ext cx="502920" cy="50292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32004"/>
          </a:xfrm>
          <a:prstGeom prst="rect">
            <a:avLst/>
          </a:prstGeom>
          <a:solidFill>
            <a:srgbClr val="D4382C"/>
          </a:solidFill>
          <a:ln/>
        </p:spPr>
        <p:txBody>
          <a:bodyPr/>
          <a:lstStyle/>
          <a:p>
            <a:endParaRPr lang="en-GB"/>
          </a:p>
        </p:txBody>
      </p:sp>
      <p:sp>
        <p:nvSpPr>
          <p:cNvPr id="3" name="Text 1"/>
          <p:cNvSpPr/>
          <p:nvPr/>
        </p:nvSpPr>
        <p:spPr>
          <a:xfrm>
            <a:off x="548640" y="1645920"/>
            <a:ext cx="1371600" cy="457200"/>
          </a:xfrm>
          <a:prstGeom prst="rect">
            <a:avLst/>
          </a:prstGeom>
          <a:noFill/>
          <a:ln/>
        </p:spPr>
        <p:txBody>
          <a:bodyPr wrap="square" lIns="0" tIns="0" rIns="0" bIns="0" rtlCol="0" anchor="ctr"/>
          <a:lstStyle/>
          <a:p>
            <a:pPr marL="0" indent="0">
              <a:buNone/>
            </a:pPr>
            <a:r>
              <a:rPr lang="en-US" sz="2200" dirty="0">
                <a:solidFill>
                  <a:srgbClr val="5A7A96"/>
                </a:solidFill>
                <a:latin typeface="Arial" pitchFamily="34" charset="0"/>
                <a:ea typeface="Arial" pitchFamily="34" charset="-122"/>
                <a:cs typeface="Arial" pitchFamily="34" charset="-120"/>
              </a:rPr>
              <a:t>03</a:t>
            </a:r>
            <a:endParaRPr lang="en-US" sz="2200" dirty="0"/>
          </a:p>
        </p:txBody>
      </p:sp>
      <p:sp>
        <p:nvSpPr>
          <p:cNvPr id="4" name="Text 2"/>
          <p:cNvSpPr/>
          <p:nvPr/>
        </p:nvSpPr>
        <p:spPr>
          <a:xfrm>
            <a:off x="548640" y="2103120"/>
            <a:ext cx="7315200" cy="1463040"/>
          </a:xfrm>
          <a:prstGeom prst="rect">
            <a:avLst/>
          </a:prstGeom>
          <a:noFill/>
          <a:ln/>
        </p:spPr>
        <p:txBody>
          <a:bodyPr wrap="square" lIns="0" tIns="0" rIns="0" bIns="0" rtlCol="0" anchor="ctr"/>
          <a:lstStyle/>
          <a:p>
            <a:pPr marL="0" indent="0">
              <a:lnSpc>
                <a:spcPct val="90000"/>
              </a:lnSpc>
              <a:buNone/>
            </a:pPr>
            <a:r>
              <a:rPr lang="en-US" sz="4800" dirty="0">
                <a:solidFill>
                  <a:srgbClr val="FFFFFF"/>
                </a:solidFill>
                <a:latin typeface="Arial Black" pitchFamily="34" charset="0"/>
                <a:ea typeface="Arial Black" pitchFamily="34" charset="-122"/>
                <a:cs typeface="Arial Black" pitchFamily="34" charset="-120"/>
              </a:rPr>
              <a:t>WHAT WE</a:t>
            </a:r>
            <a:endParaRPr lang="en-US" sz="4800" dirty="0"/>
          </a:p>
          <a:p>
            <a:pPr marL="0" indent="0">
              <a:lnSpc>
                <a:spcPct val="90000"/>
              </a:lnSpc>
              <a:buNone/>
            </a:pPr>
            <a:r>
              <a:rPr lang="en-US" sz="4800" dirty="0">
                <a:solidFill>
                  <a:srgbClr val="FFFFFF"/>
                </a:solidFill>
                <a:latin typeface="Arial Black" pitchFamily="34" charset="0"/>
                <a:ea typeface="Arial Black" pitchFamily="34" charset="-122"/>
                <a:cs typeface="Arial Black" pitchFamily="34" charset="-120"/>
              </a:rPr>
              <a:t>DELIVER</a:t>
            </a:r>
            <a:endParaRPr lang="en-US" sz="4800" dirty="0"/>
          </a:p>
        </p:txBody>
      </p:sp>
      <p:sp>
        <p:nvSpPr>
          <p:cNvPr id="5" name="Shape 3"/>
          <p:cNvSpPr/>
          <p:nvPr/>
        </p:nvSpPr>
        <p:spPr>
          <a:xfrm>
            <a:off x="548640" y="3657600"/>
            <a:ext cx="1828800" cy="0"/>
          </a:xfrm>
          <a:prstGeom prst="line">
            <a:avLst/>
          </a:prstGeom>
          <a:noFill/>
          <a:ln w="38100">
            <a:solidFill>
              <a:srgbClr val="D4382C"/>
            </a:solidFill>
            <a:prstDash val="solid"/>
          </a:ln>
        </p:spPr>
        <p:txBody>
          <a:bodyPr/>
          <a:lstStyle/>
          <a:p>
            <a:endParaRPr lang="en-GB"/>
          </a:p>
        </p:txBody>
      </p:sp>
      <p:pic>
        <p:nvPicPr>
          <p:cNvPr id="6" name="Image 0" descr="preencoded.png"/>
          <p:cNvPicPr>
            <a:picLocks noChangeAspect="1"/>
          </p:cNvPicPr>
          <p:nvPr/>
        </p:nvPicPr>
        <p:blipFill>
          <a:blip r:embed="rId4"/>
          <a:stretch>
            <a:fillRect/>
          </a:stretch>
        </p:blipFill>
        <p:spPr>
          <a:xfrm>
            <a:off x="7772400" y="4114800"/>
            <a:ext cx="731520" cy="73152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32004"/>
          </a:xfrm>
          <a:prstGeom prst="rect">
            <a:avLst/>
          </a:prstGeom>
          <a:solidFill>
            <a:srgbClr val="D4382C"/>
          </a:solidFill>
          <a:ln/>
        </p:spPr>
        <p:txBody>
          <a:bodyPr/>
          <a:lstStyle/>
          <a:p>
            <a:endParaRPr lang="en-GB"/>
          </a:p>
        </p:txBody>
      </p:sp>
      <p:sp>
        <p:nvSpPr>
          <p:cNvPr id="3" name="Text 1"/>
          <p:cNvSpPr/>
          <p:nvPr/>
        </p:nvSpPr>
        <p:spPr>
          <a:xfrm>
            <a:off x="548640" y="274320"/>
            <a:ext cx="3657600" cy="457200"/>
          </a:xfrm>
          <a:prstGeom prst="rect">
            <a:avLst/>
          </a:prstGeom>
          <a:noFill/>
          <a:ln/>
        </p:spPr>
        <p:txBody>
          <a:bodyPr wrap="square" lIns="0" tIns="0" rIns="0" bIns="0" rtlCol="0" anchor="ctr"/>
          <a:lstStyle/>
          <a:p>
            <a:pPr marL="0" indent="0">
              <a:buNone/>
            </a:pPr>
            <a:r>
              <a:rPr lang="en-US" sz="2800" dirty="0">
                <a:solidFill>
                  <a:srgbClr val="192231"/>
                </a:solidFill>
                <a:latin typeface="Arial Black" pitchFamily="34" charset="0"/>
                <a:ea typeface="Arial Black" pitchFamily="34" charset="-122"/>
                <a:cs typeface="Arial Black" pitchFamily="34" charset="-120"/>
              </a:rPr>
              <a:t>Our Services</a:t>
            </a:r>
            <a:endParaRPr lang="en-US" sz="2800" dirty="0"/>
          </a:p>
        </p:txBody>
      </p:sp>
      <p:pic>
        <p:nvPicPr>
          <p:cNvPr id="4" name="Image 0" descr="preencoded.png"/>
          <p:cNvPicPr>
            <a:picLocks noChangeAspect="1"/>
          </p:cNvPicPr>
          <p:nvPr/>
        </p:nvPicPr>
        <p:blipFill>
          <a:blip r:embed="rId3"/>
          <a:stretch>
            <a:fillRect/>
          </a:stretch>
        </p:blipFill>
        <p:spPr>
          <a:xfrm>
            <a:off x="548640" y="914400"/>
            <a:ext cx="3840480" cy="1645920"/>
          </a:xfrm>
          <a:prstGeom prst="rect">
            <a:avLst/>
          </a:prstGeom>
        </p:spPr>
      </p:pic>
      <p:pic>
        <p:nvPicPr>
          <p:cNvPr id="5" name="Image 1" descr="preencoded.png"/>
          <p:cNvPicPr>
            <a:picLocks noChangeAspect="1"/>
          </p:cNvPicPr>
          <p:nvPr/>
        </p:nvPicPr>
        <p:blipFill>
          <a:blip r:embed="rId4"/>
          <a:stretch>
            <a:fillRect/>
          </a:stretch>
        </p:blipFill>
        <p:spPr>
          <a:xfrm>
            <a:off x="4754880" y="914400"/>
            <a:ext cx="3840480" cy="1645920"/>
          </a:xfrm>
          <a:prstGeom prst="rect">
            <a:avLst/>
          </a:prstGeom>
        </p:spPr>
      </p:pic>
      <p:sp>
        <p:nvSpPr>
          <p:cNvPr id="6" name="Shape 2"/>
          <p:cNvSpPr/>
          <p:nvPr/>
        </p:nvSpPr>
        <p:spPr>
          <a:xfrm>
            <a:off x="548640" y="2743200"/>
            <a:ext cx="1874520" cy="1645920"/>
          </a:xfrm>
          <a:prstGeom prst="rect">
            <a:avLst/>
          </a:prstGeom>
          <a:solidFill>
            <a:srgbClr val="F3F4F6"/>
          </a:solidFill>
          <a:ln/>
        </p:spPr>
        <p:txBody>
          <a:bodyPr/>
          <a:lstStyle/>
          <a:p>
            <a:endParaRPr lang="en-GB"/>
          </a:p>
        </p:txBody>
      </p:sp>
      <p:sp>
        <p:nvSpPr>
          <p:cNvPr id="7" name="Shape 3"/>
          <p:cNvSpPr/>
          <p:nvPr/>
        </p:nvSpPr>
        <p:spPr>
          <a:xfrm>
            <a:off x="548640" y="2743200"/>
            <a:ext cx="45720" cy="1645920"/>
          </a:xfrm>
          <a:prstGeom prst="rect">
            <a:avLst/>
          </a:prstGeom>
          <a:solidFill>
            <a:srgbClr val="D4382C"/>
          </a:solidFill>
          <a:ln/>
        </p:spPr>
        <p:txBody>
          <a:bodyPr/>
          <a:lstStyle/>
          <a:p>
            <a:endParaRPr lang="en-GB"/>
          </a:p>
        </p:txBody>
      </p:sp>
      <p:pic>
        <p:nvPicPr>
          <p:cNvPr id="8" name="Image 2" descr="preencoded.png"/>
          <p:cNvPicPr>
            <a:picLocks noChangeAspect="1"/>
          </p:cNvPicPr>
          <p:nvPr/>
        </p:nvPicPr>
        <p:blipFill>
          <a:blip r:embed="rId5"/>
          <a:stretch>
            <a:fillRect/>
          </a:stretch>
        </p:blipFill>
        <p:spPr>
          <a:xfrm>
            <a:off x="731520" y="2880360"/>
            <a:ext cx="228600" cy="228600"/>
          </a:xfrm>
          <a:prstGeom prst="rect">
            <a:avLst/>
          </a:prstGeom>
        </p:spPr>
      </p:pic>
      <p:sp>
        <p:nvSpPr>
          <p:cNvPr id="9" name="Text 4"/>
          <p:cNvSpPr/>
          <p:nvPr/>
        </p:nvSpPr>
        <p:spPr>
          <a:xfrm>
            <a:off x="731520" y="3154680"/>
            <a:ext cx="1554480" cy="365760"/>
          </a:xfrm>
          <a:prstGeom prst="rect">
            <a:avLst/>
          </a:prstGeom>
          <a:noFill/>
          <a:ln/>
        </p:spPr>
        <p:txBody>
          <a:bodyPr wrap="square" lIns="0" tIns="0" rIns="0" bIns="0" rtlCol="0" anchor="ctr"/>
          <a:lstStyle/>
          <a:p>
            <a:pPr marL="0" indent="0">
              <a:buNone/>
            </a:pPr>
            <a:r>
              <a:rPr lang="en-US" sz="1000" b="1" dirty="0">
                <a:solidFill>
                  <a:srgbClr val="192231"/>
                </a:solidFill>
                <a:latin typeface="Calibri" pitchFamily="34" charset="0"/>
                <a:ea typeface="Calibri" pitchFamily="34" charset="-122"/>
                <a:cs typeface="Calibri" pitchFamily="34" charset="-120"/>
              </a:rPr>
              <a:t>Specification Analysis &amp; Briefing</a:t>
            </a:r>
            <a:endParaRPr lang="en-US" sz="1000" dirty="0"/>
          </a:p>
        </p:txBody>
      </p:sp>
      <p:sp>
        <p:nvSpPr>
          <p:cNvPr id="10" name="Text 5"/>
          <p:cNvSpPr/>
          <p:nvPr/>
        </p:nvSpPr>
        <p:spPr>
          <a:xfrm>
            <a:off x="731520" y="3566160"/>
            <a:ext cx="1554480" cy="640080"/>
          </a:xfrm>
          <a:prstGeom prst="rect">
            <a:avLst/>
          </a:prstGeom>
          <a:noFill/>
          <a:ln/>
        </p:spPr>
        <p:txBody>
          <a:bodyPr wrap="square" lIns="0" tIns="0" rIns="0" bIns="0" rtlCol="0" anchor="ctr"/>
          <a:lstStyle/>
          <a:p>
            <a:pPr marL="0" indent="0">
              <a:buNone/>
            </a:pPr>
            <a:r>
              <a:rPr lang="en-US" sz="900" dirty="0">
                <a:solidFill>
                  <a:srgbClr val="6B7280"/>
                </a:solidFill>
                <a:latin typeface="Calibri Light" pitchFamily="34" charset="0"/>
                <a:ea typeface="Calibri Light" pitchFamily="34" charset="-122"/>
                <a:cs typeface="Calibri Light" pitchFamily="34" charset="-120"/>
              </a:rPr>
              <a:t>Full ITT analysis. Branded briefing within 24 hours.</a:t>
            </a:r>
            <a:endParaRPr lang="en-US" sz="900" dirty="0"/>
          </a:p>
        </p:txBody>
      </p:sp>
      <p:sp>
        <p:nvSpPr>
          <p:cNvPr id="11" name="Shape 6"/>
          <p:cNvSpPr/>
          <p:nvPr/>
        </p:nvSpPr>
        <p:spPr>
          <a:xfrm>
            <a:off x="2651760" y="2743200"/>
            <a:ext cx="1874520" cy="1645920"/>
          </a:xfrm>
          <a:prstGeom prst="rect">
            <a:avLst/>
          </a:prstGeom>
          <a:solidFill>
            <a:srgbClr val="F3F4F6"/>
          </a:solidFill>
          <a:ln/>
        </p:spPr>
        <p:txBody>
          <a:bodyPr/>
          <a:lstStyle/>
          <a:p>
            <a:endParaRPr lang="en-GB"/>
          </a:p>
        </p:txBody>
      </p:sp>
      <p:sp>
        <p:nvSpPr>
          <p:cNvPr id="12" name="Shape 7"/>
          <p:cNvSpPr/>
          <p:nvPr/>
        </p:nvSpPr>
        <p:spPr>
          <a:xfrm>
            <a:off x="2651760" y="2743200"/>
            <a:ext cx="45720" cy="1645920"/>
          </a:xfrm>
          <a:prstGeom prst="rect">
            <a:avLst/>
          </a:prstGeom>
          <a:solidFill>
            <a:srgbClr val="D4382C"/>
          </a:solidFill>
          <a:ln/>
        </p:spPr>
        <p:txBody>
          <a:bodyPr/>
          <a:lstStyle/>
          <a:p>
            <a:endParaRPr lang="en-GB"/>
          </a:p>
        </p:txBody>
      </p:sp>
      <p:pic>
        <p:nvPicPr>
          <p:cNvPr id="13" name="Image 3" descr="preencoded.png"/>
          <p:cNvPicPr>
            <a:picLocks noChangeAspect="1"/>
          </p:cNvPicPr>
          <p:nvPr/>
        </p:nvPicPr>
        <p:blipFill>
          <a:blip r:embed="rId6"/>
          <a:stretch>
            <a:fillRect/>
          </a:stretch>
        </p:blipFill>
        <p:spPr>
          <a:xfrm>
            <a:off x="2834640" y="2880360"/>
            <a:ext cx="228600" cy="228600"/>
          </a:xfrm>
          <a:prstGeom prst="rect">
            <a:avLst/>
          </a:prstGeom>
        </p:spPr>
      </p:pic>
      <p:sp>
        <p:nvSpPr>
          <p:cNvPr id="14" name="Text 8"/>
          <p:cNvSpPr/>
          <p:nvPr/>
        </p:nvSpPr>
        <p:spPr>
          <a:xfrm>
            <a:off x="2834640" y="3154680"/>
            <a:ext cx="1554480" cy="365760"/>
          </a:xfrm>
          <a:prstGeom prst="rect">
            <a:avLst/>
          </a:prstGeom>
          <a:noFill/>
          <a:ln/>
        </p:spPr>
        <p:txBody>
          <a:bodyPr wrap="square" lIns="0" tIns="0" rIns="0" bIns="0" rtlCol="0" anchor="ctr"/>
          <a:lstStyle/>
          <a:p>
            <a:pPr marL="0" indent="0">
              <a:buNone/>
            </a:pPr>
            <a:r>
              <a:rPr lang="en-US" sz="1000" b="1" dirty="0">
                <a:solidFill>
                  <a:srgbClr val="192231"/>
                </a:solidFill>
                <a:latin typeface="Calibri" pitchFamily="34" charset="0"/>
                <a:ea typeface="Calibri" pitchFamily="34" charset="-122"/>
                <a:cs typeface="Calibri" pitchFamily="34" charset="-120"/>
              </a:rPr>
              <a:t>Tender Response Writing</a:t>
            </a:r>
            <a:endParaRPr lang="en-US" sz="1000" dirty="0"/>
          </a:p>
        </p:txBody>
      </p:sp>
      <p:sp>
        <p:nvSpPr>
          <p:cNvPr id="15" name="Text 9"/>
          <p:cNvSpPr/>
          <p:nvPr/>
        </p:nvSpPr>
        <p:spPr>
          <a:xfrm>
            <a:off x="2834640" y="3566160"/>
            <a:ext cx="1554480" cy="640080"/>
          </a:xfrm>
          <a:prstGeom prst="rect">
            <a:avLst/>
          </a:prstGeom>
          <a:noFill/>
          <a:ln/>
        </p:spPr>
        <p:txBody>
          <a:bodyPr wrap="square" lIns="0" tIns="0" rIns="0" bIns="0" rtlCol="0" anchor="ctr"/>
          <a:lstStyle/>
          <a:p>
            <a:pPr marL="0" indent="0">
              <a:buNone/>
            </a:pPr>
            <a:r>
              <a:rPr lang="en-US" sz="900" dirty="0">
                <a:solidFill>
                  <a:srgbClr val="6B7280"/>
                </a:solidFill>
                <a:latin typeface="Calibri Light" pitchFamily="34" charset="0"/>
                <a:ea typeface="Calibri Light" pitchFamily="34" charset="-122"/>
                <a:cs typeface="Calibri Light" pitchFamily="34" charset="-120"/>
              </a:rPr>
              <a:t>20-criterion framework. Iterative rewrite to 4+ threshold.</a:t>
            </a:r>
            <a:endParaRPr lang="en-US" sz="900" dirty="0"/>
          </a:p>
        </p:txBody>
      </p:sp>
      <p:sp>
        <p:nvSpPr>
          <p:cNvPr id="16" name="Shape 10"/>
          <p:cNvSpPr/>
          <p:nvPr/>
        </p:nvSpPr>
        <p:spPr>
          <a:xfrm>
            <a:off x="4754880" y="2743200"/>
            <a:ext cx="1874520" cy="1645920"/>
          </a:xfrm>
          <a:prstGeom prst="rect">
            <a:avLst/>
          </a:prstGeom>
          <a:solidFill>
            <a:srgbClr val="F3F4F6"/>
          </a:solidFill>
          <a:ln/>
        </p:spPr>
        <p:txBody>
          <a:bodyPr/>
          <a:lstStyle/>
          <a:p>
            <a:endParaRPr lang="en-GB"/>
          </a:p>
        </p:txBody>
      </p:sp>
      <p:sp>
        <p:nvSpPr>
          <p:cNvPr id="17" name="Shape 11"/>
          <p:cNvSpPr/>
          <p:nvPr/>
        </p:nvSpPr>
        <p:spPr>
          <a:xfrm>
            <a:off x="4754880" y="2743200"/>
            <a:ext cx="45720" cy="1645920"/>
          </a:xfrm>
          <a:prstGeom prst="rect">
            <a:avLst/>
          </a:prstGeom>
          <a:solidFill>
            <a:srgbClr val="D4382C"/>
          </a:solidFill>
          <a:ln/>
        </p:spPr>
        <p:txBody>
          <a:bodyPr/>
          <a:lstStyle/>
          <a:p>
            <a:endParaRPr lang="en-GB"/>
          </a:p>
        </p:txBody>
      </p:sp>
      <p:pic>
        <p:nvPicPr>
          <p:cNvPr id="18" name="Image 4" descr="preencoded.png"/>
          <p:cNvPicPr>
            <a:picLocks noChangeAspect="1"/>
          </p:cNvPicPr>
          <p:nvPr/>
        </p:nvPicPr>
        <p:blipFill>
          <a:blip r:embed="rId7"/>
          <a:stretch>
            <a:fillRect/>
          </a:stretch>
        </p:blipFill>
        <p:spPr>
          <a:xfrm>
            <a:off x="4937760" y="2880360"/>
            <a:ext cx="228600" cy="228600"/>
          </a:xfrm>
          <a:prstGeom prst="rect">
            <a:avLst/>
          </a:prstGeom>
        </p:spPr>
      </p:pic>
      <p:sp>
        <p:nvSpPr>
          <p:cNvPr id="19" name="Text 12"/>
          <p:cNvSpPr/>
          <p:nvPr/>
        </p:nvSpPr>
        <p:spPr>
          <a:xfrm>
            <a:off x="4937760" y="3154680"/>
            <a:ext cx="1554480" cy="365760"/>
          </a:xfrm>
          <a:prstGeom prst="rect">
            <a:avLst/>
          </a:prstGeom>
          <a:noFill/>
          <a:ln/>
        </p:spPr>
        <p:txBody>
          <a:bodyPr wrap="square" lIns="0" tIns="0" rIns="0" bIns="0" rtlCol="0" anchor="ctr"/>
          <a:lstStyle/>
          <a:p>
            <a:pPr marL="0" indent="0">
              <a:buNone/>
            </a:pPr>
            <a:r>
              <a:rPr lang="en-US" sz="1000" b="1" dirty="0">
                <a:solidFill>
                  <a:srgbClr val="192231"/>
                </a:solidFill>
                <a:latin typeface="Calibri" pitchFamily="34" charset="0"/>
                <a:ea typeface="Calibri" pitchFamily="34" charset="-122"/>
                <a:cs typeface="Calibri" pitchFamily="34" charset="-120"/>
              </a:rPr>
              <a:t>Quality Evaluation &amp; Assurance</a:t>
            </a:r>
            <a:endParaRPr lang="en-US" sz="1000" dirty="0"/>
          </a:p>
        </p:txBody>
      </p:sp>
      <p:sp>
        <p:nvSpPr>
          <p:cNvPr id="20" name="Text 13"/>
          <p:cNvSpPr/>
          <p:nvPr/>
        </p:nvSpPr>
        <p:spPr>
          <a:xfrm>
            <a:off x="4937760" y="3566160"/>
            <a:ext cx="1554480" cy="640080"/>
          </a:xfrm>
          <a:prstGeom prst="rect">
            <a:avLst/>
          </a:prstGeom>
          <a:noFill/>
          <a:ln/>
        </p:spPr>
        <p:txBody>
          <a:bodyPr wrap="square" lIns="0" tIns="0" rIns="0" bIns="0" rtlCol="0" anchor="ctr"/>
          <a:lstStyle/>
          <a:p>
            <a:pPr marL="0" indent="0">
              <a:buNone/>
            </a:pPr>
            <a:r>
              <a:rPr lang="en-US" sz="900" dirty="0">
                <a:solidFill>
                  <a:srgbClr val="6B7280"/>
                </a:solidFill>
                <a:latin typeface="Calibri Light" pitchFamily="34" charset="0"/>
                <a:ea typeface="Calibri Light" pitchFamily="34" charset="-122"/>
                <a:cs typeface="Calibri Light" pitchFamily="34" charset="-120"/>
              </a:rPr>
              <a:t>Independent scoring. Gap analysis. Tracked-change rewrites.</a:t>
            </a:r>
            <a:endParaRPr lang="en-US" sz="900" dirty="0"/>
          </a:p>
        </p:txBody>
      </p:sp>
      <p:sp>
        <p:nvSpPr>
          <p:cNvPr id="21" name="Shape 14"/>
          <p:cNvSpPr/>
          <p:nvPr/>
        </p:nvSpPr>
        <p:spPr>
          <a:xfrm>
            <a:off x="6858000" y="2743200"/>
            <a:ext cx="1874520" cy="1645920"/>
          </a:xfrm>
          <a:prstGeom prst="rect">
            <a:avLst/>
          </a:prstGeom>
          <a:solidFill>
            <a:srgbClr val="F3F4F6"/>
          </a:solidFill>
          <a:ln/>
        </p:spPr>
        <p:txBody>
          <a:bodyPr/>
          <a:lstStyle/>
          <a:p>
            <a:endParaRPr lang="en-GB"/>
          </a:p>
        </p:txBody>
      </p:sp>
      <p:sp>
        <p:nvSpPr>
          <p:cNvPr id="22" name="Shape 15"/>
          <p:cNvSpPr/>
          <p:nvPr/>
        </p:nvSpPr>
        <p:spPr>
          <a:xfrm>
            <a:off x="6858000" y="2743200"/>
            <a:ext cx="45720" cy="1645920"/>
          </a:xfrm>
          <a:prstGeom prst="rect">
            <a:avLst/>
          </a:prstGeom>
          <a:solidFill>
            <a:srgbClr val="D4382C"/>
          </a:solidFill>
          <a:ln/>
        </p:spPr>
        <p:txBody>
          <a:bodyPr/>
          <a:lstStyle/>
          <a:p>
            <a:endParaRPr lang="en-GB"/>
          </a:p>
        </p:txBody>
      </p:sp>
      <p:pic>
        <p:nvPicPr>
          <p:cNvPr id="23" name="Image 5" descr="preencoded.png"/>
          <p:cNvPicPr>
            <a:picLocks noChangeAspect="1"/>
          </p:cNvPicPr>
          <p:nvPr/>
        </p:nvPicPr>
        <p:blipFill>
          <a:blip r:embed="rId8"/>
          <a:stretch>
            <a:fillRect/>
          </a:stretch>
        </p:blipFill>
        <p:spPr>
          <a:xfrm>
            <a:off x="7040880" y="2880360"/>
            <a:ext cx="228600" cy="228600"/>
          </a:xfrm>
          <a:prstGeom prst="rect">
            <a:avLst/>
          </a:prstGeom>
        </p:spPr>
      </p:pic>
      <p:sp>
        <p:nvSpPr>
          <p:cNvPr id="24" name="Text 16"/>
          <p:cNvSpPr/>
          <p:nvPr/>
        </p:nvSpPr>
        <p:spPr>
          <a:xfrm>
            <a:off x="7040880" y="3154680"/>
            <a:ext cx="1554480" cy="365760"/>
          </a:xfrm>
          <a:prstGeom prst="rect">
            <a:avLst/>
          </a:prstGeom>
          <a:noFill/>
          <a:ln/>
        </p:spPr>
        <p:txBody>
          <a:bodyPr wrap="square" lIns="0" tIns="0" rIns="0" bIns="0" rtlCol="0" anchor="ctr"/>
          <a:lstStyle/>
          <a:p>
            <a:pPr marL="0" indent="0">
              <a:buNone/>
            </a:pPr>
            <a:r>
              <a:rPr lang="en-US" sz="1000" b="1" dirty="0">
                <a:solidFill>
                  <a:srgbClr val="192231"/>
                </a:solidFill>
                <a:latin typeface="Calibri" pitchFamily="34" charset="0"/>
                <a:ea typeface="Calibri" pitchFamily="34" charset="-122"/>
                <a:cs typeface="Calibri" pitchFamily="34" charset="-120"/>
              </a:rPr>
              <a:t>Pricing &amp; Financial Modelling</a:t>
            </a:r>
            <a:endParaRPr lang="en-US" sz="1000" dirty="0"/>
          </a:p>
        </p:txBody>
      </p:sp>
      <p:sp>
        <p:nvSpPr>
          <p:cNvPr id="25" name="Text 17"/>
          <p:cNvSpPr/>
          <p:nvPr/>
        </p:nvSpPr>
        <p:spPr>
          <a:xfrm>
            <a:off x="7040880" y="3566160"/>
            <a:ext cx="1554480" cy="640080"/>
          </a:xfrm>
          <a:prstGeom prst="rect">
            <a:avLst/>
          </a:prstGeom>
          <a:noFill/>
          <a:ln/>
        </p:spPr>
        <p:txBody>
          <a:bodyPr wrap="square" lIns="0" tIns="0" rIns="0" bIns="0" rtlCol="0" anchor="ctr"/>
          <a:lstStyle/>
          <a:p>
            <a:pPr marL="0" indent="0">
              <a:buNone/>
            </a:pPr>
            <a:r>
              <a:rPr lang="en-US" sz="900" dirty="0">
                <a:solidFill>
                  <a:srgbClr val="6B7280"/>
                </a:solidFill>
                <a:latin typeface="Calibri Light" pitchFamily="34" charset="0"/>
                <a:ea typeface="Calibri Light" pitchFamily="34" charset="-122"/>
                <a:cs typeface="Calibri Light" pitchFamily="34" charset="-120"/>
              </a:rPr>
              <a:t>NLW-verified, market-benchmarked.</a:t>
            </a:r>
            <a:endParaRPr lang="en-US" sz="900" dirty="0"/>
          </a:p>
        </p:txBody>
      </p:sp>
      <p:sp>
        <p:nvSpPr>
          <p:cNvPr id="26" name="Shape 18"/>
          <p:cNvSpPr/>
          <p:nvPr/>
        </p:nvSpPr>
        <p:spPr>
          <a:xfrm>
            <a:off x="0" y="4800600"/>
            <a:ext cx="9144000" cy="342900"/>
          </a:xfrm>
          <a:prstGeom prst="rect">
            <a:avLst/>
          </a:prstGeom>
          <a:solidFill>
            <a:srgbClr val="F3F4F6"/>
          </a:solidFill>
          <a:ln/>
        </p:spPr>
        <p:txBody>
          <a:bodyPr/>
          <a:lstStyle/>
          <a:p>
            <a:endParaRPr lang="en-GB"/>
          </a:p>
        </p:txBody>
      </p:sp>
      <p:sp>
        <p:nvSpPr>
          <p:cNvPr id="27" name="Text 19"/>
          <p:cNvSpPr/>
          <p:nvPr/>
        </p:nvSpPr>
        <p:spPr>
          <a:xfrm>
            <a:off x="457200" y="4828032"/>
            <a:ext cx="2743200" cy="274320"/>
          </a:xfrm>
          <a:prstGeom prst="rect">
            <a:avLst/>
          </a:prstGeom>
          <a:noFill/>
          <a:ln/>
        </p:spPr>
        <p:txBody>
          <a:bodyPr wrap="square" lIns="0" tIns="0" rIns="0" bIns="0" rtlCol="0" anchor="ctr"/>
          <a:lstStyle/>
          <a:p>
            <a:pPr marL="0" indent="0">
              <a:buNone/>
            </a:pPr>
            <a:r>
              <a:rPr lang="en-US" sz="800" dirty="0">
                <a:solidFill>
                  <a:srgbClr val="6B7280"/>
                </a:solidFill>
                <a:latin typeface="Calibri Light" pitchFamily="34" charset="0"/>
                <a:ea typeface="Calibri Light" pitchFamily="34" charset="-122"/>
                <a:cs typeface="Calibri Light" pitchFamily="34" charset="-120"/>
              </a:rPr>
              <a:t>tenderlab.co.uk</a:t>
            </a:r>
            <a:endParaRPr lang="en-US" sz="800" dirty="0"/>
          </a:p>
        </p:txBody>
      </p:sp>
      <p:pic>
        <p:nvPicPr>
          <p:cNvPr id="28" name="Image 6" descr="preencoded.png"/>
          <p:cNvPicPr>
            <a:picLocks noChangeAspect="1"/>
          </p:cNvPicPr>
          <p:nvPr/>
        </p:nvPicPr>
        <p:blipFill>
          <a:blip r:embed="rId9"/>
          <a:stretch>
            <a:fillRect/>
          </a:stretch>
        </p:blipFill>
        <p:spPr>
          <a:xfrm>
            <a:off x="8229600" y="4709160"/>
            <a:ext cx="502920" cy="50292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32004"/>
          </a:xfrm>
          <a:prstGeom prst="rect">
            <a:avLst/>
          </a:prstGeom>
          <a:solidFill>
            <a:srgbClr val="D4382C"/>
          </a:solidFill>
          <a:ln/>
        </p:spPr>
        <p:txBody>
          <a:bodyPr/>
          <a:lstStyle/>
          <a:p>
            <a:endParaRPr lang="en-GB"/>
          </a:p>
        </p:txBody>
      </p:sp>
      <p:sp>
        <p:nvSpPr>
          <p:cNvPr id="3" name="Text 1"/>
          <p:cNvSpPr/>
          <p:nvPr/>
        </p:nvSpPr>
        <p:spPr>
          <a:xfrm>
            <a:off x="548640" y="274320"/>
            <a:ext cx="5029200" cy="457200"/>
          </a:xfrm>
          <a:prstGeom prst="rect">
            <a:avLst/>
          </a:prstGeom>
          <a:noFill/>
          <a:ln/>
        </p:spPr>
        <p:txBody>
          <a:bodyPr wrap="square" lIns="0" tIns="0" rIns="0" bIns="0" rtlCol="0" anchor="ctr"/>
          <a:lstStyle/>
          <a:p>
            <a:pPr marL="0" indent="0">
              <a:buNone/>
            </a:pPr>
            <a:r>
              <a:rPr lang="en-US" sz="2200" dirty="0">
                <a:solidFill>
                  <a:srgbClr val="192231"/>
                </a:solidFill>
                <a:latin typeface="Arial Black" pitchFamily="34" charset="0"/>
                <a:ea typeface="Arial Black" pitchFamily="34" charset="-122"/>
                <a:cs typeface="Arial Black" pitchFamily="34" charset="-120"/>
              </a:rPr>
              <a:t>Specification Analysis &amp; Briefing</a:t>
            </a:r>
            <a:endParaRPr lang="en-US" sz="2200" dirty="0"/>
          </a:p>
        </p:txBody>
      </p:sp>
      <p:sp>
        <p:nvSpPr>
          <p:cNvPr id="4" name="Text 2"/>
          <p:cNvSpPr/>
          <p:nvPr/>
        </p:nvSpPr>
        <p:spPr>
          <a:xfrm>
            <a:off x="548640" y="731520"/>
            <a:ext cx="4572000" cy="274320"/>
          </a:xfrm>
          <a:prstGeom prst="rect">
            <a:avLst/>
          </a:prstGeom>
          <a:noFill/>
          <a:ln/>
        </p:spPr>
        <p:txBody>
          <a:bodyPr wrap="square" lIns="0" tIns="0" rIns="0" bIns="0" rtlCol="0" anchor="ctr"/>
          <a:lstStyle/>
          <a:p>
            <a:pPr marL="0" indent="0">
              <a:buNone/>
            </a:pPr>
            <a:r>
              <a:rPr lang="en-US" sz="1100" i="1" dirty="0">
                <a:solidFill>
                  <a:srgbClr val="D4382C"/>
                </a:solidFill>
                <a:latin typeface="Calibri" pitchFamily="34" charset="0"/>
                <a:ea typeface="Calibri" pitchFamily="34" charset="-122"/>
                <a:cs typeface="Calibri" pitchFamily="34" charset="-120"/>
              </a:rPr>
              <a:t>Every engagement starts here</a:t>
            </a:r>
            <a:endParaRPr lang="en-US" sz="1100" dirty="0"/>
          </a:p>
        </p:txBody>
      </p:sp>
      <p:pic>
        <p:nvPicPr>
          <p:cNvPr id="5" name="Image 0" descr="preencoded.png"/>
          <p:cNvPicPr>
            <a:picLocks noChangeAspect="1"/>
          </p:cNvPicPr>
          <p:nvPr/>
        </p:nvPicPr>
        <p:blipFill>
          <a:blip r:embed="rId3"/>
          <a:stretch>
            <a:fillRect/>
          </a:stretch>
        </p:blipFill>
        <p:spPr>
          <a:xfrm>
            <a:off x="4983480" y="1234440"/>
            <a:ext cx="3474720" cy="2286000"/>
          </a:xfrm>
          <a:prstGeom prst="rect">
            <a:avLst/>
          </a:prstGeom>
        </p:spPr>
      </p:pic>
      <p:pic>
        <p:nvPicPr>
          <p:cNvPr id="6" name="Image 1" descr="preencoded.png"/>
          <p:cNvPicPr>
            <a:picLocks noChangeAspect="1"/>
          </p:cNvPicPr>
          <p:nvPr/>
        </p:nvPicPr>
        <p:blipFill>
          <a:blip r:embed="rId4"/>
          <a:stretch>
            <a:fillRect/>
          </a:stretch>
        </p:blipFill>
        <p:spPr>
          <a:xfrm>
            <a:off x="548640" y="1188720"/>
            <a:ext cx="182880" cy="182880"/>
          </a:xfrm>
          <a:prstGeom prst="rect">
            <a:avLst/>
          </a:prstGeom>
        </p:spPr>
      </p:pic>
      <p:sp>
        <p:nvSpPr>
          <p:cNvPr id="7" name="Text 3"/>
          <p:cNvSpPr/>
          <p:nvPr/>
        </p:nvSpPr>
        <p:spPr>
          <a:xfrm>
            <a:off x="868680" y="1143000"/>
            <a:ext cx="4114800" cy="457200"/>
          </a:xfrm>
          <a:prstGeom prst="rect">
            <a:avLst/>
          </a:prstGeom>
          <a:noFill/>
          <a:ln/>
        </p:spPr>
        <p:txBody>
          <a:bodyPr wrap="square" lIns="0" tIns="0" rIns="0" bIns="0" rtlCol="0" anchor="ctr"/>
          <a:lstStyle/>
          <a:p>
            <a:pPr marL="0" indent="0">
              <a:buNone/>
            </a:pPr>
            <a:r>
              <a:rPr lang="en-US" sz="1050" dirty="0">
                <a:solidFill>
                  <a:srgbClr val="374151"/>
                </a:solidFill>
                <a:latin typeface="Calibri" pitchFamily="34" charset="0"/>
                <a:ea typeface="Calibri" pitchFamily="34" charset="-122"/>
                <a:cs typeface="Calibri" pitchFamily="34" charset="-120"/>
              </a:rPr>
              <a:t>Full ITT document analysis within 24 hours</a:t>
            </a:r>
            <a:endParaRPr lang="en-US" sz="1050" dirty="0"/>
          </a:p>
        </p:txBody>
      </p:sp>
      <p:pic>
        <p:nvPicPr>
          <p:cNvPr id="8" name="Image 2" descr="preencoded.png"/>
          <p:cNvPicPr>
            <a:picLocks noChangeAspect="1"/>
          </p:cNvPicPr>
          <p:nvPr/>
        </p:nvPicPr>
        <p:blipFill>
          <a:blip r:embed="rId4"/>
          <a:stretch>
            <a:fillRect/>
          </a:stretch>
        </p:blipFill>
        <p:spPr>
          <a:xfrm>
            <a:off x="548640" y="1691640"/>
            <a:ext cx="182880" cy="182880"/>
          </a:xfrm>
          <a:prstGeom prst="rect">
            <a:avLst/>
          </a:prstGeom>
        </p:spPr>
      </p:pic>
      <p:sp>
        <p:nvSpPr>
          <p:cNvPr id="9" name="Text 4"/>
          <p:cNvSpPr/>
          <p:nvPr/>
        </p:nvSpPr>
        <p:spPr>
          <a:xfrm>
            <a:off x="868680" y="1645920"/>
            <a:ext cx="4114800" cy="457200"/>
          </a:xfrm>
          <a:prstGeom prst="rect">
            <a:avLst/>
          </a:prstGeom>
          <a:noFill/>
          <a:ln/>
        </p:spPr>
        <p:txBody>
          <a:bodyPr wrap="square" lIns="0" tIns="0" rIns="0" bIns="0" rtlCol="0" anchor="ctr"/>
          <a:lstStyle/>
          <a:p>
            <a:pPr marL="0" indent="0">
              <a:buNone/>
            </a:pPr>
            <a:r>
              <a:rPr lang="en-US" sz="1050" dirty="0">
                <a:solidFill>
                  <a:srgbClr val="374151"/>
                </a:solidFill>
                <a:latin typeface="Calibri" pitchFamily="34" charset="0"/>
                <a:ea typeface="Calibri" pitchFamily="34" charset="-122"/>
                <a:cs typeface="Calibri" pitchFamily="34" charset="-120"/>
              </a:rPr>
              <a:t>Extraction of statutory context, cohort profiles, and KPI frameworks</a:t>
            </a:r>
            <a:endParaRPr lang="en-US" sz="1050" dirty="0"/>
          </a:p>
        </p:txBody>
      </p:sp>
      <p:pic>
        <p:nvPicPr>
          <p:cNvPr id="10" name="Image 3" descr="preencoded.png"/>
          <p:cNvPicPr>
            <a:picLocks noChangeAspect="1"/>
          </p:cNvPicPr>
          <p:nvPr/>
        </p:nvPicPr>
        <p:blipFill>
          <a:blip r:embed="rId4"/>
          <a:stretch>
            <a:fillRect/>
          </a:stretch>
        </p:blipFill>
        <p:spPr>
          <a:xfrm>
            <a:off x="548640" y="2194560"/>
            <a:ext cx="182880" cy="182880"/>
          </a:xfrm>
          <a:prstGeom prst="rect">
            <a:avLst/>
          </a:prstGeom>
        </p:spPr>
      </p:pic>
      <p:sp>
        <p:nvSpPr>
          <p:cNvPr id="11" name="Text 5"/>
          <p:cNvSpPr/>
          <p:nvPr/>
        </p:nvSpPr>
        <p:spPr>
          <a:xfrm>
            <a:off x="868680" y="2148840"/>
            <a:ext cx="4114800" cy="457200"/>
          </a:xfrm>
          <a:prstGeom prst="rect">
            <a:avLst/>
          </a:prstGeom>
          <a:noFill/>
          <a:ln/>
        </p:spPr>
        <p:txBody>
          <a:bodyPr wrap="square" lIns="0" tIns="0" rIns="0" bIns="0" rtlCol="0" anchor="ctr"/>
          <a:lstStyle/>
          <a:p>
            <a:pPr marL="0" indent="0">
              <a:buNone/>
            </a:pPr>
            <a:r>
              <a:rPr lang="en-US" sz="1050" dirty="0">
                <a:solidFill>
                  <a:srgbClr val="374151"/>
                </a:solidFill>
                <a:latin typeface="Calibri" pitchFamily="34" charset="0"/>
                <a:ea typeface="Calibri" pitchFamily="34" charset="-122"/>
                <a:cs typeface="Calibri" pitchFamily="34" charset="-120"/>
              </a:rPr>
              <a:t>Eligibility assessment against published criteria</a:t>
            </a:r>
            <a:endParaRPr lang="en-US" sz="1050" dirty="0"/>
          </a:p>
        </p:txBody>
      </p:sp>
      <p:pic>
        <p:nvPicPr>
          <p:cNvPr id="12" name="Image 4" descr="preencoded.png"/>
          <p:cNvPicPr>
            <a:picLocks noChangeAspect="1"/>
          </p:cNvPicPr>
          <p:nvPr/>
        </p:nvPicPr>
        <p:blipFill>
          <a:blip r:embed="rId4"/>
          <a:stretch>
            <a:fillRect/>
          </a:stretch>
        </p:blipFill>
        <p:spPr>
          <a:xfrm>
            <a:off x="548640" y="2697480"/>
            <a:ext cx="182880" cy="182880"/>
          </a:xfrm>
          <a:prstGeom prst="rect">
            <a:avLst/>
          </a:prstGeom>
        </p:spPr>
      </p:pic>
      <p:sp>
        <p:nvSpPr>
          <p:cNvPr id="13" name="Text 6"/>
          <p:cNvSpPr/>
          <p:nvPr/>
        </p:nvSpPr>
        <p:spPr>
          <a:xfrm>
            <a:off x="868680" y="2651760"/>
            <a:ext cx="4114800" cy="457200"/>
          </a:xfrm>
          <a:prstGeom prst="rect">
            <a:avLst/>
          </a:prstGeom>
          <a:noFill/>
          <a:ln/>
        </p:spPr>
        <p:txBody>
          <a:bodyPr wrap="square" lIns="0" tIns="0" rIns="0" bIns="0" rtlCol="0" anchor="ctr"/>
          <a:lstStyle/>
          <a:p>
            <a:pPr marL="0" indent="0">
              <a:buNone/>
            </a:pPr>
            <a:r>
              <a:rPr lang="en-US" sz="1050" dirty="0">
                <a:solidFill>
                  <a:srgbClr val="374151"/>
                </a:solidFill>
                <a:latin typeface="Calibri" pitchFamily="34" charset="0"/>
                <a:ea typeface="Calibri" pitchFamily="34" charset="-122"/>
                <a:cs typeface="Calibri" pitchFamily="34" charset="-120"/>
              </a:rPr>
              <a:t>Evaluation weighting and scoring methodology identified</a:t>
            </a:r>
            <a:endParaRPr lang="en-US" sz="1050" dirty="0"/>
          </a:p>
        </p:txBody>
      </p:sp>
      <p:pic>
        <p:nvPicPr>
          <p:cNvPr id="14" name="Image 5" descr="preencoded.png"/>
          <p:cNvPicPr>
            <a:picLocks noChangeAspect="1"/>
          </p:cNvPicPr>
          <p:nvPr/>
        </p:nvPicPr>
        <p:blipFill>
          <a:blip r:embed="rId4"/>
          <a:stretch>
            <a:fillRect/>
          </a:stretch>
        </p:blipFill>
        <p:spPr>
          <a:xfrm>
            <a:off x="548640" y="3200400"/>
            <a:ext cx="182880" cy="182880"/>
          </a:xfrm>
          <a:prstGeom prst="rect">
            <a:avLst/>
          </a:prstGeom>
        </p:spPr>
      </p:pic>
      <p:sp>
        <p:nvSpPr>
          <p:cNvPr id="15" name="Text 7"/>
          <p:cNvSpPr/>
          <p:nvPr/>
        </p:nvSpPr>
        <p:spPr>
          <a:xfrm>
            <a:off x="868680" y="3154680"/>
            <a:ext cx="4114800" cy="457200"/>
          </a:xfrm>
          <a:prstGeom prst="rect">
            <a:avLst/>
          </a:prstGeom>
          <a:noFill/>
          <a:ln/>
        </p:spPr>
        <p:txBody>
          <a:bodyPr wrap="square" lIns="0" tIns="0" rIns="0" bIns="0" rtlCol="0" anchor="ctr"/>
          <a:lstStyle/>
          <a:p>
            <a:pPr marL="0" indent="0">
              <a:buNone/>
            </a:pPr>
            <a:r>
              <a:rPr lang="en-US" sz="1050" dirty="0">
                <a:solidFill>
                  <a:srgbClr val="374151"/>
                </a:solidFill>
                <a:latin typeface="Calibri" pitchFamily="34" charset="0"/>
                <a:ea typeface="Calibri" pitchFamily="34" charset="-122"/>
                <a:cs typeface="Calibri" pitchFamily="34" charset="-120"/>
              </a:rPr>
              <a:t>Client briefing report</a:t>
            </a:r>
            <a:endParaRPr lang="en-US" sz="1050" dirty="0"/>
          </a:p>
        </p:txBody>
      </p:sp>
      <p:pic>
        <p:nvPicPr>
          <p:cNvPr id="16" name="Image 6" descr="preencoded.png"/>
          <p:cNvPicPr>
            <a:picLocks noChangeAspect="1"/>
          </p:cNvPicPr>
          <p:nvPr/>
        </p:nvPicPr>
        <p:blipFill>
          <a:blip r:embed="rId4"/>
          <a:stretch>
            <a:fillRect/>
          </a:stretch>
        </p:blipFill>
        <p:spPr>
          <a:xfrm>
            <a:off x="548640" y="3703320"/>
            <a:ext cx="182880" cy="182880"/>
          </a:xfrm>
          <a:prstGeom prst="rect">
            <a:avLst/>
          </a:prstGeom>
        </p:spPr>
      </p:pic>
      <p:sp>
        <p:nvSpPr>
          <p:cNvPr id="17" name="Text 8"/>
          <p:cNvSpPr/>
          <p:nvPr/>
        </p:nvSpPr>
        <p:spPr>
          <a:xfrm>
            <a:off x="868680" y="3657600"/>
            <a:ext cx="4114800" cy="457200"/>
          </a:xfrm>
          <a:prstGeom prst="rect">
            <a:avLst/>
          </a:prstGeom>
          <a:noFill/>
          <a:ln/>
        </p:spPr>
        <p:txBody>
          <a:bodyPr wrap="square" lIns="0" tIns="0" rIns="0" bIns="0" rtlCol="0" anchor="ctr"/>
          <a:lstStyle/>
          <a:p>
            <a:pPr marL="0" indent="0">
              <a:buNone/>
            </a:pPr>
            <a:r>
              <a:rPr lang="en-US" sz="1050" dirty="0">
                <a:solidFill>
                  <a:srgbClr val="374151"/>
                </a:solidFill>
                <a:latin typeface="Calibri" pitchFamily="34" charset="0"/>
                <a:ea typeface="Calibri" pitchFamily="34" charset="-122"/>
                <a:cs typeface="Calibri" pitchFamily="34" charset="-120"/>
              </a:rPr>
              <a:t>Bid/no-bid recommendation with rationale</a:t>
            </a:r>
            <a:endParaRPr lang="en-US" sz="1050" dirty="0"/>
          </a:p>
        </p:txBody>
      </p:sp>
      <p:sp>
        <p:nvSpPr>
          <p:cNvPr id="18" name="Shape 9"/>
          <p:cNvSpPr/>
          <p:nvPr/>
        </p:nvSpPr>
        <p:spPr>
          <a:xfrm>
            <a:off x="0" y="4800600"/>
            <a:ext cx="9144000" cy="342900"/>
          </a:xfrm>
          <a:prstGeom prst="rect">
            <a:avLst/>
          </a:prstGeom>
          <a:solidFill>
            <a:srgbClr val="F3F4F6"/>
          </a:solidFill>
          <a:ln/>
        </p:spPr>
        <p:txBody>
          <a:bodyPr/>
          <a:lstStyle/>
          <a:p>
            <a:endParaRPr lang="en-GB"/>
          </a:p>
        </p:txBody>
      </p:sp>
      <p:sp>
        <p:nvSpPr>
          <p:cNvPr id="19" name="Text 10"/>
          <p:cNvSpPr/>
          <p:nvPr/>
        </p:nvSpPr>
        <p:spPr>
          <a:xfrm>
            <a:off x="457200" y="4828032"/>
            <a:ext cx="2743200" cy="274320"/>
          </a:xfrm>
          <a:prstGeom prst="rect">
            <a:avLst/>
          </a:prstGeom>
          <a:noFill/>
          <a:ln/>
        </p:spPr>
        <p:txBody>
          <a:bodyPr wrap="square" lIns="0" tIns="0" rIns="0" bIns="0" rtlCol="0" anchor="ctr"/>
          <a:lstStyle/>
          <a:p>
            <a:pPr marL="0" indent="0">
              <a:buNone/>
            </a:pPr>
            <a:r>
              <a:rPr lang="en-US" sz="800" dirty="0">
                <a:solidFill>
                  <a:srgbClr val="6B7280"/>
                </a:solidFill>
                <a:latin typeface="Calibri Light" pitchFamily="34" charset="0"/>
                <a:ea typeface="Calibri Light" pitchFamily="34" charset="-122"/>
                <a:cs typeface="Calibri Light" pitchFamily="34" charset="-120"/>
              </a:rPr>
              <a:t>tenderlab.co.uk</a:t>
            </a:r>
            <a:endParaRPr lang="en-US" sz="800" dirty="0"/>
          </a:p>
        </p:txBody>
      </p:sp>
      <p:pic>
        <p:nvPicPr>
          <p:cNvPr id="20" name="Image 7" descr="preencoded.png"/>
          <p:cNvPicPr>
            <a:picLocks noChangeAspect="1"/>
          </p:cNvPicPr>
          <p:nvPr/>
        </p:nvPicPr>
        <p:blipFill>
          <a:blip r:embed="rId5"/>
          <a:stretch>
            <a:fillRect/>
          </a:stretch>
        </p:blipFill>
        <p:spPr>
          <a:xfrm>
            <a:off x="8229600" y="4709160"/>
            <a:ext cx="502920" cy="50292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32004"/>
          </a:xfrm>
          <a:prstGeom prst="rect">
            <a:avLst/>
          </a:prstGeom>
          <a:solidFill>
            <a:srgbClr val="D4382C"/>
          </a:solidFill>
          <a:ln/>
        </p:spPr>
        <p:txBody>
          <a:bodyPr/>
          <a:lstStyle/>
          <a:p>
            <a:endParaRPr lang="en-GB"/>
          </a:p>
        </p:txBody>
      </p:sp>
      <p:sp>
        <p:nvSpPr>
          <p:cNvPr id="3" name="Text 1"/>
          <p:cNvSpPr/>
          <p:nvPr/>
        </p:nvSpPr>
        <p:spPr>
          <a:xfrm>
            <a:off x="548640" y="274320"/>
            <a:ext cx="5029200" cy="457200"/>
          </a:xfrm>
          <a:prstGeom prst="rect">
            <a:avLst/>
          </a:prstGeom>
          <a:noFill/>
          <a:ln/>
        </p:spPr>
        <p:txBody>
          <a:bodyPr wrap="square" lIns="0" tIns="0" rIns="0" bIns="0" rtlCol="0" anchor="ctr"/>
          <a:lstStyle/>
          <a:p>
            <a:pPr marL="0" indent="0">
              <a:buNone/>
            </a:pPr>
            <a:r>
              <a:rPr lang="en-US" sz="2200" dirty="0">
                <a:solidFill>
                  <a:srgbClr val="192231"/>
                </a:solidFill>
                <a:latin typeface="Arial Black" pitchFamily="34" charset="0"/>
                <a:ea typeface="Arial Black" pitchFamily="34" charset="-122"/>
                <a:cs typeface="Arial Black" pitchFamily="34" charset="-120"/>
              </a:rPr>
              <a:t>Tender Response Writing</a:t>
            </a:r>
            <a:endParaRPr lang="en-US" sz="2200" dirty="0"/>
          </a:p>
        </p:txBody>
      </p:sp>
      <p:sp>
        <p:nvSpPr>
          <p:cNvPr id="4" name="Text 2"/>
          <p:cNvSpPr/>
          <p:nvPr/>
        </p:nvSpPr>
        <p:spPr>
          <a:xfrm>
            <a:off x="548640" y="731520"/>
            <a:ext cx="4572000" cy="274320"/>
          </a:xfrm>
          <a:prstGeom prst="rect">
            <a:avLst/>
          </a:prstGeom>
          <a:noFill/>
          <a:ln/>
        </p:spPr>
        <p:txBody>
          <a:bodyPr wrap="square" lIns="0" tIns="0" rIns="0" bIns="0" rtlCol="0" anchor="ctr"/>
          <a:lstStyle/>
          <a:p>
            <a:pPr marL="0" indent="0">
              <a:buNone/>
            </a:pPr>
            <a:r>
              <a:rPr lang="en-US" sz="1100" i="1" dirty="0">
                <a:solidFill>
                  <a:srgbClr val="D4382C"/>
                </a:solidFill>
                <a:latin typeface="Calibri" pitchFamily="34" charset="0"/>
                <a:ea typeface="Calibri" pitchFamily="34" charset="-122"/>
                <a:cs typeface="Calibri" pitchFamily="34" charset="-120"/>
              </a:rPr>
              <a:t>The core of what we do</a:t>
            </a:r>
            <a:endParaRPr lang="en-US" sz="1100" dirty="0"/>
          </a:p>
        </p:txBody>
      </p:sp>
      <p:pic>
        <p:nvPicPr>
          <p:cNvPr id="5" name="Image 0" descr="preencoded.png"/>
          <p:cNvPicPr>
            <a:picLocks noChangeAspect="1"/>
          </p:cNvPicPr>
          <p:nvPr/>
        </p:nvPicPr>
        <p:blipFill>
          <a:blip r:embed="rId3"/>
          <a:stretch>
            <a:fillRect/>
          </a:stretch>
        </p:blipFill>
        <p:spPr>
          <a:xfrm>
            <a:off x="5120640" y="1334589"/>
            <a:ext cx="3474720" cy="2286000"/>
          </a:xfrm>
          <a:prstGeom prst="rect">
            <a:avLst/>
          </a:prstGeom>
        </p:spPr>
      </p:pic>
      <p:pic>
        <p:nvPicPr>
          <p:cNvPr id="6" name="Image 1" descr="preencoded.png"/>
          <p:cNvPicPr>
            <a:picLocks noChangeAspect="1"/>
          </p:cNvPicPr>
          <p:nvPr/>
        </p:nvPicPr>
        <p:blipFill>
          <a:blip r:embed="rId4"/>
          <a:stretch>
            <a:fillRect/>
          </a:stretch>
        </p:blipFill>
        <p:spPr>
          <a:xfrm>
            <a:off x="548640" y="1188720"/>
            <a:ext cx="182880" cy="182880"/>
          </a:xfrm>
          <a:prstGeom prst="rect">
            <a:avLst/>
          </a:prstGeom>
        </p:spPr>
      </p:pic>
      <p:sp>
        <p:nvSpPr>
          <p:cNvPr id="7" name="Text 3"/>
          <p:cNvSpPr/>
          <p:nvPr/>
        </p:nvSpPr>
        <p:spPr>
          <a:xfrm>
            <a:off x="868680" y="1143000"/>
            <a:ext cx="4114800" cy="457200"/>
          </a:xfrm>
          <a:prstGeom prst="rect">
            <a:avLst/>
          </a:prstGeom>
          <a:noFill/>
          <a:ln/>
        </p:spPr>
        <p:txBody>
          <a:bodyPr wrap="square" lIns="0" tIns="0" rIns="0" bIns="0" rtlCol="0" anchor="ctr"/>
          <a:lstStyle/>
          <a:p>
            <a:pPr marL="0" indent="0">
              <a:buNone/>
            </a:pPr>
            <a:r>
              <a:rPr lang="en-US" sz="1050" dirty="0">
                <a:solidFill>
                  <a:srgbClr val="374151"/>
                </a:solidFill>
                <a:latin typeface="Calibri" pitchFamily="34" charset="0"/>
                <a:ea typeface="Calibri" pitchFamily="34" charset="-122"/>
                <a:cs typeface="Calibri" pitchFamily="34" charset="-120"/>
              </a:rPr>
              <a:t>Responses written against criterion evaluation framework</a:t>
            </a:r>
            <a:endParaRPr lang="en-US" sz="1050" dirty="0"/>
          </a:p>
        </p:txBody>
      </p:sp>
      <p:pic>
        <p:nvPicPr>
          <p:cNvPr id="8" name="Image 2" descr="preencoded.png"/>
          <p:cNvPicPr>
            <a:picLocks noChangeAspect="1"/>
          </p:cNvPicPr>
          <p:nvPr/>
        </p:nvPicPr>
        <p:blipFill>
          <a:blip r:embed="rId4"/>
          <a:stretch>
            <a:fillRect/>
          </a:stretch>
        </p:blipFill>
        <p:spPr>
          <a:xfrm>
            <a:off x="548640" y="1691640"/>
            <a:ext cx="182880" cy="182880"/>
          </a:xfrm>
          <a:prstGeom prst="rect">
            <a:avLst/>
          </a:prstGeom>
        </p:spPr>
      </p:pic>
      <p:sp>
        <p:nvSpPr>
          <p:cNvPr id="9" name="Text 4"/>
          <p:cNvSpPr/>
          <p:nvPr/>
        </p:nvSpPr>
        <p:spPr>
          <a:xfrm>
            <a:off x="868680" y="1645920"/>
            <a:ext cx="4114800" cy="457200"/>
          </a:xfrm>
          <a:prstGeom prst="rect">
            <a:avLst/>
          </a:prstGeom>
          <a:noFill/>
          <a:ln/>
        </p:spPr>
        <p:txBody>
          <a:bodyPr wrap="square" lIns="0" tIns="0" rIns="0" bIns="0" rtlCol="0" anchor="ctr"/>
          <a:lstStyle/>
          <a:p>
            <a:pPr marL="0" indent="0">
              <a:buNone/>
            </a:pPr>
            <a:r>
              <a:rPr lang="en-US" sz="1050" dirty="0">
                <a:solidFill>
                  <a:srgbClr val="374151"/>
                </a:solidFill>
                <a:latin typeface="Calibri" pitchFamily="34" charset="0"/>
                <a:ea typeface="Calibri" pitchFamily="34" charset="-122"/>
                <a:cs typeface="Calibri" pitchFamily="34" charset="-120"/>
              </a:rPr>
              <a:t>Specification language embedded directly into provider approaches</a:t>
            </a:r>
            <a:endParaRPr lang="en-US" sz="1050" dirty="0"/>
          </a:p>
        </p:txBody>
      </p:sp>
      <p:pic>
        <p:nvPicPr>
          <p:cNvPr id="10" name="Image 3" descr="preencoded.png"/>
          <p:cNvPicPr>
            <a:picLocks noChangeAspect="1"/>
          </p:cNvPicPr>
          <p:nvPr/>
        </p:nvPicPr>
        <p:blipFill>
          <a:blip r:embed="rId4"/>
          <a:stretch>
            <a:fillRect/>
          </a:stretch>
        </p:blipFill>
        <p:spPr>
          <a:xfrm>
            <a:off x="548640" y="2194560"/>
            <a:ext cx="182880" cy="182880"/>
          </a:xfrm>
          <a:prstGeom prst="rect">
            <a:avLst/>
          </a:prstGeom>
        </p:spPr>
      </p:pic>
      <p:sp>
        <p:nvSpPr>
          <p:cNvPr id="11" name="Text 5"/>
          <p:cNvSpPr/>
          <p:nvPr/>
        </p:nvSpPr>
        <p:spPr>
          <a:xfrm>
            <a:off x="868680" y="2148840"/>
            <a:ext cx="4114800" cy="457200"/>
          </a:xfrm>
          <a:prstGeom prst="rect">
            <a:avLst/>
          </a:prstGeom>
          <a:noFill/>
          <a:ln/>
        </p:spPr>
        <p:txBody>
          <a:bodyPr wrap="square" lIns="0" tIns="0" rIns="0" bIns="0" rtlCol="0" anchor="ctr"/>
          <a:lstStyle/>
          <a:p>
            <a:pPr marL="0" indent="0">
              <a:buNone/>
            </a:pPr>
            <a:r>
              <a:rPr lang="en-US" sz="1050" dirty="0">
                <a:solidFill>
                  <a:srgbClr val="374151"/>
                </a:solidFill>
                <a:latin typeface="Calibri" pitchFamily="34" charset="0"/>
                <a:ea typeface="Calibri" pitchFamily="34" charset="-122"/>
                <a:cs typeface="Calibri" pitchFamily="34" charset="-120"/>
              </a:rPr>
              <a:t>Named staff, real systems, quantified outcomes throughout</a:t>
            </a:r>
            <a:endParaRPr lang="en-US" sz="1050" dirty="0"/>
          </a:p>
        </p:txBody>
      </p:sp>
      <p:pic>
        <p:nvPicPr>
          <p:cNvPr id="12" name="Image 4" descr="preencoded.png"/>
          <p:cNvPicPr>
            <a:picLocks noChangeAspect="1"/>
          </p:cNvPicPr>
          <p:nvPr/>
        </p:nvPicPr>
        <p:blipFill>
          <a:blip r:embed="rId4"/>
          <a:stretch>
            <a:fillRect/>
          </a:stretch>
        </p:blipFill>
        <p:spPr>
          <a:xfrm>
            <a:off x="548640" y="2697480"/>
            <a:ext cx="182880" cy="182880"/>
          </a:xfrm>
          <a:prstGeom prst="rect">
            <a:avLst/>
          </a:prstGeom>
        </p:spPr>
      </p:pic>
      <p:sp>
        <p:nvSpPr>
          <p:cNvPr id="13" name="Text 6"/>
          <p:cNvSpPr/>
          <p:nvPr/>
        </p:nvSpPr>
        <p:spPr>
          <a:xfrm>
            <a:off x="868680" y="2651760"/>
            <a:ext cx="4114800" cy="457200"/>
          </a:xfrm>
          <a:prstGeom prst="rect">
            <a:avLst/>
          </a:prstGeom>
          <a:noFill/>
          <a:ln/>
        </p:spPr>
        <p:txBody>
          <a:bodyPr wrap="square" lIns="0" tIns="0" rIns="0" bIns="0" rtlCol="0" anchor="ctr"/>
          <a:lstStyle/>
          <a:p>
            <a:pPr marL="0" indent="0">
              <a:buNone/>
            </a:pPr>
            <a:r>
              <a:rPr lang="en-US" sz="1050" dirty="0">
                <a:solidFill>
                  <a:srgbClr val="374151"/>
                </a:solidFill>
                <a:latin typeface="Calibri" pitchFamily="34" charset="0"/>
                <a:ea typeface="Calibri" pitchFamily="34" charset="-122"/>
                <a:cs typeface="Calibri" pitchFamily="34" charset="-120"/>
              </a:rPr>
              <a:t>Internal scoring across five weighted domains before delivery</a:t>
            </a:r>
            <a:endParaRPr lang="en-US" sz="1050" dirty="0"/>
          </a:p>
        </p:txBody>
      </p:sp>
      <p:pic>
        <p:nvPicPr>
          <p:cNvPr id="14" name="Image 5" descr="preencoded.png"/>
          <p:cNvPicPr>
            <a:picLocks noChangeAspect="1"/>
          </p:cNvPicPr>
          <p:nvPr/>
        </p:nvPicPr>
        <p:blipFill>
          <a:blip r:embed="rId4"/>
          <a:stretch>
            <a:fillRect/>
          </a:stretch>
        </p:blipFill>
        <p:spPr>
          <a:xfrm>
            <a:off x="548640" y="3200400"/>
            <a:ext cx="182880" cy="182880"/>
          </a:xfrm>
          <a:prstGeom prst="rect">
            <a:avLst/>
          </a:prstGeom>
        </p:spPr>
      </p:pic>
      <p:sp>
        <p:nvSpPr>
          <p:cNvPr id="15" name="Text 7"/>
          <p:cNvSpPr/>
          <p:nvPr/>
        </p:nvSpPr>
        <p:spPr>
          <a:xfrm>
            <a:off x="868680" y="3154680"/>
            <a:ext cx="4114800" cy="457200"/>
          </a:xfrm>
          <a:prstGeom prst="rect">
            <a:avLst/>
          </a:prstGeom>
          <a:noFill/>
          <a:ln/>
        </p:spPr>
        <p:txBody>
          <a:bodyPr wrap="square" lIns="0" tIns="0" rIns="0" bIns="0" rtlCol="0" anchor="ctr"/>
          <a:lstStyle/>
          <a:p>
            <a:pPr marL="0" indent="0">
              <a:buNone/>
            </a:pPr>
            <a:r>
              <a:rPr lang="en-US" sz="1050" dirty="0">
                <a:solidFill>
                  <a:srgbClr val="374151"/>
                </a:solidFill>
                <a:latin typeface="Calibri" pitchFamily="34" charset="0"/>
                <a:ea typeface="Calibri" pitchFamily="34" charset="-122"/>
                <a:cs typeface="Calibri" pitchFamily="34" charset="-120"/>
              </a:rPr>
              <a:t>Iterative rewriting until all criteria meet 4/5 threshold</a:t>
            </a:r>
            <a:endParaRPr lang="en-US" sz="1050" dirty="0"/>
          </a:p>
        </p:txBody>
      </p:sp>
      <p:pic>
        <p:nvPicPr>
          <p:cNvPr id="16" name="Image 6" descr="preencoded.png"/>
          <p:cNvPicPr>
            <a:picLocks noChangeAspect="1"/>
          </p:cNvPicPr>
          <p:nvPr/>
        </p:nvPicPr>
        <p:blipFill>
          <a:blip r:embed="rId4"/>
          <a:stretch>
            <a:fillRect/>
          </a:stretch>
        </p:blipFill>
        <p:spPr>
          <a:xfrm>
            <a:off x="548640" y="3703320"/>
            <a:ext cx="182880" cy="182880"/>
          </a:xfrm>
          <a:prstGeom prst="rect">
            <a:avLst/>
          </a:prstGeom>
        </p:spPr>
      </p:pic>
      <p:sp>
        <p:nvSpPr>
          <p:cNvPr id="17" name="Text 8"/>
          <p:cNvSpPr/>
          <p:nvPr/>
        </p:nvSpPr>
        <p:spPr>
          <a:xfrm>
            <a:off x="868680" y="3657600"/>
            <a:ext cx="4114800" cy="457200"/>
          </a:xfrm>
          <a:prstGeom prst="rect">
            <a:avLst/>
          </a:prstGeom>
          <a:noFill/>
          <a:ln/>
        </p:spPr>
        <p:txBody>
          <a:bodyPr wrap="square" lIns="0" tIns="0" rIns="0" bIns="0" rtlCol="0" anchor="ctr"/>
          <a:lstStyle/>
          <a:p>
            <a:pPr marL="0" indent="0">
              <a:buNone/>
            </a:pPr>
            <a:r>
              <a:rPr lang="en-US" sz="1050" dirty="0">
                <a:solidFill>
                  <a:srgbClr val="374151"/>
                </a:solidFill>
                <a:latin typeface="Calibri" pitchFamily="34" charset="0"/>
                <a:ea typeface="Calibri" pitchFamily="34" charset="-122"/>
                <a:cs typeface="Calibri" pitchFamily="34" charset="-120"/>
              </a:rPr>
              <a:t>Cross-referenced against commissioning body's published criteria</a:t>
            </a:r>
            <a:endParaRPr lang="en-US" sz="1050" dirty="0"/>
          </a:p>
        </p:txBody>
      </p:sp>
      <p:sp>
        <p:nvSpPr>
          <p:cNvPr id="18" name="Shape 9"/>
          <p:cNvSpPr/>
          <p:nvPr/>
        </p:nvSpPr>
        <p:spPr>
          <a:xfrm>
            <a:off x="0" y="4800600"/>
            <a:ext cx="9144000" cy="342900"/>
          </a:xfrm>
          <a:prstGeom prst="rect">
            <a:avLst/>
          </a:prstGeom>
          <a:solidFill>
            <a:srgbClr val="F3F4F6"/>
          </a:solidFill>
          <a:ln/>
        </p:spPr>
        <p:txBody>
          <a:bodyPr/>
          <a:lstStyle/>
          <a:p>
            <a:endParaRPr lang="en-GB"/>
          </a:p>
        </p:txBody>
      </p:sp>
      <p:sp>
        <p:nvSpPr>
          <p:cNvPr id="19" name="Text 10"/>
          <p:cNvSpPr/>
          <p:nvPr/>
        </p:nvSpPr>
        <p:spPr>
          <a:xfrm>
            <a:off x="457200" y="4828032"/>
            <a:ext cx="2743200" cy="274320"/>
          </a:xfrm>
          <a:prstGeom prst="rect">
            <a:avLst/>
          </a:prstGeom>
          <a:noFill/>
          <a:ln/>
        </p:spPr>
        <p:txBody>
          <a:bodyPr wrap="square" lIns="0" tIns="0" rIns="0" bIns="0" rtlCol="0" anchor="ctr"/>
          <a:lstStyle/>
          <a:p>
            <a:pPr marL="0" indent="0">
              <a:buNone/>
            </a:pPr>
            <a:r>
              <a:rPr lang="en-US" sz="800" dirty="0">
                <a:solidFill>
                  <a:srgbClr val="6B7280"/>
                </a:solidFill>
                <a:latin typeface="Calibri Light" pitchFamily="34" charset="0"/>
                <a:ea typeface="Calibri Light" pitchFamily="34" charset="-122"/>
                <a:cs typeface="Calibri Light" pitchFamily="34" charset="-120"/>
              </a:rPr>
              <a:t>tenderlab.co.uk</a:t>
            </a:r>
            <a:endParaRPr lang="en-US" sz="800" dirty="0"/>
          </a:p>
        </p:txBody>
      </p:sp>
      <p:pic>
        <p:nvPicPr>
          <p:cNvPr id="20" name="Image 7" descr="preencoded.png"/>
          <p:cNvPicPr>
            <a:picLocks noChangeAspect="1"/>
          </p:cNvPicPr>
          <p:nvPr/>
        </p:nvPicPr>
        <p:blipFill>
          <a:blip r:embed="rId5"/>
          <a:stretch>
            <a:fillRect/>
          </a:stretch>
        </p:blipFill>
        <p:spPr>
          <a:xfrm>
            <a:off x="8229600" y="4709160"/>
            <a:ext cx="502920" cy="50292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32004"/>
          </a:xfrm>
          <a:prstGeom prst="rect">
            <a:avLst/>
          </a:prstGeom>
          <a:solidFill>
            <a:srgbClr val="D4382C"/>
          </a:solidFill>
          <a:ln/>
        </p:spPr>
        <p:txBody>
          <a:bodyPr/>
          <a:lstStyle/>
          <a:p>
            <a:endParaRPr lang="en-GB"/>
          </a:p>
        </p:txBody>
      </p:sp>
      <p:sp>
        <p:nvSpPr>
          <p:cNvPr id="3" name="Text 1"/>
          <p:cNvSpPr/>
          <p:nvPr/>
        </p:nvSpPr>
        <p:spPr>
          <a:xfrm>
            <a:off x="548640" y="274320"/>
            <a:ext cx="5029200" cy="457200"/>
          </a:xfrm>
          <a:prstGeom prst="rect">
            <a:avLst/>
          </a:prstGeom>
          <a:noFill/>
          <a:ln/>
        </p:spPr>
        <p:txBody>
          <a:bodyPr wrap="square" lIns="0" tIns="0" rIns="0" bIns="0" rtlCol="0" anchor="ctr"/>
          <a:lstStyle/>
          <a:p>
            <a:pPr marL="0" indent="0">
              <a:buNone/>
            </a:pPr>
            <a:r>
              <a:rPr lang="en-US" sz="2200" dirty="0">
                <a:solidFill>
                  <a:srgbClr val="192231"/>
                </a:solidFill>
                <a:latin typeface="Arial Black" pitchFamily="34" charset="0"/>
                <a:ea typeface="Arial Black" pitchFamily="34" charset="-122"/>
                <a:cs typeface="Arial Black" pitchFamily="34" charset="-120"/>
              </a:rPr>
              <a:t>Quality Evaluation &amp; Assurance</a:t>
            </a:r>
            <a:endParaRPr lang="en-US" sz="2200" dirty="0"/>
          </a:p>
        </p:txBody>
      </p:sp>
      <p:sp>
        <p:nvSpPr>
          <p:cNvPr id="4" name="Text 2"/>
          <p:cNvSpPr/>
          <p:nvPr/>
        </p:nvSpPr>
        <p:spPr>
          <a:xfrm>
            <a:off x="548640" y="731520"/>
            <a:ext cx="4572000" cy="274320"/>
          </a:xfrm>
          <a:prstGeom prst="rect">
            <a:avLst/>
          </a:prstGeom>
          <a:noFill/>
          <a:ln/>
        </p:spPr>
        <p:txBody>
          <a:bodyPr wrap="square" lIns="0" tIns="0" rIns="0" bIns="0" rtlCol="0" anchor="ctr"/>
          <a:lstStyle/>
          <a:p>
            <a:pPr marL="0" indent="0">
              <a:buNone/>
            </a:pPr>
            <a:r>
              <a:rPr lang="en-US" sz="1100" i="1" dirty="0">
                <a:solidFill>
                  <a:srgbClr val="D4382C"/>
                </a:solidFill>
                <a:latin typeface="Calibri" pitchFamily="34" charset="0"/>
                <a:ea typeface="Calibri" pitchFamily="34" charset="-122"/>
                <a:cs typeface="Calibri" pitchFamily="34" charset="-120"/>
              </a:rPr>
              <a:t>Independent assessment of existing submissions</a:t>
            </a:r>
            <a:endParaRPr lang="en-US" sz="1100" dirty="0"/>
          </a:p>
        </p:txBody>
      </p:sp>
      <p:pic>
        <p:nvPicPr>
          <p:cNvPr id="5" name="Image 0" descr="preencoded.png"/>
          <p:cNvPicPr>
            <a:picLocks noChangeAspect="1"/>
          </p:cNvPicPr>
          <p:nvPr/>
        </p:nvPicPr>
        <p:blipFill>
          <a:blip r:embed="rId3"/>
          <a:stretch>
            <a:fillRect/>
          </a:stretch>
        </p:blipFill>
        <p:spPr>
          <a:xfrm>
            <a:off x="5120640" y="1310640"/>
            <a:ext cx="3474720" cy="2286000"/>
          </a:xfrm>
          <a:prstGeom prst="rect">
            <a:avLst/>
          </a:prstGeom>
        </p:spPr>
      </p:pic>
      <p:pic>
        <p:nvPicPr>
          <p:cNvPr id="6" name="Image 1" descr="preencoded.png"/>
          <p:cNvPicPr>
            <a:picLocks noChangeAspect="1"/>
          </p:cNvPicPr>
          <p:nvPr/>
        </p:nvPicPr>
        <p:blipFill>
          <a:blip r:embed="rId4"/>
          <a:stretch>
            <a:fillRect/>
          </a:stretch>
        </p:blipFill>
        <p:spPr>
          <a:xfrm>
            <a:off x="548640" y="1188720"/>
            <a:ext cx="182880" cy="182880"/>
          </a:xfrm>
          <a:prstGeom prst="rect">
            <a:avLst/>
          </a:prstGeom>
        </p:spPr>
      </p:pic>
      <p:sp>
        <p:nvSpPr>
          <p:cNvPr id="7" name="Text 3"/>
          <p:cNvSpPr/>
          <p:nvPr/>
        </p:nvSpPr>
        <p:spPr>
          <a:xfrm>
            <a:off x="868680" y="1143000"/>
            <a:ext cx="4114800" cy="457200"/>
          </a:xfrm>
          <a:prstGeom prst="rect">
            <a:avLst/>
          </a:prstGeom>
          <a:noFill/>
          <a:ln/>
        </p:spPr>
        <p:txBody>
          <a:bodyPr wrap="square" lIns="0" tIns="0" rIns="0" bIns="0" rtlCol="0" anchor="ctr"/>
          <a:lstStyle/>
          <a:p>
            <a:pPr marL="0" indent="0">
              <a:buNone/>
            </a:pPr>
            <a:r>
              <a:rPr lang="en-US" sz="1050" dirty="0">
                <a:solidFill>
                  <a:srgbClr val="374151"/>
                </a:solidFill>
                <a:latin typeface="Calibri" pitchFamily="34" charset="0"/>
                <a:ea typeface="Calibri" pitchFamily="34" charset="-122"/>
                <a:cs typeface="Calibri" pitchFamily="34" charset="-120"/>
              </a:rPr>
              <a:t>Scoring against five weighted domains with written commentary</a:t>
            </a:r>
            <a:endParaRPr lang="en-US" sz="1050" dirty="0"/>
          </a:p>
        </p:txBody>
      </p:sp>
      <p:pic>
        <p:nvPicPr>
          <p:cNvPr id="8" name="Image 2" descr="preencoded.png"/>
          <p:cNvPicPr>
            <a:picLocks noChangeAspect="1"/>
          </p:cNvPicPr>
          <p:nvPr/>
        </p:nvPicPr>
        <p:blipFill>
          <a:blip r:embed="rId4"/>
          <a:stretch>
            <a:fillRect/>
          </a:stretch>
        </p:blipFill>
        <p:spPr>
          <a:xfrm>
            <a:off x="548640" y="1691640"/>
            <a:ext cx="182880" cy="182880"/>
          </a:xfrm>
          <a:prstGeom prst="rect">
            <a:avLst/>
          </a:prstGeom>
        </p:spPr>
      </p:pic>
      <p:sp>
        <p:nvSpPr>
          <p:cNvPr id="9" name="Text 4"/>
          <p:cNvSpPr/>
          <p:nvPr/>
        </p:nvSpPr>
        <p:spPr>
          <a:xfrm>
            <a:off x="868680" y="1645920"/>
            <a:ext cx="4114800" cy="457200"/>
          </a:xfrm>
          <a:prstGeom prst="rect">
            <a:avLst/>
          </a:prstGeom>
          <a:noFill/>
          <a:ln/>
        </p:spPr>
        <p:txBody>
          <a:bodyPr wrap="square" lIns="0" tIns="0" rIns="0" bIns="0" rtlCol="0" anchor="ctr"/>
          <a:lstStyle/>
          <a:p>
            <a:pPr marL="0" indent="0">
              <a:buNone/>
            </a:pPr>
            <a:r>
              <a:rPr lang="en-US" sz="1050" dirty="0">
                <a:solidFill>
                  <a:srgbClr val="374151"/>
                </a:solidFill>
                <a:latin typeface="Calibri" pitchFamily="34" charset="0"/>
                <a:ea typeface="Calibri" pitchFamily="34" charset="-122"/>
                <a:cs typeface="Calibri" pitchFamily="34" charset="-120"/>
              </a:rPr>
              <a:t>Gap analysis identifying missing specification requirements</a:t>
            </a:r>
            <a:endParaRPr lang="en-US" sz="1050" dirty="0"/>
          </a:p>
        </p:txBody>
      </p:sp>
      <p:pic>
        <p:nvPicPr>
          <p:cNvPr id="10" name="Image 3" descr="preencoded.png"/>
          <p:cNvPicPr>
            <a:picLocks noChangeAspect="1"/>
          </p:cNvPicPr>
          <p:nvPr/>
        </p:nvPicPr>
        <p:blipFill>
          <a:blip r:embed="rId4"/>
          <a:stretch>
            <a:fillRect/>
          </a:stretch>
        </p:blipFill>
        <p:spPr>
          <a:xfrm>
            <a:off x="548640" y="2194560"/>
            <a:ext cx="182880" cy="182880"/>
          </a:xfrm>
          <a:prstGeom prst="rect">
            <a:avLst/>
          </a:prstGeom>
        </p:spPr>
      </p:pic>
      <p:sp>
        <p:nvSpPr>
          <p:cNvPr id="11" name="Text 5"/>
          <p:cNvSpPr/>
          <p:nvPr/>
        </p:nvSpPr>
        <p:spPr>
          <a:xfrm>
            <a:off x="868680" y="2148840"/>
            <a:ext cx="4114800" cy="457200"/>
          </a:xfrm>
          <a:prstGeom prst="rect">
            <a:avLst/>
          </a:prstGeom>
          <a:noFill/>
          <a:ln/>
        </p:spPr>
        <p:txBody>
          <a:bodyPr wrap="square" lIns="0" tIns="0" rIns="0" bIns="0" rtlCol="0" anchor="ctr"/>
          <a:lstStyle/>
          <a:p>
            <a:pPr marL="0" indent="0">
              <a:buNone/>
            </a:pPr>
            <a:r>
              <a:rPr lang="en-US" sz="1050" dirty="0">
                <a:solidFill>
                  <a:srgbClr val="374151"/>
                </a:solidFill>
                <a:latin typeface="Calibri" pitchFamily="34" charset="0"/>
                <a:ea typeface="Calibri" pitchFamily="34" charset="-122"/>
                <a:cs typeface="Calibri" pitchFamily="34" charset="-120"/>
              </a:rPr>
              <a:t>Tracked-change rewrite recommendations with improvement rationale</a:t>
            </a:r>
            <a:endParaRPr lang="en-US" sz="1050" dirty="0"/>
          </a:p>
        </p:txBody>
      </p:sp>
      <p:pic>
        <p:nvPicPr>
          <p:cNvPr id="12" name="Image 4" descr="preencoded.png"/>
          <p:cNvPicPr>
            <a:picLocks noChangeAspect="1"/>
          </p:cNvPicPr>
          <p:nvPr/>
        </p:nvPicPr>
        <p:blipFill>
          <a:blip r:embed="rId4"/>
          <a:stretch>
            <a:fillRect/>
          </a:stretch>
        </p:blipFill>
        <p:spPr>
          <a:xfrm>
            <a:off x="548640" y="2697480"/>
            <a:ext cx="182880" cy="182880"/>
          </a:xfrm>
          <a:prstGeom prst="rect">
            <a:avLst/>
          </a:prstGeom>
        </p:spPr>
      </p:pic>
      <p:sp>
        <p:nvSpPr>
          <p:cNvPr id="13" name="Text 6"/>
          <p:cNvSpPr/>
          <p:nvPr/>
        </p:nvSpPr>
        <p:spPr>
          <a:xfrm>
            <a:off x="868680" y="2651760"/>
            <a:ext cx="4114800" cy="457200"/>
          </a:xfrm>
          <a:prstGeom prst="rect">
            <a:avLst/>
          </a:prstGeom>
          <a:noFill/>
          <a:ln/>
        </p:spPr>
        <p:txBody>
          <a:bodyPr wrap="square" lIns="0" tIns="0" rIns="0" bIns="0" rtlCol="0" anchor="ctr"/>
          <a:lstStyle/>
          <a:p>
            <a:pPr marL="0" indent="0">
              <a:buNone/>
            </a:pPr>
            <a:r>
              <a:rPr lang="en-US" sz="1050" dirty="0">
                <a:solidFill>
                  <a:srgbClr val="374151"/>
                </a:solidFill>
                <a:latin typeface="Calibri" pitchFamily="34" charset="0"/>
                <a:ea typeface="Calibri" pitchFamily="34" charset="-122"/>
                <a:cs typeface="Calibri" pitchFamily="34" charset="-120"/>
              </a:rPr>
              <a:t>Before-and-after score comparison across all criteria</a:t>
            </a:r>
            <a:endParaRPr lang="en-US" sz="1050" dirty="0"/>
          </a:p>
        </p:txBody>
      </p:sp>
      <p:pic>
        <p:nvPicPr>
          <p:cNvPr id="14" name="Image 5" descr="preencoded.png"/>
          <p:cNvPicPr>
            <a:picLocks noChangeAspect="1"/>
          </p:cNvPicPr>
          <p:nvPr/>
        </p:nvPicPr>
        <p:blipFill>
          <a:blip r:embed="rId4"/>
          <a:stretch>
            <a:fillRect/>
          </a:stretch>
        </p:blipFill>
        <p:spPr>
          <a:xfrm>
            <a:off x="548640" y="3200400"/>
            <a:ext cx="182880" cy="182880"/>
          </a:xfrm>
          <a:prstGeom prst="rect">
            <a:avLst/>
          </a:prstGeom>
        </p:spPr>
      </p:pic>
      <p:sp>
        <p:nvSpPr>
          <p:cNvPr id="15" name="Text 7"/>
          <p:cNvSpPr/>
          <p:nvPr/>
        </p:nvSpPr>
        <p:spPr>
          <a:xfrm>
            <a:off x="868680" y="3154680"/>
            <a:ext cx="4114800" cy="457200"/>
          </a:xfrm>
          <a:prstGeom prst="rect">
            <a:avLst/>
          </a:prstGeom>
          <a:noFill/>
          <a:ln/>
        </p:spPr>
        <p:txBody>
          <a:bodyPr wrap="square" lIns="0" tIns="0" rIns="0" bIns="0" rtlCol="0" anchor="ctr"/>
          <a:lstStyle/>
          <a:p>
            <a:pPr marL="0" indent="0">
              <a:buNone/>
            </a:pPr>
            <a:r>
              <a:rPr lang="en-US" sz="1050" dirty="0">
                <a:solidFill>
                  <a:srgbClr val="374151"/>
                </a:solidFill>
                <a:latin typeface="Calibri" pitchFamily="34" charset="0"/>
                <a:ea typeface="Calibri" pitchFamily="34" charset="-122"/>
                <a:cs typeface="Calibri" pitchFamily="34" charset="-120"/>
              </a:rPr>
              <a:t>Specification compliance verification against original ITT</a:t>
            </a:r>
            <a:endParaRPr lang="en-US" sz="1050" dirty="0"/>
          </a:p>
        </p:txBody>
      </p:sp>
      <p:pic>
        <p:nvPicPr>
          <p:cNvPr id="16" name="Image 6" descr="preencoded.png"/>
          <p:cNvPicPr>
            <a:picLocks noChangeAspect="1"/>
          </p:cNvPicPr>
          <p:nvPr/>
        </p:nvPicPr>
        <p:blipFill>
          <a:blip r:embed="rId4"/>
          <a:stretch>
            <a:fillRect/>
          </a:stretch>
        </p:blipFill>
        <p:spPr>
          <a:xfrm>
            <a:off x="548640" y="3703320"/>
            <a:ext cx="182880" cy="182880"/>
          </a:xfrm>
          <a:prstGeom prst="rect">
            <a:avLst/>
          </a:prstGeom>
        </p:spPr>
      </p:pic>
      <p:sp>
        <p:nvSpPr>
          <p:cNvPr id="17" name="Text 8"/>
          <p:cNvSpPr/>
          <p:nvPr/>
        </p:nvSpPr>
        <p:spPr>
          <a:xfrm>
            <a:off x="868680" y="3657600"/>
            <a:ext cx="4114800" cy="457200"/>
          </a:xfrm>
          <a:prstGeom prst="rect">
            <a:avLst/>
          </a:prstGeom>
          <a:noFill/>
          <a:ln/>
        </p:spPr>
        <p:txBody>
          <a:bodyPr wrap="square" lIns="0" tIns="0" rIns="0" bIns="0" rtlCol="0" anchor="ctr"/>
          <a:lstStyle/>
          <a:p>
            <a:pPr marL="0" indent="0">
              <a:buNone/>
            </a:pPr>
            <a:r>
              <a:rPr lang="en-US" sz="1050" dirty="0">
                <a:solidFill>
                  <a:srgbClr val="374151"/>
                </a:solidFill>
                <a:latin typeface="Calibri" pitchFamily="34" charset="0"/>
                <a:ea typeface="Calibri" pitchFamily="34" charset="-122"/>
                <a:cs typeface="Calibri" pitchFamily="34" charset="-120"/>
              </a:rPr>
              <a:t>Delivered as branded evaluation report with appendices</a:t>
            </a:r>
            <a:endParaRPr lang="en-US" sz="1050" dirty="0"/>
          </a:p>
        </p:txBody>
      </p:sp>
      <p:sp>
        <p:nvSpPr>
          <p:cNvPr id="18" name="Shape 9"/>
          <p:cNvSpPr/>
          <p:nvPr/>
        </p:nvSpPr>
        <p:spPr>
          <a:xfrm>
            <a:off x="0" y="4800600"/>
            <a:ext cx="9144000" cy="342900"/>
          </a:xfrm>
          <a:prstGeom prst="rect">
            <a:avLst/>
          </a:prstGeom>
          <a:solidFill>
            <a:srgbClr val="F3F4F6"/>
          </a:solidFill>
          <a:ln/>
        </p:spPr>
        <p:txBody>
          <a:bodyPr/>
          <a:lstStyle/>
          <a:p>
            <a:endParaRPr lang="en-GB"/>
          </a:p>
        </p:txBody>
      </p:sp>
      <p:sp>
        <p:nvSpPr>
          <p:cNvPr id="19" name="Text 10"/>
          <p:cNvSpPr/>
          <p:nvPr/>
        </p:nvSpPr>
        <p:spPr>
          <a:xfrm>
            <a:off x="457200" y="4828032"/>
            <a:ext cx="2743200" cy="274320"/>
          </a:xfrm>
          <a:prstGeom prst="rect">
            <a:avLst/>
          </a:prstGeom>
          <a:noFill/>
          <a:ln/>
        </p:spPr>
        <p:txBody>
          <a:bodyPr wrap="square" lIns="0" tIns="0" rIns="0" bIns="0" rtlCol="0" anchor="ctr"/>
          <a:lstStyle/>
          <a:p>
            <a:pPr marL="0" indent="0">
              <a:buNone/>
            </a:pPr>
            <a:r>
              <a:rPr lang="en-US" sz="800" dirty="0">
                <a:solidFill>
                  <a:srgbClr val="6B7280"/>
                </a:solidFill>
                <a:latin typeface="Calibri Light" pitchFamily="34" charset="0"/>
                <a:ea typeface="Calibri Light" pitchFamily="34" charset="-122"/>
                <a:cs typeface="Calibri Light" pitchFamily="34" charset="-120"/>
              </a:rPr>
              <a:t>tenderlab.co.uk</a:t>
            </a:r>
            <a:endParaRPr lang="en-US" sz="800" dirty="0"/>
          </a:p>
        </p:txBody>
      </p:sp>
      <p:pic>
        <p:nvPicPr>
          <p:cNvPr id="20" name="Image 7" descr="preencoded.png"/>
          <p:cNvPicPr>
            <a:picLocks noChangeAspect="1"/>
          </p:cNvPicPr>
          <p:nvPr/>
        </p:nvPicPr>
        <p:blipFill>
          <a:blip r:embed="rId5"/>
          <a:stretch>
            <a:fillRect/>
          </a:stretch>
        </p:blipFill>
        <p:spPr>
          <a:xfrm>
            <a:off x="8229600" y="4709160"/>
            <a:ext cx="502920" cy="50292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32004"/>
          </a:xfrm>
          <a:prstGeom prst="rect">
            <a:avLst/>
          </a:prstGeom>
          <a:solidFill>
            <a:srgbClr val="D4382C"/>
          </a:solidFill>
          <a:ln/>
        </p:spPr>
        <p:txBody>
          <a:bodyPr/>
          <a:lstStyle/>
          <a:p>
            <a:endParaRPr lang="en-GB"/>
          </a:p>
        </p:txBody>
      </p:sp>
      <p:sp>
        <p:nvSpPr>
          <p:cNvPr id="3" name="Text 1"/>
          <p:cNvSpPr/>
          <p:nvPr/>
        </p:nvSpPr>
        <p:spPr>
          <a:xfrm>
            <a:off x="548640" y="274320"/>
            <a:ext cx="5029200" cy="457200"/>
          </a:xfrm>
          <a:prstGeom prst="rect">
            <a:avLst/>
          </a:prstGeom>
          <a:noFill/>
          <a:ln/>
        </p:spPr>
        <p:txBody>
          <a:bodyPr wrap="square" lIns="0" tIns="0" rIns="0" bIns="0" rtlCol="0" anchor="ctr"/>
          <a:lstStyle/>
          <a:p>
            <a:pPr marL="0" indent="0">
              <a:buNone/>
            </a:pPr>
            <a:r>
              <a:rPr lang="en-US" sz="2200" dirty="0">
                <a:solidFill>
                  <a:srgbClr val="192231"/>
                </a:solidFill>
                <a:latin typeface="Arial Black" pitchFamily="34" charset="0"/>
                <a:ea typeface="Arial Black" pitchFamily="34" charset="-122"/>
                <a:cs typeface="Arial Black" pitchFamily="34" charset="-120"/>
              </a:rPr>
              <a:t>Pricing &amp; Financial Modelling</a:t>
            </a:r>
            <a:endParaRPr lang="en-US" sz="2200" dirty="0"/>
          </a:p>
        </p:txBody>
      </p:sp>
      <p:sp>
        <p:nvSpPr>
          <p:cNvPr id="4" name="Text 2"/>
          <p:cNvSpPr/>
          <p:nvPr/>
        </p:nvSpPr>
        <p:spPr>
          <a:xfrm>
            <a:off x="548640" y="731520"/>
            <a:ext cx="4572000" cy="274320"/>
          </a:xfrm>
          <a:prstGeom prst="rect">
            <a:avLst/>
          </a:prstGeom>
          <a:noFill/>
          <a:ln/>
        </p:spPr>
        <p:txBody>
          <a:bodyPr wrap="square" lIns="0" tIns="0" rIns="0" bIns="0" rtlCol="0" anchor="ctr"/>
          <a:lstStyle/>
          <a:p>
            <a:pPr marL="0" indent="0">
              <a:buNone/>
            </a:pPr>
            <a:r>
              <a:rPr lang="en-US" sz="1100" i="1" dirty="0">
                <a:solidFill>
                  <a:srgbClr val="D4382C"/>
                </a:solidFill>
                <a:latin typeface="Calibri" pitchFamily="34" charset="0"/>
                <a:ea typeface="Calibri" pitchFamily="34" charset="-122"/>
                <a:cs typeface="Calibri" pitchFamily="34" charset="-120"/>
              </a:rPr>
              <a:t>Every figure verified before submission</a:t>
            </a:r>
            <a:endParaRPr lang="en-US" sz="1100" dirty="0"/>
          </a:p>
        </p:txBody>
      </p:sp>
      <p:pic>
        <p:nvPicPr>
          <p:cNvPr id="5" name="Image 0" descr="preencoded.png"/>
          <p:cNvPicPr>
            <a:picLocks noChangeAspect="1"/>
          </p:cNvPicPr>
          <p:nvPr/>
        </p:nvPicPr>
        <p:blipFill>
          <a:blip r:embed="rId3"/>
          <a:stretch>
            <a:fillRect/>
          </a:stretch>
        </p:blipFill>
        <p:spPr>
          <a:xfrm>
            <a:off x="5120640" y="1212342"/>
            <a:ext cx="3474720" cy="2286000"/>
          </a:xfrm>
          <a:prstGeom prst="rect">
            <a:avLst/>
          </a:prstGeom>
        </p:spPr>
      </p:pic>
      <p:pic>
        <p:nvPicPr>
          <p:cNvPr id="6" name="Image 1" descr="preencoded.png"/>
          <p:cNvPicPr>
            <a:picLocks noChangeAspect="1"/>
          </p:cNvPicPr>
          <p:nvPr/>
        </p:nvPicPr>
        <p:blipFill>
          <a:blip r:embed="rId4"/>
          <a:stretch>
            <a:fillRect/>
          </a:stretch>
        </p:blipFill>
        <p:spPr>
          <a:xfrm>
            <a:off x="548640" y="1188720"/>
            <a:ext cx="182880" cy="182880"/>
          </a:xfrm>
          <a:prstGeom prst="rect">
            <a:avLst/>
          </a:prstGeom>
        </p:spPr>
      </p:pic>
      <p:sp>
        <p:nvSpPr>
          <p:cNvPr id="7" name="Text 3"/>
          <p:cNvSpPr/>
          <p:nvPr/>
        </p:nvSpPr>
        <p:spPr>
          <a:xfrm>
            <a:off x="868680" y="1143000"/>
            <a:ext cx="4114800" cy="457200"/>
          </a:xfrm>
          <a:prstGeom prst="rect">
            <a:avLst/>
          </a:prstGeom>
          <a:noFill/>
          <a:ln/>
        </p:spPr>
        <p:txBody>
          <a:bodyPr wrap="square" lIns="0" tIns="0" rIns="0" bIns="0" rtlCol="0" anchor="ctr"/>
          <a:lstStyle/>
          <a:p>
            <a:pPr marL="0" indent="0">
              <a:buNone/>
            </a:pPr>
            <a:r>
              <a:rPr lang="en-US" sz="1050" dirty="0">
                <a:solidFill>
                  <a:srgbClr val="374151"/>
                </a:solidFill>
                <a:latin typeface="Calibri" pitchFamily="34" charset="0"/>
                <a:ea typeface="Calibri" pitchFamily="34" charset="-122"/>
                <a:cs typeface="Calibri" pitchFamily="34" charset="-120"/>
              </a:rPr>
              <a:t>National Living Wage compliance verification for all hourly rates</a:t>
            </a:r>
            <a:endParaRPr lang="en-US" sz="1050" dirty="0"/>
          </a:p>
        </p:txBody>
      </p:sp>
      <p:pic>
        <p:nvPicPr>
          <p:cNvPr id="8" name="Image 2" descr="preencoded.png"/>
          <p:cNvPicPr>
            <a:picLocks noChangeAspect="1"/>
          </p:cNvPicPr>
          <p:nvPr/>
        </p:nvPicPr>
        <p:blipFill>
          <a:blip r:embed="rId4"/>
          <a:stretch>
            <a:fillRect/>
          </a:stretch>
        </p:blipFill>
        <p:spPr>
          <a:xfrm>
            <a:off x="548640" y="1691640"/>
            <a:ext cx="182880" cy="182880"/>
          </a:xfrm>
          <a:prstGeom prst="rect">
            <a:avLst/>
          </a:prstGeom>
        </p:spPr>
      </p:pic>
      <p:sp>
        <p:nvSpPr>
          <p:cNvPr id="9" name="Text 4"/>
          <p:cNvSpPr/>
          <p:nvPr/>
        </p:nvSpPr>
        <p:spPr>
          <a:xfrm>
            <a:off x="868680" y="1645920"/>
            <a:ext cx="4114800" cy="457200"/>
          </a:xfrm>
          <a:prstGeom prst="rect">
            <a:avLst/>
          </a:prstGeom>
          <a:noFill/>
          <a:ln/>
        </p:spPr>
        <p:txBody>
          <a:bodyPr wrap="square" lIns="0" tIns="0" rIns="0" bIns="0" rtlCol="0" anchor="ctr"/>
          <a:lstStyle/>
          <a:p>
            <a:pPr marL="0" indent="0">
              <a:buNone/>
            </a:pPr>
            <a:r>
              <a:rPr lang="en-US" sz="1050" dirty="0">
                <a:solidFill>
                  <a:srgbClr val="374151"/>
                </a:solidFill>
                <a:latin typeface="Calibri" pitchFamily="34" charset="0"/>
                <a:ea typeface="Calibri" pitchFamily="34" charset="-122"/>
                <a:cs typeface="Calibri" pitchFamily="34" charset="-120"/>
              </a:rPr>
              <a:t>Market rate benchmarking against published local authority data</a:t>
            </a:r>
            <a:endParaRPr lang="en-US" sz="1050" dirty="0"/>
          </a:p>
        </p:txBody>
      </p:sp>
      <p:pic>
        <p:nvPicPr>
          <p:cNvPr id="10" name="Image 3" descr="preencoded.png"/>
          <p:cNvPicPr>
            <a:picLocks noChangeAspect="1"/>
          </p:cNvPicPr>
          <p:nvPr/>
        </p:nvPicPr>
        <p:blipFill>
          <a:blip r:embed="rId4"/>
          <a:stretch>
            <a:fillRect/>
          </a:stretch>
        </p:blipFill>
        <p:spPr>
          <a:xfrm>
            <a:off x="548640" y="2194560"/>
            <a:ext cx="182880" cy="182880"/>
          </a:xfrm>
          <a:prstGeom prst="rect">
            <a:avLst/>
          </a:prstGeom>
        </p:spPr>
      </p:pic>
      <p:sp>
        <p:nvSpPr>
          <p:cNvPr id="11" name="Text 5"/>
          <p:cNvSpPr/>
          <p:nvPr/>
        </p:nvSpPr>
        <p:spPr>
          <a:xfrm>
            <a:off x="868680" y="2148840"/>
            <a:ext cx="4114800" cy="457200"/>
          </a:xfrm>
          <a:prstGeom prst="rect">
            <a:avLst/>
          </a:prstGeom>
          <a:noFill/>
          <a:ln/>
        </p:spPr>
        <p:txBody>
          <a:bodyPr wrap="square" lIns="0" tIns="0" rIns="0" bIns="0" rtlCol="0" anchor="ctr"/>
          <a:lstStyle/>
          <a:p>
            <a:pPr marL="0" indent="0">
              <a:buNone/>
            </a:pPr>
            <a:r>
              <a:rPr lang="en-US" sz="1050" dirty="0">
                <a:solidFill>
                  <a:srgbClr val="374151"/>
                </a:solidFill>
                <a:latin typeface="Calibri" pitchFamily="34" charset="0"/>
                <a:ea typeface="Calibri" pitchFamily="34" charset="-122"/>
                <a:cs typeface="Calibri" pitchFamily="34" charset="-120"/>
              </a:rPr>
              <a:t>Cost breakdown reconciliation between Section A and Section B</a:t>
            </a:r>
            <a:endParaRPr lang="en-US" sz="1050" dirty="0"/>
          </a:p>
        </p:txBody>
      </p:sp>
      <p:pic>
        <p:nvPicPr>
          <p:cNvPr id="12" name="Image 4" descr="preencoded.png"/>
          <p:cNvPicPr>
            <a:picLocks noChangeAspect="1"/>
          </p:cNvPicPr>
          <p:nvPr/>
        </p:nvPicPr>
        <p:blipFill>
          <a:blip r:embed="rId4"/>
          <a:stretch>
            <a:fillRect/>
          </a:stretch>
        </p:blipFill>
        <p:spPr>
          <a:xfrm>
            <a:off x="548640" y="2697480"/>
            <a:ext cx="182880" cy="182880"/>
          </a:xfrm>
          <a:prstGeom prst="rect">
            <a:avLst/>
          </a:prstGeom>
        </p:spPr>
      </p:pic>
      <p:sp>
        <p:nvSpPr>
          <p:cNvPr id="13" name="Text 6"/>
          <p:cNvSpPr/>
          <p:nvPr/>
        </p:nvSpPr>
        <p:spPr>
          <a:xfrm>
            <a:off x="868680" y="2651760"/>
            <a:ext cx="4114800" cy="457200"/>
          </a:xfrm>
          <a:prstGeom prst="rect">
            <a:avLst/>
          </a:prstGeom>
          <a:noFill/>
          <a:ln/>
        </p:spPr>
        <p:txBody>
          <a:bodyPr wrap="square" lIns="0" tIns="0" rIns="0" bIns="0" rtlCol="0" anchor="ctr"/>
          <a:lstStyle/>
          <a:p>
            <a:pPr marL="0" indent="0">
              <a:buNone/>
            </a:pPr>
            <a:r>
              <a:rPr lang="en-US" sz="1050" dirty="0">
                <a:solidFill>
                  <a:srgbClr val="374151"/>
                </a:solidFill>
                <a:latin typeface="Calibri" pitchFamily="34" charset="0"/>
                <a:ea typeface="Calibri" pitchFamily="34" charset="-122"/>
                <a:cs typeface="Calibri" pitchFamily="34" charset="-120"/>
              </a:rPr>
              <a:t>Python-verified arithmetic across all schedule totals</a:t>
            </a:r>
            <a:endParaRPr lang="en-US" sz="1050" dirty="0"/>
          </a:p>
        </p:txBody>
      </p:sp>
      <p:pic>
        <p:nvPicPr>
          <p:cNvPr id="14" name="Image 5" descr="preencoded.png"/>
          <p:cNvPicPr>
            <a:picLocks noChangeAspect="1"/>
          </p:cNvPicPr>
          <p:nvPr/>
        </p:nvPicPr>
        <p:blipFill>
          <a:blip r:embed="rId4"/>
          <a:stretch>
            <a:fillRect/>
          </a:stretch>
        </p:blipFill>
        <p:spPr>
          <a:xfrm>
            <a:off x="548640" y="3200400"/>
            <a:ext cx="182880" cy="182880"/>
          </a:xfrm>
          <a:prstGeom prst="rect">
            <a:avLst/>
          </a:prstGeom>
        </p:spPr>
      </p:pic>
      <p:sp>
        <p:nvSpPr>
          <p:cNvPr id="15" name="Text 7"/>
          <p:cNvSpPr/>
          <p:nvPr/>
        </p:nvSpPr>
        <p:spPr>
          <a:xfrm>
            <a:off x="868680" y="3154680"/>
            <a:ext cx="4114800" cy="457200"/>
          </a:xfrm>
          <a:prstGeom prst="rect">
            <a:avLst/>
          </a:prstGeom>
          <a:noFill/>
          <a:ln/>
        </p:spPr>
        <p:txBody>
          <a:bodyPr wrap="square" lIns="0" tIns="0" rIns="0" bIns="0" rtlCol="0" anchor="ctr"/>
          <a:lstStyle/>
          <a:p>
            <a:pPr marL="0" indent="0">
              <a:buNone/>
            </a:pPr>
            <a:r>
              <a:rPr lang="en-US" sz="1050" dirty="0">
                <a:solidFill>
                  <a:srgbClr val="374151"/>
                </a:solidFill>
                <a:latin typeface="Calibri" pitchFamily="34" charset="0"/>
                <a:ea typeface="Calibri" pitchFamily="34" charset="-122"/>
                <a:cs typeface="Calibri" pitchFamily="34" charset="-120"/>
              </a:rPr>
              <a:t>Sensitivity analysis for rate variations and volume changes</a:t>
            </a:r>
            <a:endParaRPr lang="en-US" sz="1050" dirty="0"/>
          </a:p>
        </p:txBody>
      </p:sp>
      <p:pic>
        <p:nvPicPr>
          <p:cNvPr id="16" name="Image 6" descr="preencoded.png"/>
          <p:cNvPicPr>
            <a:picLocks noChangeAspect="1"/>
          </p:cNvPicPr>
          <p:nvPr/>
        </p:nvPicPr>
        <p:blipFill>
          <a:blip r:embed="rId4"/>
          <a:stretch>
            <a:fillRect/>
          </a:stretch>
        </p:blipFill>
        <p:spPr>
          <a:xfrm>
            <a:off x="548640" y="3703320"/>
            <a:ext cx="182880" cy="182880"/>
          </a:xfrm>
          <a:prstGeom prst="rect">
            <a:avLst/>
          </a:prstGeom>
        </p:spPr>
      </p:pic>
      <p:sp>
        <p:nvSpPr>
          <p:cNvPr id="17" name="Text 8"/>
          <p:cNvSpPr/>
          <p:nvPr/>
        </p:nvSpPr>
        <p:spPr>
          <a:xfrm>
            <a:off x="868680" y="3657600"/>
            <a:ext cx="4114800" cy="457200"/>
          </a:xfrm>
          <a:prstGeom prst="rect">
            <a:avLst/>
          </a:prstGeom>
          <a:noFill/>
          <a:ln/>
        </p:spPr>
        <p:txBody>
          <a:bodyPr wrap="square" lIns="0" tIns="0" rIns="0" bIns="0" rtlCol="0" anchor="ctr"/>
          <a:lstStyle/>
          <a:p>
            <a:pPr marL="0" indent="0">
              <a:buNone/>
            </a:pPr>
            <a:r>
              <a:rPr lang="en-US" sz="1050" dirty="0">
                <a:solidFill>
                  <a:srgbClr val="374151"/>
                </a:solidFill>
                <a:latin typeface="Calibri" pitchFamily="34" charset="0"/>
                <a:ea typeface="Calibri" pitchFamily="34" charset="-122"/>
                <a:cs typeface="Calibri" pitchFamily="34" charset="-120"/>
              </a:rPr>
              <a:t>Formatted to match the commissioning body's required template</a:t>
            </a:r>
            <a:endParaRPr lang="en-US" sz="1050" dirty="0"/>
          </a:p>
        </p:txBody>
      </p:sp>
      <p:sp>
        <p:nvSpPr>
          <p:cNvPr id="18" name="Shape 9"/>
          <p:cNvSpPr/>
          <p:nvPr/>
        </p:nvSpPr>
        <p:spPr>
          <a:xfrm>
            <a:off x="0" y="4800600"/>
            <a:ext cx="9144000" cy="342900"/>
          </a:xfrm>
          <a:prstGeom prst="rect">
            <a:avLst/>
          </a:prstGeom>
          <a:solidFill>
            <a:srgbClr val="F3F4F6"/>
          </a:solidFill>
          <a:ln/>
        </p:spPr>
        <p:txBody>
          <a:bodyPr/>
          <a:lstStyle/>
          <a:p>
            <a:endParaRPr lang="en-GB"/>
          </a:p>
        </p:txBody>
      </p:sp>
      <p:sp>
        <p:nvSpPr>
          <p:cNvPr id="19" name="Text 10"/>
          <p:cNvSpPr/>
          <p:nvPr/>
        </p:nvSpPr>
        <p:spPr>
          <a:xfrm>
            <a:off x="457200" y="4828032"/>
            <a:ext cx="2743200" cy="274320"/>
          </a:xfrm>
          <a:prstGeom prst="rect">
            <a:avLst/>
          </a:prstGeom>
          <a:noFill/>
          <a:ln/>
        </p:spPr>
        <p:txBody>
          <a:bodyPr wrap="square" lIns="0" tIns="0" rIns="0" bIns="0" rtlCol="0" anchor="ctr"/>
          <a:lstStyle/>
          <a:p>
            <a:pPr marL="0" indent="0">
              <a:buNone/>
            </a:pPr>
            <a:r>
              <a:rPr lang="en-US" sz="800" dirty="0">
                <a:solidFill>
                  <a:srgbClr val="6B7280"/>
                </a:solidFill>
                <a:latin typeface="Calibri Light" pitchFamily="34" charset="0"/>
                <a:ea typeface="Calibri Light" pitchFamily="34" charset="-122"/>
                <a:cs typeface="Calibri Light" pitchFamily="34" charset="-120"/>
              </a:rPr>
              <a:t>tenderlab.co.uk</a:t>
            </a:r>
            <a:endParaRPr lang="en-US" sz="800" dirty="0"/>
          </a:p>
        </p:txBody>
      </p:sp>
      <p:pic>
        <p:nvPicPr>
          <p:cNvPr id="20" name="Image 7" descr="preencoded.png"/>
          <p:cNvPicPr>
            <a:picLocks noChangeAspect="1"/>
          </p:cNvPicPr>
          <p:nvPr/>
        </p:nvPicPr>
        <p:blipFill>
          <a:blip r:embed="rId5"/>
          <a:stretch>
            <a:fillRect/>
          </a:stretch>
        </p:blipFill>
        <p:spPr>
          <a:xfrm>
            <a:off x="8229600" y="4709160"/>
            <a:ext cx="502920" cy="50292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32004"/>
          </a:xfrm>
          <a:prstGeom prst="rect">
            <a:avLst/>
          </a:prstGeom>
          <a:solidFill>
            <a:srgbClr val="D4382C"/>
          </a:solidFill>
          <a:ln/>
        </p:spPr>
        <p:txBody>
          <a:bodyPr/>
          <a:lstStyle/>
          <a:p>
            <a:endParaRPr lang="en-GB"/>
          </a:p>
        </p:txBody>
      </p:sp>
      <p:sp>
        <p:nvSpPr>
          <p:cNvPr id="3" name="Text 1"/>
          <p:cNvSpPr/>
          <p:nvPr/>
        </p:nvSpPr>
        <p:spPr>
          <a:xfrm>
            <a:off x="548640" y="274320"/>
            <a:ext cx="5486400" cy="457200"/>
          </a:xfrm>
          <a:prstGeom prst="rect">
            <a:avLst/>
          </a:prstGeom>
          <a:noFill/>
          <a:ln/>
        </p:spPr>
        <p:txBody>
          <a:bodyPr wrap="square" lIns="0" tIns="0" rIns="0" bIns="0" rtlCol="0" anchor="ctr"/>
          <a:lstStyle/>
          <a:p>
            <a:pPr marL="0" indent="0">
              <a:buNone/>
            </a:pPr>
            <a:r>
              <a:rPr lang="en-US" sz="2800" dirty="0">
                <a:solidFill>
                  <a:srgbClr val="192231"/>
                </a:solidFill>
                <a:latin typeface="Arial Black" pitchFamily="34" charset="0"/>
                <a:ea typeface="Arial Black" pitchFamily="34" charset="-122"/>
                <a:cs typeface="Arial Black" pitchFamily="34" charset="-120"/>
              </a:rPr>
              <a:t>Why Providers Choose Us</a:t>
            </a:r>
            <a:endParaRPr lang="en-US" sz="2800" dirty="0"/>
          </a:p>
        </p:txBody>
      </p:sp>
      <p:pic>
        <p:nvPicPr>
          <p:cNvPr id="4" name="Image 0" descr="preencoded.png"/>
          <p:cNvPicPr>
            <a:picLocks noChangeAspect="1"/>
          </p:cNvPicPr>
          <p:nvPr/>
        </p:nvPicPr>
        <p:blipFill>
          <a:blip r:embed="rId3"/>
          <a:stretch>
            <a:fillRect/>
          </a:stretch>
        </p:blipFill>
        <p:spPr>
          <a:xfrm>
            <a:off x="5617029" y="32004"/>
            <a:ext cx="3526971" cy="4771784"/>
          </a:xfrm>
          <a:prstGeom prst="rect">
            <a:avLst/>
          </a:prstGeom>
        </p:spPr>
      </p:pic>
      <p:sp>
        <p:nvSpPr>
          <p:cNvPr id="5" name="Text 2"/>
          <p:cNvSpPr/>
          <p:nvPr/>
        </p:nvSpPr>
        <p:spPr>
          <a:xfrm>
            <a:off x="548640" y="914400"/>
            <a:ext cx="457200" cy="274320"/>
          </a:xfrm>
          <a:prstGeom prst="rect">
            <a:avLst/>
          </a:prstGeom>
          <a:noFill/>
          <a:ln/>
        </p:spPr>
        <p:txBody>
          <a:bodyPr wrap="square" lIns="0" tIns="0" rIns="0" bIns="0" rtlCol="0" anchor="ctr"/>
          <a:lstStyle/>
          <a:p>
            <a:pPr marL="0" indent="0">
              <a:buNone/>
            </a:pPr>
            <a:r>
              <a:rPr lang="en-US" sz="1400" dirty="0">
                <a:solidFill>
                  <a:srgbClr val="D4382C"/>
                </a:solidFill>
                <a:latin typeface="Arial Black" pitchFamily="34" charset="0"/>
                <a:ea typeface="Arial Black" pitchFamily="34" charset="-122"/>
                <a:cs typeface="Arial Black" pitchFamily="34" charset="-120"/>
              </a:rPr>
              <a:t>01</a:t>
            </a:r>
            <a:endParaRPr lang="en-US" sz="1400" dirty="0"/>
          </a:p>
        </p:txBody>
      </p:sp>
      <p:sp>
        <p:nvSpPr>
          <p:cNvPr id="6" name="Text 3"/>
          <p:cNvSpPr/>
          <p:nvPr/>
        </p:nvSpPr>
        <p:spPr>
          <a:xfrm>
            <a:off x="1097280" y="914400"/>
            <a:ext cx="4114800" cy="228600"/>
          </a:xfrm>
          <a:prstGeom prst="rect">
            <a:avLst/>
          </a:prstGeom>
          <a:noFill/>
          <a:ln/>
        </p:spPr>
        <p:txBody>
          <a:bodyPr wrap="square" lIns="0" tIns="0" rIns="0" bIns="0" rtlCol="0" anchor="ctr"/>
          <a:lstStyle/>
          <a:p>
            <a:pPr marL="0" indent="0">
              <a:buNone/>
            </a:pPr>
            <a:r>
              <a:rPr lang="en-US" sz="1100" b="1" dirty="0">
                <a:solidFill>
                  <a:srgbClr val="192231"/>
                </a:solidFill>
                <a:latin typeface="Calibri" pitchFamily="34" charset="0"/>
                <a:ea typeface="Calibri" pitchFamily="34" charset="-122"/>
                <a:cs typeface="Calibri" pitchFamily="34" charset="-120"/>
              </a:rPr>
              <a:t>We only work in health and social care</a:t>
            </a:r>
            <a:endParaRPr lang="en-US" sz="1100" dirty="0"/>
          </a:p>
        </p:txBody>
      </p:sp>
      <p:sp>
        <p:nvSpPr>
          <p:cNvPr id="7" name="Text 4"/>
          <p:cNvSpPr/>
          <p:nvPr/>
        </p:nvSpPr>
        <p:spPr>
          <a:xfrm>
            <a:off x="1097280" y="1161288"/>
            <a:ext cx="4114800" cy="228600"/>
          </a:xfrm>
          <a:prstGeom prst="rect">
            <a:avLst/>
          </a:prstGeom>
          <a:noFill/>
          <a:ln/>
        </p:spPr>
        <p:txBody>
          <a:bodyPr wrap="square" lIns="0" tIns="0" rIns="0" bIns="0" rtlCol="0" anchor="ctr"/>
          <a:lstStyle/>
          <a:p>
            <a:pPr marL="0" indent="0">
              <a:buNone/>
            </a:pPr>
            <a:r>
              <a:rPr lang="en-US" sz="900" dirty="0">
                <a:solidFill>
                  <a:srgbClr val="6B7280"/>
                </a:solidFill>
                <a:latin typeface="Calibri Light" pitchFamily="34" charset="0"/>
                <a:ea typeface="Calibri Light" pitchFamily="34" charset="-122"/>
                <a:cs typeface="Calibri Light" pitchFamily="34" charset="-120"/>
              </a:rPr>
              <a:t>CQC, Ofsted, ICB, Care Act 2014, MCA 2005, TUPE 2006.</a:t>
            </a:r>
            <a:endParaRPr lang="en-US" sz="900" dirty="0"/>
          </a:p>
        </p:txBody>
      </p:sp>
      <p:sp>
        <p:nvSpPr>
          <p:cNvPr id="8" name="Shape 5"/>
          <p:cNvSpPr/>
          <p:nvPr/>
        </p:nvSpPr>
        <p:spPr>
          <a:xfrm>
            <a:off x="548640" y="1417320"/>
            <a:ext cx="4754880" cy="0"/>
          </a:xfrm>
          <a:prstGeom prst="line">
            <a:avLst/>
          </a:prstGeom>
          <a:noFill/>
          <a:ln w="6350">
            <a:solidFill>
              <a:srgbClr val="E5E7EB"/>
            </a:solidFill>
            <a:prstDash val="solid"/>
          </a:ln>
        </p:spPr>
        <p:txBody>
          <a:bodyPr/>
          <a:lstStyle/>
          <a:p>
            <a:endParaRPr lang="en-GB"/>
          </a:p>
        </p:txBody>
      </p:sp>
      <p:sp>
        <p:nvSpPr>
          <p:cNvPr id="9" name="Text 6"/>
          <p:cNvSpPr/>
          <p:nvPr/>
        </p:nvSpPr>
        <p:spPr>
          <a:xfrm>
            <a:off x="548640" y="1490472"/>
            <a:ext cx="457200" cy="274320"/>
          </a:xfrm>
          <a:prstGeom prst="rect">
            <a:avLst/>
          </a:prstGeom>
          <a:noFill/>
          <a:ln/>
        </p:spPr>
        <p:txBody>
          <a:bodyPr wrap="square" lIns="0" tIns="0" rIns="0" bIns="0" rtlCol="0" anchor="ctr"/>
          <a:lstStyle/>
          <a:p>
            <a:pPr marL="0" indent="0">
              <a:buNone/>
            </a:pPr>
            <a:r>
              <a:rPr lang="en-US" sz="1400" dirty="0">
                <a:solidFill>
                  <a:srgbClr val="D4382C"/>
                </a:solidFill>
                <a:latin typeface="Arial Black" pitchFamily="34" charset="0"/>
                <a:ea typeface="Arial Black" pitchFamily="34" charset="-122"/>
                <a:cs typeface="Arial Black" pitchFamily="34" charset="-120"/>
              </a:rPr>
              <a:t>02</a:t>
            </a:r>
            <a:endParaRPr lang="en-US" sz="1400" dirty="0"/>
          </a:p>
        </p:txBody>
      </p:sp>
      <p:sp>
        <p:nvSpPr>
          <p:cNvPr id="10" name="Text 7"/>
          <p:cNvSpPr/>
          <p:nvPr/>
        </p:nvSpPr>
        <p:spPr>
          <a:xfrm>
            <a:off x="1097280" y="1490472"/>
            <a:ext cx="4114800" cy="228600"/>
          </a:xfrm>
          <a:prstGeom prst="rect">
            <a:avLst/>
          </a:prstGeom>
          <a:noFill/>
          <a:ln/>
        </p:spPr>
        <p:txBody>
          <a:bodyPr wrap="square" lIns="0" tIns="0" rIns="0" bIns="0" rtlCol="0" anchor="ctr"/>
          <a:lstStyle/>
          <a:p>
            <a:pPr marL="0" indent="0">
              <a:buNone/>
            </a:pPr>
            <a:r>
              <a:rPr lang="en-US" sz="1100" b="1" dirty="0">
                <a:solidFill>
                  <a:srgbClr val="192231"/>
                </a:solidFill>
                <a:latin typeface="Calibri" pitchFamily="34" charset="0"/>
                <a:ea typeface="Calibri" pitchFamily="34" charset="-122"/>
                <a:cs typeface="Calibri" pitchFamily="34" charset="-120"/>
              </a:rPr>
              <a:t>We read specifications like evaluators</a:t>
            </a:r>
            <a:endParaRPr lang="en-US" sz="1100" dirty="0"/>
          </a:p>
        </p:txBody>
      </p:sp>
      <p:sp>
        <p:nvSpPr>
          <p:cNvPr id="11" name="Text 8"/>
          <p:cNvSpPr/>
          <p:nvPr/>
        </p:nvSpPr>
        <p:spPr>
          <a:xfrm>
            <a:off x="1097280" y="1737360"/>
            <a:ext cx="4114800" cy="228600"/>
          </a:xfrm>
          <a:prstGeom prst="rect">
            <a:avLst/>
          </a:prstGeom>
          <a:noFill/>
          <a:ln/>
        </p:spPr>
        <p:txBody>
          <a:bodyPr wrap="square" lIns="0" tIns="0" rIns="0" bIns="0" rtlCol="0" anchor="ctr"/>
          <a:lstStyle/>
          <a:p>
            <a:pPr marL="0" indent="0">
              <a:buNone/>
            </a:pPr>
            <a:r>
              <a:rPr lang="en-US" sz="900" dirty="0">
                <a:solidFill>
                  <a:srgbClr val="6B7280"/>
                </a:solidFill>
                <a:latin typeface="Calibri Light" pitchFamily="34" charset="0"/>
                <a:ea typeface="Calibri Light" pitchFamily="34" charset="-122"/>
                <a:cs typeface="Calibri Light" pitchFamily="34" charset="-120"/>
              </a:rPr>
              <a:t>Exact language, statutory context, and scoring methodology extracted first.</a:t>
            </a:r>
            <a:endParaRPr lang="en-US" sz="900" dirty="0"/>
          </a:p>
        </p:txBody>
      </p:sp>
      <p:sp>
        <p:nvSpPr>
          <p:cNvPr id="12" name="Shape 9"/>
          <p:cNvSpPr/>
          <p:nvPr/>
        </p:nvSpPr>
        <p:spPr>
          <a:xfrm>
            <a:off x="548640" y="1993392"/>
            <a:ext cx="4754880" cy="0"/>
          </a:xfrm>
          <a:prstGeom prst="line">
            <a:avLst/>
          </a:prstGeom>
          <a:noFill/>
          <a:ln w="6350">
            <a:solidFill>
              <a:srgbClr val="E5E7EB"/>
            </a:solidFill>
            <a:prstDash val="solid"/>
          </a:ln>
        </p:spPr>
        <p:txBody>
          <a:bodyPr/>
          <a:lstStyle/>
          <a:p>
            <a:endParaRPr lang="en-GB"/>
          </a:p>
        </p:txBody>
      </p:sp>
      <p:sp>
        <p:nvSpPr>
          <p:cNvPr id="13" name="Text 10"/>
          <p:cNvSpPr/>
          <p:nvPr/>
        </p:nvSpPr>
        <p:spPr>
          <a:xfrm>
            <a:off x="548640" y="2066544"/>
            <a:ext cx="457200" cy="274320"/>
          </a:xfrm>
          <a:prstGeom prst="rect">
            <a:avLst/>
          </a:prstGeom>
          <a:noFill/>
          <a:ln/>
        </p:spPr>
        <p:txBody>
          <a:bodyPr wrap="square" lIns="0" tIns="0" rIns="0" bIns="0" rtlCol="0" anchor="ctr"/>
          <a:lstStyle/>
          <a:p>
            <a:pPr marL="0" indent="0">
              <a:buNone/>
            </a:pPr>
            <a:r>
              <a:rPr lang="en-US" sz="1400" dirty="0">
                <a:solidFill>
                  <a:srgbClr val="D4382C"/>
                </a:solidFill>
                <a:latin typeface="Arial Black" pitchFamily="34" charset="0"/>
                <a:ea typeface="Arial Black" pitchFamily="34" charset="-122"/>
                <a:cs typeface="Arial Black" pitchFamily="34" charset="-120"/>
              </a:rPr>
              <a:t>03</a:t>
            </a:r>
            <a:endParaRPr lang="en-US" sz="1400" dirty="0"/>
          </a:p>
        </p:txBody>
      </p:sp>
      <p:sp>
        <p:nvSpPr>
          <p:cNvPr id="14" name="Text 11"/>
          <p:cNvSpPr/>
          <p:nvPr/>
        </p:nvSpPr>
        <p:spPr>
          <a:xfrm>
            <a:off x="1097280" y="2066544"/>
            <a:ext cx="4114800" cy="228600"/>
          </a:xfrm>
          <a:prstGeom prst="rect">
            <a:avLst/>
          </a:prstGeom>
          <a:noFill/>
          <a:ln/>
        </p:spPr>
        <p:txBody>
          <a:bodyPr wrap="square" lIns="0" tIns="0" rIns="0" bIns="0" rtlCol="0" anchor="ctr"/>
          <a:lstStyle/>
          <a:p>
            <a:pPr marL="0" indent="0">
              <a:buNone/>
            </a:pPr>
            <a:r>
              <a:rPr lang="en-US" sz="1100" b="1" dirty="0">
                <a:solidFill>
                  <a:srgbClr val="192231"/>
                </a:solidFill>
                <a:latin typeface="Calibri" pitchFamily="34" charset="0"/>
                <a:ea typeface="Calibri" pitchFamily="34" charset="-122"/>
                <a:cs typeface="Calibri" pitchFamily="34" charset="-120"/>
              </a:rPr>
              <a:t>Everything is scored before delivery</a:t>
            </a:r>
            <a:endParaRPr lang="en-US" sz="1100" dirty="0"/>
          </a:p>
        </p:txBody>
      </p:sp>
      <p:sp>
        <p:nvSpPr>
          <p:cNvPr id="15" name="Text 12"/>
          <p:cNvSpPr/>
          <p:nvPr/>
        </p:nvSpPr>
        <p:spPr>
          <a:xfrm>
            <a:off x="1097280" y="2313432"/>
            <a:ext cx="4114800" cy="228600"/>
          </a:xfrm>
          <a:prstGeom prst="rect">
            <a:avLst/>
          </a:prstGeom>
          <a:noFill/>
          <a:ln/>
        </p:spPr>
        <p:txBody>
          <a:bodyPr wrap="square" lIns="0" tIns="0" rIns="0" bIns="0" rtlCol="0" anchor="ctr"/>
          <a:lstStyle/>
          <a:p>
            <a:pPr marL="0" indent="0">
              <a:buNone/>
            </a:pPr>
            <a:r>
              <a:rPr lang="en-US" sz="900" dirty="0">
                <a:solidFill>
                  <a:srgbClr val="6B7280"/>
                </a:solidFill>
                <a:latin typeface="Calibri Light" pitchFamily="34" charset="0"/>
                <a:ea typeface="Calibri Light" pitchFamily="34" charset="-122"/>
                <a:cs typeface="Calibri Light" pitchFamily="34" charset="-120"/>
              </a:rPr>
              <a:t>20 criteria. Five weighted domains. 4/5 minimum threshold.</a:t>
            </a:r>
            <a:endParaRPr lang="en-US" sz="900" dirty="0"/>
          </a:p>
        </p:txBody>
      </p:sp>
      <p:sp>
        <p:nvSpPr>
          <p:cNvPr id="16" name="Shape 13"/>
          <p:cNvSpPr/>
          <p:nvPr/>
        </p:nvSpPr>
        <p:spPr>
          <a:xfrm>
            <a:off x="548640" y="2569464"/>
            <a:ext cx="4754880" cy="0"/>
          </a:xfrm>
          <a:prstGeom prst="line">
            <a:avLst/>
          </a:prstGeom>
          <a:noFill/>
          <a:ln w="6350">
            <a:solidFill>
              <a:srgbClr val="E5E7EB"/>
            </a:solidFill>
            <a:prstDash val="solid"/>
          </a:ln>
        </p:spPr>
        <p:txBody>
          <a:bodyPr/>
          <a:lstStyle/>
          <a:p>
            <a:endParaRPr lang="en-GB"/>
          </a:p>
        </p:txBody>
      </p:sp>
      <p:sp>
        <p:nvSpPr>
          <p:cNvPr id="17" name="Text 14"/>
          <p:cNvSpPr/>
          <p:nvPr/>
        </p:nvSpPr>
        <p:spPr>
          <a:xfrm>
            <a:off x="548640" y="2642616"/>
            <a:ext cx="457200" cy="274320"/>
          </a:xfrm>
          <a:prstGeom prst="rect">
            <a:avLst/>
          </a:prstGeom>
          <a:noFill/>
          <a:ln/>
        </p:spPr>
        <p:txBody>
          <a:bodyPr wrap="square" lIns="0" tIns="0" rIns="0" bIns="0" rtlCol="0" anchor="ctr"/>
          <a:lstStyle/>
          <a:p>
            <a:pPr marL="0" indent="0">
              <a:buNone/>
            </a:pPr>
            <a:r>
              <a:rPr lang="en-US" sz="1400" dirty="0">
                <a:solidFill>
                  <a:srgbClr val="D4382C"/>
                </a:solidFill>
                <a:latin typeface="Arial Black" pitchFamily="34" charset="0"/>
                <a:ea typeface="Arial Black" pitchFamily="34" charset="-122"/>
                <a:cs typeface="Arial Black" pitchFamily="34" charset="-120"/>
              </a:rPr>
              <a:t>04</a:t>
            </a:r>
            <a:endParaRPr lang="en-US" sz="1400" dirty="0"/>
          </a:p>
        </p:txBody>
      </p:sp>
      <p:sp>
        <p:nvSpPr>
          <p:cNvPr id="18" name="Text 15"/>
          <p:cNvSpPr/>
          <p:nvPr/>
        </p:nvSpPr>
        <p:spPr>
          <a:xfrm>
            <a:off x="1097280" y="2642616"/>
            <a:ext cx="4114800" cy="228600"/>
          </a:xfrm>
          <a:prstGeom prst="rect">
            <a:avLst/>
          </a:prstGeom>
          <a:noFill/>
          <a:ln/>
        </p:spPr>
        <p:txBody>
          <a:bodyPr wrap="square" lIns="0" tIns="0" rIns="0" bIns="0" rtlCol="0" anchor="ctr"/>
          <a:lstStyle/>
          <a:p>
            <a:pPr marL="0" indent="0">
              <a:buNone/>
            </a:pPr>
            <a:r>
              <a:rPr lang="en-US" sz="1100" b="1" dirty="0">
                <a:solidFill>
                  <a:srgbClr val="192231"/>
                </a:solidFill>
                <a:latin typeface="Calibri" pitchFamily="34" charset="0"/>
                <a:ea typeface="Calibri" pitchFamily="34" charset="-122"/>
                <a:cs typeface="Calibri" pitchFamily="34" charset="-120"/>
              </a:rPr>
              <a:t>We write with operational specificity</a:t>
            </a:r>
            <a:endParaRPr lang="en-US" sz="1100" dirty="0"/>
          </a:p>
        </p:txBody>
      </p:sp>
      <p:sp>
        <p:nvSpPr>
          <p:cNvPr id="19" name="Text 16"/>
          <p:cNvSpPr/>
          <p:nvPr/>
        </p:nvSpPr>
        <p:spPr>
          <a:xfrm>
            <a:off x="1097280" y="2889504"/>
            <a:ext cx="4114800" cy="228600"/>
          </a:xfrm>
          <a:prstGeom prst="rect">
            <a:avLst/>
          </a:prstGeom>
          <a:noFill/>
          <a:ln/>
        </p:spPr>
        <p:txBody>
          <a:bodyPr wrap="square" lIns="0" tIns="0" rIns="0" bIns="0" rtlCol="0" anchor="ctr"/>
          <a:lstStyle/>
          <a:p>
            <a:pPr marL="0" indent="0">
              <a:buNone/>
            </a:pPr>
            <a:r>
              <a:rPr lang="en-US" sz="900" dirty="0">
                <a:solidFill>
                  <a:srgbClr val="6B7280"/>
                </a:solidFill>
                <a:latin typeface="Calibri Light" pitchFamily="34" charset="0"/>
                <a:ea typeface="Calibri Light" pitchFamily="34" charset="-122"/>
                <a:cs typeface="Calibri Light" pitchFamily="34" charset="-120"/>
              </a:rPr>
              <a:t>Named staff. Real systems. Quantified outcomes.</a:t>
            </a:r>
            <a:endParaRPr lang="en-US" sz="900" dirty="0"/>
          </a:p>
        </p:txBody>
      </p:sp>
      <p:sp>
        <p:nvSpPr>
          <p:cNvPr id="20" name="Shape 17"/>
          <p:cNvSpPr/>
          <p:nvPr/>
        </p:nvSpPr>
        <p:spPr>
          <a:xfrm>
            <a:off x="548640" y="3145536"/>
            <a:ext cx="4754880" cy="0"/>
          </a:xfrm>
          <a:prstGeom prst="line">
            <a:avLst/>
          </a:prstGeom>
          <a:noFill/>
          <a:ln w="6350">
            <a:solidFill>
              <a:srgbClr val="E5E7EB"/>
            </a:solidFill>
            <a:prstDash val="solid"/>
          </a:ln>
        </p:spPr>
        <p:txBody>
          <a:bodyPr/>
          <a:lstStyle/>
          <a:p>
            <a:endParaRPr lang="en-GB"/>
          </a:p>
        </p:txBody>
      </p:sp>
      <p:sp>
        <p:nvSpPr>
          <p:cNvPr id="21" name="Text 18"/>
          <p:cNvSpPr/>
          <p:nvPr/>
        </p:nvSpPr>
        <p:spPr>
          <a:xfrm>
            <a:off x="548640" y="3218688"/>
            <a:ext cx="457200" cy="274320"/>
          </a:xfrm>
          <a:prstGeom prst="rect">
            <a:avLst/>
          </a:prstGeom>
          <a:noFill/>
          <a:ln/>
        </p:spPr>
        <p:txBody>
          <a:bodyPr wrap="square" lIns="0" tIns="0" rIns="0" bIns="0" rtlCol="0" anchor="ctr"/>
          <a:lstStyle/>
          <a:p>
            <a:pPr marL="0" indent="0">
              <a:buNone/>
            </a:pPr>
            <a:r>
              <a:rPr lang="en-US" sz="1400" dirty="0">
                <a:solidFill>
                  <a:srgbClr val="D4382C"/>
                </a:solidFill>
                <a:latin typeface="Arial Black" pitchFamily="34" charset="0"/>
                <a:ea typeface="Arial Black" pitchFamily="34" charset="-122"/>
                <a:cs typeface="Arial Black" pitchFamily="34" charset="-120"/>
              </a:rPr>
              <a:t>05</a:t>
            </a:r>
            <a:endParaRPr lang="en-US" sz="1400" dirty="0"/>
          </a:p>
        </p:txBody>
      </p:sp>
      <p:sp>
        <p:nvSpPr>
          <p:cNvPr id="22" name="Text 19"/>
          <p:cNvSpPr/>
          <p:nvPr/>
        </p:nvSpPr>
        <p:spPr>
          <a:xfrm>
            <a:off x="1097280" y="3218688"/>
            <a:ext cx="4114800" cy="228600"/>
          </a:xfrm>
          <a:prstGeom prst="rect">
            <a:avLst/>
          </a:prstGeom>
          <a:noFill/>
          <a:ln/>
        </p:spPr>
        <p:txBody>
          <a:bodyPr wrap="square" lIns="0" tIns="0" rIns="0" bIns="0" rtlCol="0" anchor="ctr"/>
          <a:lstStyle/>
          <a:p>
            <a:pPr marL="0" indent="0">
              <a:buNone/>
            </a:pPr>
            <a:r>
              <a:rPr lang="en-US" sz="1100" b="1" dirty="0">
                <a:solidFill>
                  <a:srgbClr val="192231"/>
                </a:solidFill>
                <a:latin typeface="Calibri" pitchFamily="34" charset="0"/>
                <a:ea typeface="Calibri" pitchFamily="34" charset="-122"/>
                <a:cs typeface="Calibri" pitchFamily="34" charset="-120"/>
              </a:rPr>
              <a:t>We verify every number</a:t>
            </a:r>
            <a:endParaRPr lang="en-US" sz="1100" dirty="0"/>
          </a:p>
        </p:txBody>
      </p:sp>
      <p:sp>
        <p:nvSpPr>
          <p:cNvPr id="23" name="Text 20"/>
          <p:cNvSpPr/>
          <p:nvPr/>
        </p:nvSpPr>
        <p:spPr>
          <a:xfrm>
            <a:off x="1097280" y="3465576"/>
            <a:ext cx="4114800" cy="228600"/>
          </a:xfrm>
          <a:prstGeom prst="rect">
            <a:avLst/>
          </a:prstGeom>
          <a:noFill/>
          <a:ln/>
        </p:spPr>
        <p:txBody>
          <a:bodyPr wrap="square" lIns="0" tIns="0" rIns="0" bIns="0" rtlCol="0" anchor="ctr"/>
          <a:lstStyle/>
          <a:p>
            <a:pPr marL="0" indent="0">
              <a:buNone/>
            </a:pPr>
            <a:r>
              <a:rPr lang="en-US" sz="900" dirty="0">
                <a:solidFill>
                  <a:srgbClr val="6B7280"/>
                </a:solidFill>
                <a:latin typeface="Calibri Light" pitchFamily="34" charset="0"/>
                <a:ea typeface="Calibri Light" pitchFamily="34" charset="-122"/>
                <a:cs typeface="Calibri Light" pitchFamily="34" charset="-120"/>
              </a:rPr>
              <a:t>NLW-checked, market-benchmarked.</a:t>
            </a:r>
            <a:endParaRPr lang="en-US" sz="900" dirty="0"/>
          </a:p>
        </p:txBody>
      </p:sp>
      <p:sp>
        <p:nvSpPr>
          <p:cNvPr id="24" name="Shape 21"/>
          <p:cNvSpPr/>
          <p:nvPr/>
        </p:nvSpPr>
        <p:spPr>
          <a:xfrm>
            <a:off x="548640" y="3721608"/>
            <a:ext cx="4754880" cy="0"/>
          </a:xfrm>
          <a:prstGeom prst="line">
            <a:avLst/>
          </a:prstGeom>
          <a:noFill/>
          <a:ln w="6350">
            <a:solidFill>
              <a:srgbClr val="E5E7EB"/>
            </a:solidFill>
            <a:prstDash val="solid"/>
          </a:ln>
        </p:spPr>
        <p:txBody>
          <a:bodyPr/>
          <a:lstStyle/>
          <a:p>
            <a:endParaRPr lang="en-GB"/>
          </a:p>
        </p:txBody>
      </p:sp>
      <p:sp>
        <p:nvSpPr>
          <p:cNvPr id="25" name="Text 22"/>
          <p:cNvSpPr/>
          <p:nvPr/>
        </p:nvSpPr>
        <p:spPr>
          <a:xfrm>
            <a:off x="548640" y="3794760"/>
            <a:ext cx="457200" cy="274320"/>
          </a:xfrm>
          <a:prstGeom prst="rect">
            <a:avLst/>
          </a:prstGeom>
          <a:noFill/>
          <a:ln/>
        </p:spPr>
        <p:txBody>
          <a:bodyPr wrap="square" lIns="0" tIns="0" rIns="0" bIns="0" rtlCol="0" anchor="ctr"/>
          <a:lstStyle/>
          <a:p>
            <a:pPr marL="0" indent="0">
              <a:buNone/>
            </a:pPr>
            <a:r>
              <a:rPr lang="en-US" sz="1400" dirty="0">
                <a:solidFill>
                  <a:srgbClr val="D4382C"/>
                </a:solidFill>
                <a:latin typeface="Arial Black" pitchFamily="34" charset="0"/>
                <a:ea typeface="Arial Black" pitchFamily="34" charset="-122"/>
                <a:cs typeface="Arial Black" pitchFamily="34" charset="-120"/>
              </a:rPr>
              <a:t>06</a:t>
            </a:r>
            <a:endParaRPr lang="en-US" sz="1400" dirty="0"/>
          </a:p>
        </p:txBody>
      </p:sp>
      <p:sp>
        <p:nvSpPr>
          <p:cNvPr id="26" name="Text 23"/>
          <p:cNvSpPr/>
          <p:nvPr/>
        </p:nvSpPr>
        <p:spPr>
          <a:xfrm>
            <a:off x="1097280" y="3794760"/>
            <a:ext cx="4114800" cy="228600"/>
          </a:xfrm>
          <a:prstGeom prst="rect">
            <a:avLst/>
          </a:prstGeom>
          <a:noFill/>
          <a:ln/>
        </p:spPr>
        <p:txBody>
          <a:bodyPr wrap="square" lIns="0" tIns="0" rIns="0" bIns="0" rtlCol="0" anchor="ctr"/>
          <a:lstStyle/>
          <a:p>
            <a:pPr marL="0" indent="0">
              <a:buNone/>
            </a:pPr>
            <a:r>
              <a:rPr lang="en-US" sz="1100" b="1" dirty="0">
                <a:solidFill>
                  <a:srgbClr val="192231"/>
                </a:solidFill>
                <a:latin typeface="Calibri" pitchFamily="34" charset="0"/>
                <a:ea typeface="Calibri" pitchFamily="34" charset="-122"/>
                <a:cs typeface="Calibri" pitchFamily="34" charset="-120"/>
              </a:rPr>
              <a:t>We deliver within structured timelines</a:t>
            </a:r>
            <a:endParaRPr lang="en-US" sz="1100" dirty="0"/>
          </a:p>
        </p:txBody>
      </p:sp>
      <p:sp>
        <p:nvSpPr>
          <p:cNvPr id="27" name="Text 24"/>
          <p:cNvSpPr/>
          <p:nvPr/>
        </p:nvSpPr>
        <p:spPr>
          <a:xfrm>
            <a:off x="1097280" y="4041648"/>
            <a:ext cx="4114800" cy="228600"/>
          </a:xfrm>
          <a:prstGeom prst="rect">
            <a:avLst/>
          </a:prstGeom>
          <a:noFill/>
          <a:ln/>
        </p:spPr>
        <p:txBody>
          <a:bodyPr wrap="square" lIns="0" tIns="0" rIns="0" bIns="0" rtlCol="0" anchor="ctr"/>
          <a:lstStyle/>
          <a:p>
            <a:pPr marL="0" indent="0">
              <a:buNone/>
            </a:pPr>
            <a:r>
              <a:rPr lang="en-US" sz="900" dirty="0">
                <a:solidFill>
                  <a:srgbClr val="6B7280"/>
                </a:solidFill>
                <a:latin typeface="Calibri Light" pitchFamily="34" charset="0"/>
                <a:ea typeface="Calibri Light" pitchFamily="34" charset="-122"/>
                <a:cs typeface="Calibri Light" pitchFamily="34" charset="-120"/>
              </a:rPr>
              <a:t>Briefing report within 24 hours. Full response within programme.</a:t>
            </a:r>
            <a:endParaRPr lang="en-US" sz="900" dirty="0"/>
          </a:p>
        </p:txBody>
      </p:sp>
      <p:sp>
        <p:nvSpPr>
          <p:cNvPr id="28" name="Shape 25"/>
          <p:cNvSpPr/>
          <p:nvPr/>
        </p:nvSpPr>
        <p:spPr>
          <a:xfrm>
            <a:off x="0" y="4800600"/>
            <a:ext cx="9144000" cy="342900"/>
          </a:xfrm>
          <a:prstGeom prst="rect">
            <a:avLst/>
          </a:prstGeom>
          <a:solidFill>
            <a:srgbClr val="F3F4F6"/>
          </a:solidFill>
          <a:ln/>
        </p:spPr>
        <p:txBody>
          <a:bodyPr/>
          <a:lstStyle/>
          <a:p>
            <a:endParaRPr lang="en-GB"/>
          </a:p>
        </p:txBody>
      </p:sp>
      <p:sp>
        <p:nvSpPr>
          <p:cNvPr id="29" name="Text 26"/>
          <p:cNvSpPr/>
          <p:nvPr/>
        </p:nvSpPr>
        <p:spPr>
          <a:xfrm>
            <a:off x="457200" y="4828032"/>
            <a:ext cx="2743200" cy="274320"/>
          </a:xfrm>
          <a:prstGeom prst="rect">
            <a:avLst/>
          </a:prstGeom>
          <a:noFill/>
          <a:ln/>
        </p:spPr>
        <p:txBody>
          <a:bodyPr wrap="square" lIns="0" tIns="0" rIns="0" bIns="0" rtlCol="0" anchor="ctr"/>
          <a:lstStyle/>
          <a:p>
            <a:pPr marL="0" indent="0">
              <a:buNone/>
            </a:pPr>
            <a:r>
              <a:rPr lang="en-US" sz="800" dirty="0">
                <a:solidFill>
                  <a:srgbClr val="6B7280"/>
                </a:solidFill>
                <a:latin typeface="Calibri Light" pitchFamily="34" charset="0"/>
                <a:ea typeface="Calibri Light" pitchFamily="34" charset="-122"/>
                <a:cs typeface="Calibri Light" pitchFamily="34" charset="-120"/>
              </a:rPr>
              <a:t>tenderlab.co.uk</a:t>
            </a:r>
            <a:endParaRPr lang="en-US" sz="800" dirty="0"/>
          </a:p>
        </p:txBody>
      </p:sp>
      <p:pic>
        <p:nvPicPr>
          <p:cNvPr id="30" name="Image 1" descr="preencoded.png"/>
          <p:cNvPicPr>
            <a:picLocks noChangeAspect="1"/>
          </p:cNvPicPr>
          <p:nvPr/>
        </p:nvPicPr>
        <p:blipFill>
          <a:blip r:embed="rId4"/>
          <a:stretch>
            <a:fillRect/>
          </a:stretch>
        </p:blipFill>
        <p:spPr>
          <a:xfrm>
            <a:off x="8229600" y="4709160"/>
            <a:ext cx="502920" cy="50292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32004"/>
          </a:xfrm>
          <a:prstGeom prst="rect">
            <a:avLst/>
          </a:prstGeom>
          <a:solidFill>
            <a:srgbClr val="D4382C"/>
          </a:solidFill>
          <a:ln/>
        </p:spPr>
        <p:txBody>
          <a:bodyPr/>
          <a:lstStyle/>
          <a:p>
            <a:endParaRPr lang="en-GB"/>
          </a:p>
        </p:txBody>
      </p:sp>
      <p:sp>
        <p:nvSpPr>
          <p:cNvPr id="3" name="Text 1"/>
          <p:cNvSpPr/>
          <p:nvPr/>
        </p:nvSpPr>
        <p:spPr>
          <a:xfrm>
            <a:off x="548640" y="1645920"/>
            <a:ext cx="1371600" cy="457200"/>
          </a:xfrm>
          <a:prstGeom prst="rect">
            <a:avLst/>
          </a:prstGeom>
          <a:noFill/>
          <a:ln/>
        </p:spPr>
        <p:txBody>
          <a:bodyPr wrap="square" lIns="0" tIns="0" rIns="0" bIns="0" rtlCol="0" anchor="ctr"/>
          <a:lstStyle/>
          <a:p>
            <a:pPr marL="0" indent="0">
              <a:buNone/>
            </a:pPr>
            <a:r>
              <a:rPr lang="en-US" sz="2200" dirty="0">
                <a:solidFill>
                  <a:srgbClr val="5A7A96"/>
                </a:solidFill>
                <a:latin typeface="Arial" pitchFamily="34" charset="0"/>
                <a:ea typeface="Arial" pitchFamily="34" charset="-122"/>
                <a:cs typeface="Arial" pitchFamily="34" charset="-120"/>
              </a:rPr>
              <a:t>04</a:t>
            </a:r>
            <a:endParaRPr lang="en-US" sz="2200" dirty="0"/>
          </a:p>
        </p:txBody>
      </p:sp>
      <p:sp>
        <p:nvSpPr>
          <p:cNvPr id="4" name="Text 2"/>
          <p:cNvSpPr/>
          <p:nvPr/>
        </p:nvSpPr>
        <p:spPr>
          <a:xfrm>
            <a:off x="548640" y="2103120"/>
            <a:ext cx="7315200" cy="1463040"/>
          </a:xfrm>
          <a:prstGeom prst="rect">
            <a:avLst/>
          </a:prstGeom>
          <a:noFill/>
          <a:ln/>
        </p:spPr>
        <p:txBody>
          <a:bodyPr wrap="square" lIns="0" tIns="0" rIns="0" bIns="0" rtlCol="0" anchor="ctr"/>
          <a:lstStyle/>
          <a:p>
            <a:pPr marL="0" indent="0">
              <a:lnSpc>
                <a:spcPct val="90000"/>
              </a:lnSpc>
              <a:buNone/>
            </a:pPr>
            <a:r>
              <a:rPr lang="en-US" sz="4800" dirty="0">
                <a:solidFill>
                  <a:srgbClr val="FFFFFF"/>
                </a:solidFill>
                <a:latin typeface="Arial Black" pitchFamily="34" charset="0"/>
                <a:ea typeface="Arial Black" pitchFamily="34" charset="-122"/>
                <a:cs typeface="Arial Black" pitchFamily="34" charset="-120"/>
              </a:rPr>
              <a:t>BRAND</a:t>
            </a:r>
            <a:endParaRPr lang="en-US" sz="4800" dirty="0"/>
          </a:p>
          <a:p>
            <a:pPr marL="0" indent="0">
              <a:lnSpc>
                <a:spcPct val="90000"/>
              </a:lnSpc>
              <a:buNone/>
            </a:pPr>
            <a:r>
              <a:rPr lang="en-US" sz="4800" dirty="0">
                <a:solidFill>
                  <a:srgbClr val="FFFFFF"/>
                </a:solidFill>
                <a:latin typeface="Arial Black" pitchFamily="34" charset="0"/>
                <a:ea typeface="Arial Black" pitchFamily="34" charset="-122"/>
                <a:cs typeface="Arial Black" pitchFamily="34" charset="-120"/>
              </a:rPr>
              <a:t>IDENTITY</a:t>
            </a:r>
            <a:endParaRPr lang="en-US" sz="4800" dirty="0"/>
          </a:p>
        </p:txBody>
      </p:sp>
      <p:sp>
        <p:nvSpPr>
          <p:cNvPr id="5" name="Shape 3"/>
          <p:cNvSpPr/>
          <p:nvPr/>
        </p:nvSpPr>
        <p:spPr>
          <a:xfrm>
            <a:off x="548640" y="3657600"/>
            <a:ext cx="1828800" cy="0"/>
          </a:xfrm>
          <a:prstGeom prst="line">
            <a:avLst/>
          </a:prstGeom>
          <a:noFill/>
          <a:ln w="38100">
            <a:solidFill>
              <a:srgbClr val="D4382C"/>
            </a:solidFill>
            <a:prstDash val="solid"/>
          </a:ln>
        </p:spPr>
        <p:txBody>
          <a:bodyPr/>
          <a:lstStyle/>
          <a:p>
            <a:endParaRPr lang="en-GB"/>
          </a:p>
        </p:txBody>
      </p:sp>
      <p:pic>
        <p:nvPicPr>
          <p:cNvPr id="6" name="Image 0" descr="preencoded.png"/>
          <p:cNvPicPr>
            <a:picLocks noChangeAspect="1"/>
          </p:cNvPicPr>
          <p:nvPr/>
        </p:nvPicPr>
        <p:blipFill>
          <a:blip r:embed="rId4"/>
          <a:stretch>
            <a:fillRect/>
          </a:stretch>
        </p:blipFill>
        <p:spPr>
          <a:xfrm>
            <a:off x="7772400" y="4114800"/>
            <a:ext cx="731520" cy="73152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32004"/>
          </a:xfrm>
          <a:prstGeom prst="rect">
            <a:avLst/>
          </a:prstGeom>
          <a:solidFill>
            <a:srgbClr val="D4382C"/>
          </a:solidFill>
          <a:ln/>
        </p:spPr>
        <p:txBody>
          <a:bodyPr/>
          <a:lstStyle/>
          <a:p>
            <a:endParaRPr lang="en-GB"/>
          </a:p>
        </p:txBody>
      </p:sp>
      <p:sp>
        <p:nvSpPr>
          <p:cNvPr id="3" name="Text 1"/>
          <p:cNvSpPr/>
          <p:nvPr/>
        </p:nvSpPr>
        <p:spPr>
          <a:xfrm>
            <a:off x="548640" y="274320"/>
            <a:ext cx="4572000" cy="457200"/>
          </a:xfrm>
          <a:prstGeom prst="rect">
            <a:avLst/>
          </a:prstGeom>
          <a:noFill/>
          <a:ln/>
        </p:spPr>
        <p:txBody>
          <a:bodyPr wrap="square" lIns="0" tIns="0" rIns="0" bIns="0" rtlCol="0" anchor="ctr"/>
          <a:lstStyle/>
          <a:p>
            <a:pPr marL="0" indent="0">
              <a:buNone/>
            </a:pPr>
            <a:r>
              <a:rPr lang="en-US" sz="2800" dirty="0">
                <a:solidFill>
                  <a:srgbClr val="192231"/>
                </a:solidFill>
                <a:latin typeface="Arial Black" pitchFamily="34" charset="0"/>
                <a:ea typeface="Arial Black" pitchFamily="34" charset="-122"/>
                <a:cs typeface="Arial Black" pitchFamily="34" charset="-120"/>
              </a:rPr>
              <a:t>Logo System</a:t>
            </a:r>
            <a:endParaRPr lang="en-US" sz="2800" dirty="0"/>
          </a:p>
        </p:txBody>
      </p:sp>
      <p:sp>
        <p:nvSpPr>
          <p:cNvPr id="4" name="Shape 2"/>
          <p:cNvSpPr/>
          <p:nvPr/>
        </p:nvSpPr>
        <p:spPr>
          <a:xfrm>
            <a:off x="548640" y="914400"/>
            <a:ext cx="3474720" cy="2286000"/>
          </a:xfrm>
          <a:prstGeom prst="rect">
            <a:avLst/>
          </a:prstGeom>
          <a:solidFill>
            <a:srgbClr val="FAFAF5"/>
          </a:solidFill>
          <a:ln w="12700">
            <a:solidFill>
              <a:srgbClr val="E5E7EB"/>
            </a:solidFill>
            <a:prstDash val="solid"/>
          </a:ln>
        </p:spPr>
        <p:txBody>
          <a:bodyPr/>
          <a:lstStyle/>
          <a:p>
            <a:endParaRPr lang="en-GB"/>
          </a:p>
        </p:txBody>
      </p:sp>
      <p:pic>
        <p:nvPicPr>
          <p:cNvPr id="5" name="Image 0" descr="preencoded.png"/>
          <p:cNvPicPr>
            <a:picLocks noChangeAspect="1"/>
          </p:cNvPicPr>
          <p:nvPr/>
        </p:nvPicPr>
        <p:blipFill>
          <a:blip r:embed="rId3"/>
          <a:stretch>
            <a:fillRect/>
          </a:stretch>
        </p:blipFill>
        <p:spPr>
          <a:xfrm>
            <a:off x="1097280" y="1097280"/>
            <a:ext cx="2011680" cy="1828800"/>
          </a:xfrm>
          <a:prstGeom prst="rect">
            <a:avLst/>
          </a:prstGeom>
        </p:spPr>
      </p:pic>
      <p:sp>
        <p:nvSpPr>
          <p:cNvPr id="6" name="Text 3"/>
          <p:cNvSpPr/>
          <p:nvPr/>
        </p:nvSpPr>
        <p:spPr>
          <a:xfrm>
            <a:off x="548640" y="3246120"/>
            <a:ext cx="3474720" cy="182880"/>
          </a:xfrm>
          <a:prstGeom prst="rect">
            <a:avLst/>
          </a:prstGeom>
          <a:noFill/>
          <a:ln/>
        </p:spPr>
        <p:txBody>
          <a:bodyPr wrap="square" lIns="0" tIns="0" rIns="0" bIns="0" rtlCol="0" anchor="ctr"/>
          <a:lstStyle/>
          <a:p>
            <a:pPr marL="0" indent="0" algn="ctr">
              <a:buNone/>
            </a:pPr>
            <a:r>
              <a:rPr lang="en-US" sz="800" kern="0" spc="300" dirty="0">
                <a:solidFill>
                  <a:srgbClr val="6B7280"/>
                </a:solidFill>
                <a:latin typeface="Calibri" pitchFamily="34" charset="0"/>
                <a:ea typeface="Calibri" pitchFamily="34" charset="-122"/>
                <a:cs typeface="Calibri" pitchFamily="34" charset="-120"/>
              </a:rPr>
              <a:t>PRIMARY (transparent)</a:t>
            </a:r>
            <a:endParaRPr lang="en-US" sz="800" dirty="0"/>
          </a:p>
        </p:txBody>
      </p:sp>
      <p:sp>
        <p:nvSpPr>
          <p:cNvPr id="7" name="Shape 4"/>
          <p:cNvSpPr/>
          <p:nvPr/>
        </p:nvSpPr>
        <p:spPr>
          <a:xfrm>
            <a:off x="4297680" y="914400"/>
            <a:ext cx="2103120" cy="1371600"/>
          </a:xfrm>
          <a:prstGeom prst="rect">
            <a:avLst/>
          </a:prstGeom>
          <a:solidFill>
            <a:srgbClr val="192231"/>
          </a:solidFill>
          <a:ln/>
        </p:spPr>
        <p:txBody>
          <a:bodyPr/>
          <a:lstStyle/>
          <a:p>
            <a:endParaRPr lang="en-GB"/>
          </a:p>
        </p:txBody>
      </p:sp>
      <p:pic>
        <p:nvPicPr>
          <p:cNvPr id="8" name="Image 1" descr="preencoded.png"/>
          <p:cNvPicPr>
            <a:picLocks noChangeAspect="1"/>
          </p:cNvPicPr>
          <p:nvPr/>
        </p:nvPicPr>
        <p:blipFill>
          <a:blip r:embed="rId3"/>
          <a:stretch>
            <a:fillRect/>
          </a:stretch>
        </p:blipFill>
        <p:spPr>
          <a:xfrm>
            <a:off x="4663440" y="1005840"/>
            <a:ext cx="1097280" cy="1005840"/>
          </a:xfrm>
          <a:prstGeom prst="rect">
            <a:avLst/>
          </a:prstGeom>
        </p:spPr>
      </p:pic>
      <p:sp>
        <p:nvSpPr>
          <p:cNvPr id="9" name="Text 5"/>
          <p:cNvSpPr/>
          <p:nvPr/>
        </p:nvSpPr>
        <p:spPr>
          <a:xfrm>
            <a:off x="4297680" y="2331720"/>
            <a:ext cx="2103120" cy="182880"/>
          </a:xfrm>
          <a:prstGeom prst="rect">
            <a:avLst/>
          </a:prstGeom>
          <a:noFill/>
          <a:ln/>
        </p:spPr>
        <p:txBody>
          <a:bodyPr wrap="square" lIns="0" tIns="0" rIns="0" bIns="0" rtlCol="0" anchor="ctr"/>
          <a:lstStyle/>
          <a:p>
            <a:pPr marL="0" indent="0" algn="ctr">
              <a:buNone/>
            </a:pPr>
            <a:r>
              <a:rPr lang="en-US" sz="700" kern="0" spc="300" dirty="0">
                <a:solidFill>
                  <a:srgbClr val="6B7280"/>
                </a:solidFill>
                <a:latin typeface="Calibri" pitchFamily="34" charset="0"/>
                <a:ea typeface="Calibri" pitchFamily="34" charset="-122"/>
                <a:cs typeface="Calibri" pitchFamily="34" charset="-120"/>
              </a:rPr>
              <a:t>ON MIDNIGHT INK</a:t>
            </a:r>
            <a:endParaRPr lang="en-US" sz="700" dirty="0"/>
          </a:p>
        </p:txBody>
      </p:sp>
      <p:sp>
        <p:nvSpPr>
          <p:cNvPr id="10" name="Shape 6"/>
          <p:cNvSpPr/>
          <p:nvPr/>
        </p:nvSpPr>
        <p:spPr>
          <a:xfrm>
            <a:off x="6675120" y="914400"/>
            <a:ext cx="2103120" cy="1371600"/>
          </a:xfrm>
          <a:prstGeom prst="rect">
            <a:avLst/>
          </a:prstGeom>
          <a:solidFill>
            <a:srgbClr val="3B5068"/>
          </a:solidFill>
          <a:ln/>
        </p:spPr>
        <p:txBody>
          <a:bodyPr/>
          <a:lstStyle/>
          <a:p>
            <a:endParaRPr lang="en-GB"/>
          </a:p>
        </p:txBody>
      </p:sp>
      <p:pic>
        <p:nvPicPr>
          <p:cNvPr id="11" name="Image 2" descr="preencoded.png"/>
          <p:cNvPicPr>
            <a:picLocks noChangeAspect="1"/>
          </p:cNvPicPr>
          <p:nvPr/>
        </p:nvPicPr>
        <p:blipFill>
          <a:blip r:embed="rId3"/>
          <a:stretch>
            <a:fillRect/>
          </a:stretch>
        </p:blipFill>
        <p:spPr>
          <a:xfrm>
            <a:off x="7040880" y="1005840"/>
            <a:ext cx="1097280" cy="1005840"/>
          </a:xfrm>
          <a:prstGeom prst="rect">
            <a:avLst/>
          </a:prstGeom>
        </p:spPr>
      </p:pic>
      <p:sp>
        <p:nvSpPr>
          <p:cNvPr id="12" name="Text 7"/>
          <p:cNvSpPr/>
          <p:nvPr/>
        </p:nvSpPr>
        <p:spPr>
          <a:xfrm>
            <a:off x="6675120" y="2331720"/>
            <a:ext cx="2103120" cy="182880"/>
          </a:xfrm>
          <a:prstGeom prst="rect">
            <a:avLst/>
          </a:prstGeom>
          <a:noFill/>
          <a:ln/>
        </p:spPr>
        <p:txBody>
          <a:bodyPr wrap="square" lIns="0" tIns="0" rIns="0" bIns="0" rtlCol="0" anchor="ctr"/>
          <a:lstStyle/>
          <a:p>
            <a:pPr marL="0" indent="0" algn="ctr">
              <a:buNone/>
            </a:pPr>
            <a:r>
              <a:rPr lang="en-US" sz="700" kern="0" spc="300" dirty="0">
                <a:solidFill>
                  <a:srgbClr val="6B7280"/>
                </a:solidFill>
                <a:latin typeface="Calibri" pitchFamily="34" charset="0"/>
                <a:ea typeface="Calibri" pitchFamily="34" charset="-122"/>
                <a:cs typeface="Calibri" pitchFamily="34" charset="-120"/>
              </a:rPr>
              <a:t>ON SLATE</a:t>
            </a:r>
            <a:endParaRPr lang="en-US" sz="700" dirty="0"/>
          </a:p>
        </p:txBody>
      </p:sp>
      <p:sp>
        <p:nvSpPr>
          <p:cNvPr id="13" name="Text 8"/>
          <p:cNvSpPr/>
          <p:nvPr/>
        </p:nvSpPr>
        <p:spPr>
          <a:xfrm>
            <a:off x="4297680" y="2651760"/>
            <a:ext cx="4480560" cy="2011680"/>
          </a:xfrm>
          <a:prstGeom prst="rect">
            <a:avLst/>
          </a:prstGeom>
          <a:noFill/>
          <a:ln/>
        </p:spPr>
        <p:txBody>
          <a:bodyPr wrap="square" lIns="0" tIns="0" rIns="0" bIns="0" rtlCol="0" anchor="ctr"/>
          <a:lstStyle/>
          <a:p>
            <a:pPr marL="0" indent="0">
              <a:buNone/>
            </a:pPr>
            <a:r>
              <a:rPr lang="en-US" sz="1100" b="1" dirty="0">
                <a:solidFill>
                  <a:srgbClr val="192231"/>
                </a:solidFill>
              </a:rPr>
              <a:t>Construction  </a:t>
            </a:r>
            <a:r>
              <a:rPr lang="en-US" sz="950" dirty="0">
                <a:solidFill>
                  <a:srgbClr val="6B7280"/>
                </a:solidFill>
              </a:rPr>
              <a:t>TENDER in bold sans-serif caps. LAB in rounded rectangular container. Connected by horizontal rule. Transparent background.</a:t>
            </a:r>
            <a:endParaRPr lang="en-US" sz="1100" dirty="0"/>
          </a:p>
          <a:p>
            <a:pPr marL="0" indent="0">
              <a:buNone/>
            </a:pPr>
            <a:endParaRPr lang="en-US" sz="1100" dirty="0"/>
          </a:p>
          <a:p>
            <a:pPr marL="0" indent="0">
              <a:buNone/>
            </a:pPr>
            <a:r>
              <a:rPr lang="en-US" sz="1100" b="1" dirty="0">
                <a:solidFill>
                  <a:srgbClr val="192231"/>
                </a:solidFill>
              </a:rPr>
              <a:t>Clear Space  </a:t>
            </a:r>
            <a:r>
              <a:rPr lang="en-US" sz="950" dirty="0">
                <a:solidFill>
                  <a:srgbClr val="6B7280"/>
                </a:solidFill>
              </a:rPr>
              <a:t>Minimum clearance = height of letter L from all edges.</a:t>
            </a:r>
            <a:endParaRPr lang="en-US" sz="1100" dirty="0"/>
          </a:p>
          <a:p>
            <a:pPr marL="0" indent="0">
              <a:buNone/>
            </a:pPr>
            <a:endParaRPr lang="en-US" sz="1100" dirty="0"/>
          </a:p>
          <a:p>
            <a:pPr marL="0" indent="0">
              <a:buNone/>
            </a:pPr>
            <a:r>
              <a:rPr lang="en-US" sz="1100" b="1" dirty="0">
                <a:solidFill>
                  <a:srgbClr val="192231"/>
                </a:solidFill>
              </a:rPr>
              <a:t>Minimum Size  </a:t>
            </a:r>
            <a:r>
              <a:rPr lang="en-US" sz="950" dirty="0">
                <a:solidFill>
                  <a:srgbClr val="6B7280"/>
                </a:solidFill>
              </a:rPr>
              <a:t>30mm (print) / 120px (screen).</a:t>
            </a:r>
            <a:endParaRPr lang="en-US" sz="1100" dirty="0"/>
          </a:p>
          <a:p>
            <a:pPr marL="0" indent="0">
              <a:buNone/>
            </a:pPr>
            <a:endParaRPr lang="en-US" sz="1100" dirty="0"/>
          </a:p>
          <a:p>
            <a:pPr marL="0" indent="0">
              <a:buNone/>
            </a:pPr>
            <a:r>
              <a:rPr lang="en-US" sz="1100" b="1" dirty="0">
                <a:solidFill>
                  <a:srgbClr val="D4382C"/>
                </a:solidFill>
              </a:rPr>
              <a:t>Prohibited  </a:t>
            </a:r>
            <a:r>
              <a:rPr lang="en-US" sz="950" dirty="0">
                <a:solidFill>
                  <a:srgbClr val="6B7280"/>
                </a:solidFill>
              </a:rPr>
              <a:t>No rotation, skew, effects, separation, or unapproved colours. No white box behind logo.</a:t>
            </a:r>
            <a:endParaRPr lang="en-US" sz="1100" dirty="0"/>
          </a:p>
        </p:txBody>
      </p:sp>
      <p:sp>
        <p:nvSpPr>
          <p:cNvPr id="14" name="Shape 9"/>
          <p:cNvSpPr/>
          <p:nvPr/>
        </p:nvSpPr>
        <p:spPr>
          <a:xfrm>
            <a:off x="0" y="4800600"/>
            <a:ext cx="9144000" cy="342900"/>
          </a:xfrm>
          <a:prstGeom prst="rect">
            <a:avLst/>
          </a:prstGeom>
          <a:solidFill>
            <a:srgbClr val="F3F4F6"/>
          </a:solidFill>
          <a:ln/>
        </p:spPr>
        <p:txBody>
          <a:bodyPr/>
          <a:lstStyle/>
          <a:p>
            <a:endParaRPr lang="en-GB"/>
          </a:p>
        </p:txBody>
      </p:sp>
      <p:sp>
        <p:nvSpPr>
          <p:cNvPr id="15" name="Text 10"/>
          <p:cNvSpPr/>
          <p:nvPr/>
        </p:nvSpPr>
        <p:spPr>
          <a:xfrm>
            <a:off x="457200" y="4828032"/>
            <a:ext cx="2743200" cy="274320"/>
          </a:xfrm>
          <a:prstGeom prst="rect">
            <a:avLst/>
          </a:prstGeom>
          <a:noFill/>
          <a:ln/>
        </p:spPr>
        <p:txBody>
          <a:bodyPr wrap="square" lIns="0" tIns="0" rIns="0" bIns="0" rtlCol="0" anchor="ctr"/>
          <a:lstStyle/>
          <a:p>
            <a:pPr marL="0" indent="0">
              <a:buNone/>
            </a:pPr>
            <a:r>
              <a:rPr lang="en-US" sz="800" dirty="0">
                <a:solidFill>
                  <a:srgbClr val="6B7280"/>
                </a:solidFill>
                <a:latin typeface="Calibri Light" pitchFamily="34" charset="0"/>
                <a:ea typeface="Calibri Light" pitchFamily="34" charset="-122"/>
                <a:cs typeface="Calibri Light" pitchFamily="34" charset="-120"/>
              </a:rPr>
              <a:t>tenderlab.co.uk</a:t>
            </a:r>
            <a:endParaRPr lang="en-US" sz="800" dirty="0"/>
          </a:p>
        </p:txBody>
      </p:sp>
      <p:pic>
        <p:nvPicPr>
          <p:cNvPr id="16" name="Image 3" descr="preencoded.png"/>
          <p:cNvPicPr>
            <a:picLocks noChangeAspect="1"/>
          </p:cNvPicPr>
          <p:nvPr/>
        </p:nvPicPr>
        <p:blipFill>
          <a:blip r:embed="rId3"/>
          <a:stretch>
            <a:fillRect/>
          </a:stretch>
        </p:blipFill>
        <p:spPr>
          <a:xfrm>
            <a:off x="8229600" y="4709160"/>
            <a:ext cx="502920" cy="50292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32004"/>
          </a:xfrm>
          <a:prstGeom prst="rect">
            <a:avLst/>
          </a:prstGeom>
          <a:solidFill>
            <a:srgbClr val="D4382C"/>
          </a:solidFill>
          <a:ln/>
        </p:spPr>
        <p:txBody>
          <a:bodyPr/>
          <a:lstStyle/>
          <a:p>
            <a:endParaRPr lang="en-GB"/>
          </a:p>
        </p:txBody>
      </p:sp>
      <p:sp>
        <p:nvSpPr>
          <p:cNvPr id="3" name="Text 1"/>
          <p:cNvSpPr/>
          <p:nvPr/>
        </p:nvSpPr>
        <p:spPr>
          <a:xfrm>
            <a:off x="548640" y="274320"/>
            <a:ext cx="8229600" cy="457200"/>
          </a:xfrm>
          <a:prstGeom prst="rect">
            <a:avLst/>
          </a:prstGeom>
          <a:noFill/>
          <a:ln/>
        </p:spPr>
        <p:txBody>
          <a:bodyPr wrap="square" lIns="0" tIns="0" rIns="0" bIns="0" rtlCol="0" anchor="ctr"/>
          <a:lstStyle/>
          <a:p>
            <a:pPr marL="0" indent="0">
              <a:buNone/>
            </a:pPr>
            <a:r>
              <a:rPr lang="en-US" sz="2800" dirty="0">
                <a:solidFill>
                  <a:srgbClr val="192231"/>
                </a:solidFill>
                <a:latin typeface="Arial Black" pitchFamily="34" charset="0"/>
                <a:ea typeface="Arial Black" pitchFamily="34" charset="-122"/>
                <a:cs typeface="Arial Black" pitchFamily="34" charset="-120"/>
              </a:rPr>
              <a:t>Colour Palette</a:t>
            </a:r>
            <a:endParaRPr lang="en-US" sz="2800" dirty="0"/>
          </a:p>
        </p:txBody>
      </p:sp>
      <p:sp>
        <p:nvSpPr>
          <p:cNvPr id="4" name="Shape 2"/>
          <p:cNvSpPr/>
          <p:nvPr/>
        </p:nvSpPr>
        <p:spPr>
          <a:xfrm>
            <a:off x="548640" y="914400"/>
            <a:ext cx="2560320" cy="1280160"/>
          </a:xfrm>
          <a:prstGeom prst="rect">
            <a:avLst/>
          </a:prstGeom>
          <a:solidFill>
            <a:srgbClr val="D4382C"/>
          </a:solidFill>
          <a:ln/>
        </p:spPr>
        <p:txBody>
          <a:bodyPr/>
          <a:lstStyle/>
          <a:p>
            <a:endParaRPr lang="en-GB"/>
          </a:p>
        </p:txBody>
      </p:sp>
      <p:sp>
        <p:nvSpPr>
          <p:cNvPr id="5" name="Text 3"/>
          <p:cNvSpPr/>
          <p:nvPr/>
        </p:nvSpPr>
        <p:spPr>
          <a:xfrm>
            <a:off x="685800" y="1005840"/>
            <a:ext cx="2286000" cy="22860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Heritage Red</a:t>
            </a:r>
            <a:endParaRPr lang="en-US" sz="1300" dirty="0"/>
          </a:p>
        </p:txBody>
      </p:sp>
      <p:sp>
        <p:nvSpPr>
          <p:cNvPr id="6" name="Text 4"/>
          <p:cNvSpPr/>
          <p:nvPr/>
        </p:nvSpPr>
        <p:spPr>
          <a:xfrm>
            <a:off x="685800" y="1234440"/>
            <a:ext cx="2286000" cy="182880"/>
          </a:xfrm>
          <a:prstGeom prst="rect">
            <a:avLst/>
          </a:prstGeom>
          <a:noFill/>
          <a:ln/>
        </p:spPr>
        <p:txBody>
          <a:bodyPr wrap="square" lIns="0" tIns="0" rIns="0" bIns="0" rtlCol="0" anchor="ctr"/>
          <a:lstStyle/>
          <a:p>
            <a:pPr marL="0" indent="0">
              <a:buNone/>
            </a:pPr>
            <a:r>
              <a:rPr lang="en-US" sz="900" dirty="0">
                <a:solidFill>
                  <a:srgbClr val="FFFFFF"/>
                </a:solidFill>
                <a:latin typeface="Calibri Light" pitchFamily="34" charset="0"/>
                <a:ea typeface="Calibri Light" pitchFamily="34" charset="-122"/>
                <a:cs typeface="Calibri Light" pitchFamily="34" charset="-120"/>
              </a:rPr>
              <a:t>#D4382C  |  PMS 7621 C</a:t>
            </a:r>
            <a:endParaRPr lang="en-US" sz="900" dirty="0"/>
          </a:p>
        </p:txBody>
      </p:sp>
      <p:sp>
        <p:nvSpPr>
          <p:cNvPr id="7" name="Text 5"/>
          <p:cNvSpPr/>
          <p:nvPr/>
        </p:nvSpPr>
        <p:spPr>
          <a:xfrm>
            <a:off x="685800" y="1463040"/>
            <a:ext cx="2286000" cy="182880"/>
          </a:xfrm>
          <a:prstGeom prst="rect">
            <a:avLst/>
          </a:prstGeom>
          <a:noFill/>
          <a:ln/>
        </p:spPr>
        <p:txBody>
          <a:bodyPr wrap="square" lIns="0" tIns="0" rIns="0" bIns="0" rtlCol="0" anchor="ctr"/>
          <a:lstStyle/>
          <a:p>
            <a:pPr marL="0" indent="0">
              <a:buNone/>
            </a:pPr>
            <a:r>
              <a:rPr lang="en-US" sz="900" i="1" dirty="0">
                <a:solidFill>
                  <a:srgbClr val="FFFFFF"/>
                </a:solidFill>
                <a:latin typeface="Calibri Light" pitchFamily="34" charset="0"/>
                <a:ea typeface="Calibri Light" pitchFamily="34" charset="-122"/>
                <a:cs typeface="Calibri Light" pitchFamily="34" charset="-120"/>
              </a:rPr>
              <a:t>Logo, headings, accents</a:t>
            </a:r>
            <a:endParaRPr lang="en-US" sz="900" dirty="0"/>
          </a:p>
        </p:txBody>
      </p:sp>
      <p:sp>
        <p:nvSpPr>
          <p:cNvPr id="8" name="Shape 6"/>
          <p:cNvSpPr/>
          <p:nvPr/>
        </p:nvSpPr>
        <p:spPr>
          <a:xfrm>
            <a:off x="3337560" y="914400"/>
            <a:ext cx="2560320" cy="1280160"/>
          </a:xfrm>
          <a:prstGeom prst="rect">
            <a:avLst/>
          </a:prstGeom>
          <a:solidFill>
            <a:srgbClr val="3B5068"/>
          </a:solidFill>
          <a:ln/>
        </p:spPr>
        <p:txBody>
          <a:bodyPr/>
          <a:lstStyle/>
          <a:p>
            <a:endParaRPr lang="en-GB"/>
          </a:p>
        </p:txBody>
      </p:sp>
      <p:sp>
        <p:nvSpPr>
          <p:cNvPr id="9" name="Text 7"/>
          <p:cNvSpPr/>
          <p:nvPr/>
        </p:nvSpPr>
        <p:spPr>
          <a:xfrm>
            <a:off x="3474720" y="1005840"/>
            <a:ext cx="2286000" cy="22860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Slate</a:t>
            </a:r>
            <a:endParaRPr lang="en-US" sz="1300" dirty="0"/>
          </a:p>
        </p:txBody>
      </p:sp>
      <p:sp>
        <p:nvSpPr>
          <p:cNvPr id="10" name="Text 8"/>
          <p:cNvSpPr/>
          <p:nvPr/>
        </p:nvSpPr>
        <p:spPr>
          <a:xfrm>
            <a:off x="3474720" y="1234440"/>
            <a:ext cx="2286000" cy="182880"/>
          </a:xfrm>
          <a:prstGeom prst="rect">
            <a:avLst/>
          </a:prstGeom>
          <a:noFill/>
          <a:ln/>
        </p:spPr>
        <p:txBody>
          <a:bodyPr wrap="square" lIns="0" tIns="0" rIns="0" bIns="0" rtlCol="0" anchor="ctr"/>
          <a:lstStyle/>
          <a:p>
            <a:pPr marL="0" indent="0">
              <a:buNone/>
            </a:pPr>
            <a:r>
              <a:rPr lang="en-US" sz="900" dirty="0">
                <a:solidFill>
                  <a:srgbClr val="FFFFFF"/>
                </a:solidFill>
                <a:latin typeface="Calibri Light" pitchFamily="34" charset="0"/>
                <a:ea typeface="Calibri Light" pitchFamily="34" charset="-122"/>
                <a:cs typeface="Calibri Light" pitchFamily="34" charset="-120"/>
              </a:rPr>
              <a:t>#3B5068  |  PMS 7545 C</a:t>
            </a:r>
            <a:endParaRPr lang="en-US" sz="900" dirty="0"/>
          </a:p>
        </p:txBody>
      </p:sp>
      <p:sp>
        <p:nvSpPr>
          <p:cNvPr id="11" name="Text 9"/>
          <p:cNvSpPr/>
          <p:nvPr/>
        </p:nvSpPr>
        <p:spPr>
          <a:xfrm>
            <a:off x="3474720" y="1463040"/>
            <a:ext cx="2286000" cy="182880"/>
          </a:xfrm>
          <a:prstGeom prst="rect">
            <a:avLst/>
          </a:prstGeom>
          <a:noFill/>
          <a:ln/>
        </p:spPr>
        <p:txBody>
          <a:bodyPr wrap="square" lIns="0" tIns="0" rIns="0" bIns="0" rtlCol="0" anchor="ctr"/>
          <a:lstStyle/>
          <a:p>
            <a:pPr marL="0" indent="0">
              <a:buNone/>
            </a:pPr>
            <a:r>
              <a:rPr lang="en-US" sz="900" i="1" dirty="0">
                <a:solidFill>
                  <a:srgbClr val="FFFFFF"/>
                </a:solidFill>
                <a:latin typeface="Calibri Light" pitchFamily="34" charset="0"/>
                <a:ea typeface="Calibri Light" pitchFamily="34" charset="-122"/>
                <a:cs typeface="Calibri Light" pitchFamily="34" charset="-120"/>
              </a:rPr>
              <a:t>Data, structure, secondary</a:t>
            </a:r>
            <a:endParaRPr lang="en-US" sz="900" dirty="0"/>
          </a:p>
        </p:txBody>
      </p:sp>
      <p:sp>
        <p:nvSpPr>
          <p:cNvPr id="12" name="Shape 10"/>
          <p:cNvSpPr/>
          <p:nvPr/>
        </p:nvSpPr>
        <p:spPr>
          <a:xfrm>
            <a:off x="6126480" y="914400"/>
            <a:ext cx="2560320" cy="1280160"/>
          </a:xfrm>
          <a:prstGeom prst="rect">
            <a:avLst/>
          </a:prstGeom>
          <a:solidFill>
            <a:srgbClr val="192231"/>
          </a:solidFill>
          <a:ln/>
        </p:spPr>
        <p:txBody>
          <a:bodyPr/>
          <a:lstStyle/>
          <a:p>
            <a:endParaRPr lang="en-GB"/>
          </a:p>
        </p:txBody>
      </p:sp>
      <p:sp>
        <p:nvSpPr>
          <p:cNvPr id="13" name="Text 11"/>
          <p:cNvSpPr/>
          <p:nvPr/>
        </p:nvSpPr>
        <p:spPr>
          <a:xfrm>
            <a:off x="6263640" y="1005840"/>
            <a:ext cx="2286000" cy="22860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Midnight Ink</a:t>
            </a:r>
            <a:endParaRPr lang="en-US" sz="1300" dirty="0"/>
          </a:p>
        </p:txBody>
      </p:sp>
      <p:sp>
        <p:nvSpPr>
          <p:cNvPr id="14" name="Text 12"/>
          <p:cNvSpPr/>
          <p:nvPr/>
        </p:nvSpPr>
        <p:spPr>
          <a:xfrm>
            <a:off x="6263640" y="1234440"/>
            <a:ext cx="2286000" cy="182880"/>
          </a:xfrm>
          <a:prstGeom prst="rect">
            <a:avLst/>
          </a:prstGeom>
          <a:noFill/>
          <a:ln/>
        </p:spPr>
        <p:txBody>
          <a:bodyPr wrap="square" lIns="0" tIns="0" rIns="0" bIns="0" rtlCol="0" anchor="ctr"/>
          <a:lstStyle/>
          <a:p>
            <a:pPr marL="0" indent="0">
              <a:buNone/>
            </a:pPr>
            <a:r>
              <a:rPr lang="en-US" sz="900" dirty="0">
                <a:solidFill>
                  <a:srgbClr val="FFFFFF"/>
                </a:solidFill>
                <a:latin typeface="Calibri Light" pitchFamily="34" charset="0"/>
                <a:ea typeface="Calibri Light" pitchFamily="34" charset="-122"/>
                <a:cs typeface="Calibri Light" pitchFamily="34" charset="-120"/>
              </a:rPr>
              <a:t>#192231  |  Custom</a:t>
            </a:r>
            <a:endParaRPr lang="en-US" sz="900" dirty="0"/>
          </a:p>
        </p:txBody>
      </p:sp>
      <p:sp>
        <p:nvSpPr>
          <p:cNvPr id="15" name="Text 13"/>
          <p:cNvSpPr/>
          <p:nvPr/>
        </p:nvSpPr>
        <p:spPr>
          <a:xfrm>
            <a:off x="6263640" y="1463040"/>
            <a:ext cx="2286000" cy="182880"/>
          </a:xfrm>
          <a:prstGeom prst="rect">
            <a:avLst/>
          </a:prstGeom>
          <a:noFill/>
          <a:ln/>
        </p:spPr>
        <p:txBody>
          <a:bodyPr wrap="square" lIns="0" tIns="0" rIns="0" bIns="0" rtlCol="0" anchor="ctr"/>
          <a:lstStyle/>
          <a:p>
            <a:pPr marL="0" indent="0">
              <a:buNone/>
            </a:pPr>
            <a:r>
              <a:rPr lang="en-US" sz="900" i="1" dirty="0">
                <a:solidFill>
                  <a:srgbClr val="FFFFFF"/>
                </a:solidFill>
                <a:latin typeface="Calibri Light" pitchFamily="34" charset="0"/>
                <a:ea typeface="Calibri Light" pitchFamily="34" charset="-122"/>
                <a:cs typeface="Calibri Light" pitchFamily="34" charset="-120"/>
              </a:rPr>
              <a:t>Dark backgrounds, body text</a:t>
            </a:r>
            <a:endParaRPr lang="en-US" sz="900" dirty="0"/>
          </a:p>
        </p:txBody>
      </p:sp>
      <p:sp>
        <p:nvSpPr>
          <p:cNvPr id="16" name="Text 14"/>
          <p:cNvSpPr/>
          <p:nvPr/>
        </p:nvSpPr>
        <p:spPr>
          <a:xfrm>
            <a:off x="548640" y="2377440"/>
            <a:ext cx="8229600" cy="228600"/>
          </a:xfrm>
          <a:prstGeom prst="rect">
            <a:avLst/>
          </a:prstGeom>
          <a:noFill/>
          <a:ln/>
        </p:spPr>
        <p:txBody>
          <a:bodyPr wrap="square" lIns="0" tIns="0" rIns="0" bIns="0" rtlCol="0" anchor="ctr"/>
          <a:lstStyle/>
          <a:p>
            <a:pPr marL="0" indent="0">
              <a:buNone/>
            </a:pPr>
            <a:r>
              <a:rPr lang="en-US" sz="900" kern="0" spc="300" dirty="0">
                <a:solidFill>
                  <a:srgbClr val="6B7280"/>
                </a:solidFill>
                <a:latin typeface="Calibri" pitchFamily="34" charset="0"/>
                <a:ea typeface="Calibri" pitchFamily="34" charset="-122"/>
                <a:cs typeface="Calibri" pitchFamily="34" charset="-120"/>
              </a:rPr>
              <a:t>SUPPORTING</a:t>
            </a:r>
            <a:endParaRPr lang="en-US" sz="900" dirty="0"/>
          </a:p>
        </p:txBody>
      </p:sp>
      <p:sp>
        <p:nvSpPr>
          <p:cNvPr id="17" name="Shape 15"/>
          <p:cNvSpPr/>
          <p:nvPr/>
        </p:nvSpPr>
        <p:spPr>
          <a:xfrm>
            <a:off x="548640" y="2651760"/>
            <a:ext cx="1508760" cy="640080"/>
          </a:xfrm>
          <a:prstGeom prst="rect">
            <a:avLst/>
          </a:prstGeom>
          <a:solidFill>
            <a:srgbClr val="FAFAF5"/>
          </a:solidFill>
          <a:ln w="12700">
            <a:solidFill>
              <a:srgbClr val="E5E7EB"/>
            </a:solidFill>
            <a:prstDash val="solid"/>
          </a:ln>
        </p:spPr>
        <p:txBody>
          <a:bodyPr/>
          <a:lstStyle/>
          <a:p>
            <a:endParaRPr lang="en-GB"/>
          </a:p>
        </p:txBody>
      </p:sp>
      <p:sp>
        <p:nvSpPr>
          <p:cNvPr id="18" name="Text 16"/>
          <p:cNvSpPr/>
          <p:nvPr/>
        </p:nvSpPr>
        <p:spPr>
          <a:xfrm>
            <a:off x="548640" y="3337560"/>
            <a:ext cx="1508760" cy="182880"/>
          </a:xfrm>
          <a:prstGeom prst="rect">
            <a:avLst/>
          </a:prstGeom>
          <a:noFill/>
          <a:ln/>
        </p:spPr>
        <p:txBody>
          <a:bodyPr wrap="square" lIns="0" tIns="0" rIns="0" bIns="0" rtlCol="0" anchor="ctr"/>
          <a:lstStyle/>
          <a:p>
            <a:pPr marL="0" indent="0">
              <a:buNone/>
            </a:pPr>
            <a:r>
              <a:rPr lang="en-US" sz="800" dirty="0">
                <a:solidFill>
                  <a:srgbClr val="6B7280"/>
                </a:solidFill>
                <a:latin typeface="Calibri Light" pitchFamily="34" charset="0"/>
                <a:ea typeface="Calibri Light" pitchFamily="34" charset="-122"/>
                <a:cs typeface="Calibri Light" pitchFamily="34" charset="-120"/>
              </a:rPr>
              <a:t>Off-White #FAFAF5</a:t>
            </a:r>
            <a:endParaRPr lang="en-US" sz="800" dirty="0"/>
          </a:p>
        </p:txBody>
      </p:sp>
      <p:sp>
        <p:nvSpPr>
          <p:cNvPr id="19" name="Shape 17"/>
          <p:cNvSpPr/>
          <p:nvPr/>
        </p:nvSpPr>
        <p:spPr>
          <a:xfrm>
            <a:off x="2240280" y="2651760"/>
            <a:ext cx="1508760" cy="640080"/>
          </a:xfrm>
          <a:prstGeom prst="rect">
            <a:avLst/>
          </a:prstGeom>
          <a:solidFill>
            <a:srgbClr val="F3F4F6"/>
          </a:solidFill>
          <a:ln w="12700">
            <a:solidFill>
              <a:srgbClr val="E5E7EB"/>
            </a:solidFill>
            <a:prstDash val="solid"/>
          </a:ln>
        </p:spPr>
        <p:txBody>
          <a:bodyPr/>
          <a:lstStyle/>
          <a:p>
            <a:endParaRPr lang="en-GB"/>
          </a:p>
        </p:txBody>
      </p:sp>
      <p:sp>
        <p:nvSpPr>
          <p:cNvPr id="20" name="Text 18"/>
          <p:cNvSpPr/>
          <p:nvPr/>
        </p:nvSpPr>
        <p:spPr>
          <a:xfrm>
            <a:off x="2240280" y="3337560"/>
            <a:ext cx="1508760" cy="182880"/>
          </a:xfrm>
          <a:prstGeom prst="rect">
            <a:avLst/>
          </a:prstGeom>
          <a:noFill/>
          <a:ln/>
        </p:spPr>
        <p:txBody>
          <a:bodyPr wrap="square" lIns="0" tIns="0" rIns="0" bIns="0" rtlCol="0" anchor="ctr"/>
          <a:lstStyle/>
          <a:p>
            <a:pPr marL="0" indent="0">
              <a:buNone/>
            </a:pPr>
            <a:r>
              <a:rPr lang="en-US" sz="800" dirty="0">
                <a:solidFill>
                  <a:srgbClr val="6B7280"/>
                </a:solidFill>
                <a:latin typeface="Calibri Light" pitchFamily="34" charset="0"/>
                <a:ea typeface="Calibri Light" pitchFamily="34" charset="-122"/>
                <a:cs typeface="Calibri Light" pitchFamily="34" charset="-120"/>
              </a:rPr>
              <a:t>Light Grey #F3F4F6</a:t>
            </a:r>
            <a:endParaRPr lang="en-US" sz="800" dirty="0"/>
          </a:p>
        </p:txBody>
      </p:sp>
      <p:sp>
        <p:nvSpPr>
          <p:cNvPr id="21" name="Shape 19"/>
          <p:cNvSpPr/>
          <p:nvPr/>
        </p:nvSpPr>
        <p:spPr>
          <a:xfrm>
            <a:off x="3931920" y="2651760"/>
            <a:ext cx="1508760" cy="640080"/>
          </a:xfrm>
          <a:prstGeom prst="rect">
            <a:avLst/>
          </a:prstGeom>
          <a:solidFill>
            <a:srgbClr val="6B7280"/>
          </a:solidFill>
          <a:ln w="12700">
            <a:solidFill>
              <a:srgbClr val="E5E7EB"/>
            </a:solidFill>
            <a:prstDash val="solid"/>
          </a:ln>
        </p:spPr>
        <p:txBody>
          <a:bodyPr/>
          <a:lstStyle/>
          <a:p>
            <a:endParaRPr lang="en-GB"/>
          </a:p>
        </p:txBody>
      </p:sp>
      <p:sp>
        <p:nvSpPr>
          <p:cNvPr id="22" name="Text 20"/>
          <p:cNvSpPr/>
          <p:nvPr/>
        </p:nvSpPr>
        <p:spPr>
          <a:xfrm>
            <a:off x="3931920" y="3337560"/>
            <a:ext cx="1508760" cy="182880"/>
          </a:xfrm>
          <a:prstGeom prst="rect">
            <a:avLst/>
          </a:prstGeom>
          <a:noFill/>
          <a:ln/>
        </p:spPr>
        <p:txBody>
          <a:bodyPr wrap="square" lIns="0" tIns="0" rIns="0" bIns="0" rtlCol="0" anchor="ctr"/>
          <a:lstStyle/>
          <a:p>
            <a:pPr marL="0" indent="0">
              <a:buNone/>
            </a:pPr>
            <a:r>
              <a:rPr lang="en-US" sz="800" dirty="0">
                <a:solidFill>
                  <a:srgbClr val="6B7280"/>
                </a:solidFill>
                <a:latin typeface="Calibri Light" pitchFamily="34" charset="0"/>
                <a:ea typeface="Calibri Light" pitchFamily="34" charset="-122"/>
                <a:cs typeface="Calibri Light" pitchFamily="34" charset="-120"/>
              </a:rPr>
              <a:t>Mid Grey #6B7280</a:t>
            </a:r>
            <a:endParaRPr lang="en-US" sz="800" dirty="0"/>
          </a:p>
        </p:txBody>
      </p:sp>
      <p:sp>
        <p:nvSpPr>
          <p:cNvPr id="23" name="Shape 21"/>
          <p:cNvSpPr/>
          <p:nvPr/>
        </p:nvSpPr>
        <p:spPr>
          <a:xfrm>
            <a:off x="5623560" y="2651760"/>
            <a:ext cx="1508760" cy="640080"/>
          </a:xfrm>
          <a:prstGeom prst="rect">
            <a:avLst/>
          </a:prstGeom>
          <a:solidFill>
            <a:srgbClr val="A3192A"/>
          </a:solidFill>
          <a:ln w="12700">
            <a:solidFill>
              <a:srgbClr val="E5E7EB"/>
            </a:solidFill>
            <a:prstDash val="solid"/>
          </a:ln>
        </p:spPr>
        <p:txBody>
          <a:bodyPr/>
          <a:lstStyle/>
          <a:p>
            <a:endParaRPr lang="en-GB"/>
          </a:p>
        </p:txBody>
      </p:sp>
      <p:sp>
        <p:nvSpPr>
          <p:cNvPr id="24" name="Text 22"/>
          <p:cNvSpPr/>
          <p:nvPr/>
        </p:nvSpPr>
        <p:spPr>
          <a:xfrm>
            <a:off x="5623560" y="3337560"/>
            <a:ext cx="1508760" cy="182880"/>
          </a:xfrm>
          <a:prstGeom prst="rect">
            <a:avLst/>
          </a:prstGeom>
          <a:noFill/>
          <a:ln/>
        </p:spPr>
        <p:txBody>
          <a:bodyPr wrap="square" lIns="0" tIns="0" rIns="0" bIns="0" rtlCol="0" anchor="ctr"/>
          <a:lstStyle/>
          <a:p>
            <a:pPr marL="0" indent="0">
              <a:buNone/>
            </a:pPr>
            <a:r>
              <a:rPr lang="en-US" sz="800" dirty="0">
                <a:solidFill>
                  <a:srgbClr val="6B7280"/>
                </a:solidFill>
                <a:latin typeface="Calibri Light" pitchFamily="34" charset="0"/>
                <a:ea typeface="Calibri Light" pitchFamily="34" charset="-122"/>
                <a:cs typeface="Calibri Light" pitchFamily="34" charset="-120"/>
              </a:rPr>
              <a:t>Crimson #A3192A</a:t>
            </a:r>
            <a:endParaRPr lang="en-US" sz="800" dirty="0"/>
          </a:p>
        </p:txBody>
      </p:sp>
      <p:sp>
        <p:nvSpPr>
          <p:cNvPr id="25" name="Shape 23"/>
          <p:cNvSpPr/>
          <p:nvPr/>
        </p:nvSpPr>
        <p:spPr>
          <a:xfrm>
            <a:off x="7315200" y="2651760"/>
            <a:ext cx="1508760" cy="640080"/>
          </a:xfrm>
          <a:prstGeom prst="rect">
            <a:avLst/>
          </a:prstGeom>
          <a:solidFill>
            <a:srgbClr val="5A7A96"/>
          </a:solidFill>
          <a:ln w="12700">
            <a:solidFill>
              <a:srgbClr val="E5E7EB"/>
            </a:solidFill>
            <a:prstDash val="solid"/>
          </a:ln>
        </p:spPr>
        <p:txBody>
          <a:bodyPr/>
          <a:lstStyle/>
          <a:p>
            <a:endParaRPr lang="en-GB"/>
          </a:p>
        </p:txBody>
      </p:sp>
      <p:sp>
        <p:nvSpPr>
          <p:cNvPr id="26" name="Text 24"/>
          <p:cNvSpPr/>
          <p:nvPr/>
        </p:nvSpPr>
        <p:spPr>
          <a:xfrm>
            <a:off x="7315200" y="3337560"/>
            <a:ext cx="1508760" cy="182880"/>
          </a:xfrm>
          <a:prstGeom prst="rect">
            <a:avLst/>
          </a:prstGeom>
          <a:noFill/>
          <a:ln/>
        </p:spPr>
        <p:txBody>
          <a:bodyPr wrap="square" lIns="0" tIns="0" rIns="0" bIns="0" rtlCol="0" anchor="ctr"/>
          <a:lstStyle/>
          <a:p>
            <a:pPr marL="0" indent="0">
              <a:buNone/>
            </a:pPr>
            <a:r>
              <a:rPr lang="en-US" sz="800" dirty="0">
                <a:solidFill>
                  <a:srgbClr val="6B7280"/>
                </a:solidFill>
                <a:latin typeface="Calibri Light" pitchFamily="34" charset="0"/>
                <a:ea typeface="Calibri Light" pitchFamily="34" charset="-122"/>
                <a:cs typeface="Calibri Light" pitchFamily="34" charset="-120"/>
              </a:rPr>
              <a:t>Slate Light #5A7A96</a:t>
            </a:r>
            <a:endParaRPr lang="en-US" sz="800" dirty="0"/>
          </a:p>
        </p:txBody>
      </p:sp>
      <p:sp>
        <p:nvSpPr>
          <p:cNvPr id="27" name="Text 25"/>
          <p:cNvSpPr/>
          <p:nvPr/>
        </p:nvSpPr>
        <p:spPr>
          <a:xfrm>
            <a:off x="548640" y="3749040"/>
            <a:ext cx="3657600" cy="182880"/>
          </a:xfrm>
          <a:prstGeom prst="rect">
            <a:avLst/>
          </a:prstGeom>
          <a:noFill/>
          <a:ln/>
        </p:spPr>
        <p:txBody>
          <a:bodyPr wrap="square" lIns="0" tIns="0" rIns="0" bIns="0" rtlCol="0" anchor="ctr"/>
          <a:lstStyle/>
          <a:p>
            <a:pPr marL="0" indent="0">
              <a:buNone/>
            </a:pPr>
            <a:r>
              <a:rPr lang="en-US" sz="900" kern="0" spc="300" dirty="0">
                <a:solidFill>
                  <a:srgbClr val="6B7280"/>
                </a:solidFill>
                <a:latin typeface="Calibri" pitchFamily="34" charset="0"/>
                <a:ea typeface="Calibri" pitchFamily="34" charset="-122"/>
                <a:cs typeface="Calibri" pitchFamily="34" charset="-120"/>
              </a:rPr>
              <a:t>RATIOS</a:t>
            </a:r>
            <a:endParaRPr lang="en-US" sz="900" dirty="0"/>
          </a:p>
        </p:txBody>
      </p:sp>
      <p:sp>
        <p:nvSpPr>
          <p:cNvPr id="28" name="Shape 26"/>
          <p:cNvSpPr/>
          <p:nvPr/>
        </p:nvSpPr>
        <p:spPr>
          <a:xfrm>
            <a:off x="548640" y="3977640"/>
            <a:ext cx="4572000" cy="228600"/>
          </a:xfrm>
          <a:prstGeom prst="rect">
            <a:avLst/>
          </a:prstGeom>
          <a:solidFill>
            <a:srgbClr val="F3F4F6"/>
          </a:solidFill>
          <a:ln/>
        </p:spPr>
        <p:txBody>
          <a:bodyPr/>
          <a:lstStyle/>
          <a:p>
            <a:endParaRPr lang="en-GB"/>
          </a:p>
        </p:txBody>
      </p:sp>
      <p:sp>
        <p:nvSpPr>
          <p:cNvPr id="29" name="Shape 27"/>
          <p:cNvSpPr/>
          <p:nvPr/>
        </p:nvSpPr>
        <p:spPr>
          <a:xfrm>
            <a:off x="5120640" y="3977640"/>
            <a:ext cx="1645920" cy="228600"/>
          </a:xfrm>
          <a:prstGeom prst="rect">
            <a:avLst/>
          </a:prstGeom>
          <a:solidFill>
            <a:srgbClr val="192231"/>
          </a:solidFill>
          <a:ln/>
        </p:spPr>
        <p:txBody>
          <a:bodyPr/>
          <a:lstStyle/>
          <a:p>
            <a:endParaRPr lang="en-GB"/>
          </a:p>
        </p:txBody>
      </p:sp>
      <p:sp>
        <p:nvSpPr>
          <p:cNvPr id="30" name="Shape 28"/>
          <p:cNvSpPr/>
          <p:nvPr/>
        </p:nvSpPr>
        <p:spPr>
          <a:xfrm>
            <a:off x="6766560" y="3977640"/>
            <a:ext cx="1234440" cy="228600"/>
          </a:xfrm>
          <a:prstGeom prst="rect">
            <a:avLst/>
          </a:prstGeom>
          <a:solidFill>
            <a:srgbClr val="3B5068"/>
          </a:solidFill>
          <a:ln/>
        </p:spPr>
        <p:txBody>
          <a:bodyPr/>
          <a:lstStyle/>
          <a:p>
            <a:endParaRPr lang="en-GB"/>
          </a:p>
        </p:txBody>
      </p:sp>
      <p:sp>
        <p:nvSpPr>
          <p:cNvPr id="31" name="Shape 29"/>
          <p:cNvSpPr/>
          <p:nvPr/>
        </p:nvSpPr>
        <p:spPr>
          <a:xfrm>
            <a:off x="8001000" y="3977640"/>
            <a:ext cx="594360" cy="228600"/>
          </a:xfrm>
          <a:prstGeom prst="rect">
            <a:avLst/>
          </a:prstGeom>
          <a:solidFill>
            <a:srgbClr val="D4382C"/>
          </a:solidFill>
          <a:ln/>
        </p:spPr>
        <p:txBody>
          <a:bodyPr/>
          <a:lstStyle/>
          <a:p>
            <a:endParaRPr lang="en-GB"/>
          </a:p>
        </p:txBody>
      </p:sp>
      <p:sp>
        <p:nvSpPr>
          <p:cNvPr id="32" name="Text 30"/>
          <p:cNvSpPr/>
          <p:nvPr/>
        </p:nvSpPr>
        <p:spPr>
          <a:xfrm>
            <a:off x="548640" y="4251960"/>
            <a:ext cx="8229600" cy="182880"/>
          </a:xfrm>
          <a:prstGeom prst="rect">
            <a:avLst/>
          </a:prstGeom>
          <a:noFill/>
          <a:ln/>
        </p:spPr>
        <p:txBody>
          <a:bodyPr wrap="square" lIns="0" tIns="0" rIns="0" bIns="0" rtlCol="0" anchor="ctr"/>
          <a:lstStyle/>
          <a:p>
            <a:pPr marL="0" indent="0">
              <a:buNone/>
            </a:pPr>
            <a:r>
              <a:rPr lang="en-US" sz="800" dirty="0">
                <a:solidFill>
                  <a:srgbClr val="6B7280"/>
                </a:solidFill>
                <a:latin typeface="Calibri Light" pitchFamily="34" charset="0"/>
                <a:ea typeface="Calibri Light" pitchFamily="34" charset="-122"/>
                <a:cs typeface="Calibri Light" pitchFamily="34" charset="-120"/>
              </a:rPr>
              <a:t>55% Neutrals     20% Midnight Ink     15% Slate     10% Heritage Red</a:t>
            </a:r>
            <a:endParaRPr lang="en-US" sz="800" dirty="0"/>
          </a:p>
        </p:txBody>
      </p:sp>
      <p:sp>
        <p:nvSpPr>
          <p:cNvPr id="33" name="Shape 31"/>
          <p:cNvSpPr/>
          <p:nvPr/>
        </p:nvSpPr>
        <p:spPr>
          <a:xfrm>
            <a:off x="0" y="4800600"/>
            <a:ext cx="9144000" cy="342900"/>
          </a:xfrm>
          <a:prstGeom prst="rect">
            <a:avLst/>
          </a:prstGeom>
          <a:solidFill>
            <a:srgbClr val="F3F4F6"/>
          </a:solidFill>
          <a:ln/>
        </p:spPr>
        <p:txBody>
          <a:bodyPr/>
          <a:lstStyle/>
          <a:p>
            <a:endParaRPr lang="en-GB"/>
          </a:p>
        </p:txBody>
      </p:sp>
      <p:sp>
        <p:nvSpPr>
          <p:cNvPr id="34" name="Text 32"/>
          <p:cNvSpPr/>
          <p:nvPr/>
        </p:nvSpPr>
        <p:spPr>
          <a:xfrm>
            <a:off x="457200" y="4828032"/>
            <a:ext cx="2743200" cy="274320"/>
          </a:xfrm>
          <a:prstGeom prst="rect">
            <a:avLst/>
          </a:prstGeom>
          <a:noFill/>
          <a:ln/>
        </p:spPr>
        <p:txBody>
          <a:bodyPr wrap="square" lIns="0" tIns="0" rIns="0" bIns="0" rtlCol="0" anchor="ctr"/>
          <a:lstStyle/>
          <a:p>
            <a:pPr marL="0" indent="0">
              <a:buNone/>
            </a:pPr>
            <a:r>
              <a:rPr lang="en-US" sz="800" dirty="0">
                <a:solidFill>
                  <a:srgbClr val="6B7280"/>
                </a:solidFill>
                <a:latin typeface="Calibri Light" pitchFamily="34" charset="0"/>
                <a:ea typeface="Calibri Light" pitchFamily="34" charset="-122"/>
                <a:cs typeface="Calibri Light" pitchFamily="34" charset="-120"/>
              </a:rPr>
              <a:t>tenderlab.co.uk</a:t>
            </a:r>
            <a:endParaRPr lang="en-US" sz="800" dirty="0"/>
          </a:p>
        </p:txBody>
      </p:sp>
      <p:pic>
        <p:nvPicPr>
          <p:cNvPr id="35" name="Image 0" descr="preencoded.png"/>
          <p:cNvPicPr>
            <a:picLocks noChangeAspect="1"/>
          </p:cNvPicPr>
          <p:nvPr/>
        </p:nvPicPr>
        <p:blipFill>
          <a:blip r:embed="rId3"/>
          <a:stretch>
            <a:fillRect/>
          </a:stretch>
        </p:blipFill>
        <p:spPr>
          <a:xfrm>
            <a:off x="8229600" y="4709160"/>
            <a:ext cx="502920" cy="50292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32004"/>
          </a:xfrm>
          <a:prstGeom prst="rect">
            <a:avLst/>
          </a:prstGeom>
          <a:solidFill>
            <a:srgbClr val="D4382C"/>
          </a:solidFill>
          <a:ln/>
        </p:spPr>
        <p:txBody>
          <a:bodyPr/>
          <a:lstStyle/>
          <a:p>
            <a:endParaRPr lang="en-GB"/>
          </a:p>
        </p:txBody>
      </p:sp>
      <p:sp>
        <p:nvSpPr>
          <p:cNvPr id="3" name="Text 1"/>
          <p:cNvSpPr/>
          <p:nvPr/>
        </p:nvSpPr>
        <p:spPr>
          <a:xfrm>
            <a:off x="548640" y="274320"/>
            <a:ext cx="4572000" cy="457200"/>
          </a:xfrm>
          <a:prstGeom prst="rect">
            <a:avLst/>
          </a:prstGeom>
          <a:noFill/>
          <a:ln/>
        </p:spPr>
        <p:txBody>
          <a:bodyPr wrap="square" lIns="0" tIns="0" rIns="0" bIns="0" rtlCol="0" anchor="ctr"/>
          <a:lstStyle/>
          <a:p>
            <a:pPr marL="0" indent="0">
              <a:buNone/>
            </a:pPr>
            <a:r>
              <a:rPr lang="en-US" sz="2800" dirty="0">
                <a:solidFill>
                  <a:srgbClr val="192231"/>
                </a:solidFill>
                <a:latin typeface="Arial Black" pitchFamily="34" charset="0"/>
                <a:ea typeface="Arial Black" pitchFamily="34" charset="-122"/>
                <a:cs typeface="Arial Black" pitchFamily="34" charset="-120"/>
              </a:rPr>
              <a:t>Typography</a:t>
            </a:r>
            <a:endParaRPr lang="en-US" sz="2800" dirty="0"/>
          </a:p>
        </p:txBody>
      </p:sp>
      <p:sp>
        <p:nvSpPr>
          <p:cNvPr id="4" name="Shape 2"/>
          <p:cNvSpPr/>
          <p:nvPr/>
        </p:nvSpPr>
        <p:spPr>
          <a:xfrm>
            <a:off x="548640" y="914400"/>
            <a:ext cx="3931920" cy="3474720"/>
          </a:xfrm>
          <a:prstGeom prst="rect">
            <a:avLst/>
          </a:prstGeom>
          <a:solidFill>
            <a:srgbClr val="F3F4F6"/>
          </a:solidFill>
          <a:ln/>
        </p:spPr>
        <p:txBody>
          <a:bodyPr/>
          <a:lstStyle/>
          <a:p>
            <a:endParaRPr lang="en-GB"/>
          </a:p>
        </p:txBody>
      </p:sp>
      <p:sp>
        <p:nvSpPr>
          <p:cNvPr id="5" name="Text 3"/>
          <p:cNvSpPr/>
          <p:nvPr/>
        </p:nvSpPr>
        <p:spPr>
          <a:xfrm>
            <a:off x="731520" y="1005840"/>
            <a:ext cx="2743200" cy="182880"/>
          </a:xfrm>
          <a:prstGeom prst="rect">
            <a:avLst/>
          </a:prstGeom>
          <a:noFill/>
          <a:ln/>
        </p:spPr>
        <p:txBody>
          <a:bodyPr wrap="square" lIns="0" tIns="0" rIns="0" bIns="0" rtlCol="0" anchor="ctr"/>
          <a:lstStyle/>
          <a:p>
            <a:pPr marL="0" indent="0">
              <a:buNone/>
            </a:pPr>
            <a:r>
              <a:rPr lang="en-US" sz="900" b="1" kern="0" spc="300" dirty="0">
                <a:solidFill>
                  <a:srgbClr val="D4382C"/>
                </a:solidFill>
                <a:latin typeface="Calibri" pitchFamily="34" charset="0"/>
                <a:ea typeface="Calibri" pitchFamily="34" charset="-122"/>
                <a:cs typeface="Calibri" pitchFamily="34" charset="-120"/>
              </a:rPr>
              <a:t>PRINT</a:t>
            </a:r>
            <a:endParaRPr lang="en-US" sz="900" dirty="0"/>
          </a:p>
        </p:txBody>
      </p:sp>
      <p:sp>
        <p:nvSpPr>
          <p:cNvPr id="6" name="Text 4"/>
          <p:cNvSpPr/>
          <p:nvPr/>
        </p:nvSpPr>
        <p:spPr>
          <a:xfrm>
            <a:off x="731520" y="1280160"/>
            <a:ext cx="3566160" cy="256032"/>
          </a:xfrm>
          <a:prstGeom prst="rect">
            <a:avLst/>
          </a:prstGeom>
          <a:noFill/>
          <a:ln/>
        </p:spPr>
        <p:txBody>
          <a:bodyPr wrap="square" lIns="0" tIns="0" rIns="0" bIns="0" rtlCol="0" anchor="ctr"/>
          <a:lstStyle/>
          <a:p>
            <a:pPr marL="0" indent="0">
              <a:buNone/>
            </a:pPr>
            <a:r>
              <a:rPr lang="en-US" sz="2000" b="1" dirty="0">
                <a:solidFill>
                  <a:srgbClr val="D4382C"/>
                </a:solidFill>
                <a:latin typeface="Calibri" pitchFamily="34" charset="0"/>
                <a:ea typeface="Calibri" pitchFamily="34" charset="-122"/>
                <a:cs typeface="Calibri" pitchFamily="34" charset="-120"/>
              </a:rPr>
              <a:t>Section Header</a:t>
            </a:r>
            <a:endParaRPr lang="en-US" sz="2000" dirty="0"/>
          </a:p>
        </p:txBody>
      </p:sp>
      <p:sp>
        <p:nvSpPr>
          <p:cNvPr id="7" name="Text 5"/>
          <p:cNvSpPr/>
          <p:nvPr/>
        </p:nvSpPr>
        <p:spPr>
          <a:xfrm>
            <a:off x="731520" y="1536192"/>
            <a:ext cx="3566160" cy="137160"/>
          </a:xfrm>
          <a:prstGeom prst="rect">
            <a:avLst/>
          </a:prstGeom>
          <a:noFill/>
          <a:ln/>
        </p:spPr>
        <p:txBody>
          <a:bodyPr wrap="square" lIns="0" tIns="0" rIns="0" bIns="0" rtlCol="0" anchor="ctr"/>
          <a:lstStyle/>
          <a:p>
            <a:pPr marL="0" indent="0">
              <a:buNone/>
            </a:pPr>
            <a:r>
              <a:rPr lang="en-US" sz="700" dirty="0">
                <a:solidFill>
                  <a:srgbClr val="9CA3AF"/>
                </a:solidFill>
                <a:latin typeface="Calibri Light" pitchFamily="34" charset="0"/>
                <a:ea typeface="Calibri Light" pitchFamily="34" charset="-122"/>
                <a:cs typeface="Calibri Light" pitchFamily="34" charset="-120"/>
              </a:rPr>
              <a:t>H1 / 22pt / Bold / Heritage Red</a:t>
            </a:r>
            <a:endParaRPr lang="en-US" sz="700" dirty="0"/>
          </a:p>
        </p:txBody>
      </p:sp>
      <p:sp>
        <p:nvSpPr>
          <p:cNvPr id="8" name="Text 6"/>
          <p:cNvSpPr/>
          <p:nvPr/>
        </p:nvSpPr>
        <p:spPr>
          <a:xfrm>
            <a:off x="731520" y="1810512"/>
            <a:ext cx="3566160" cy="256032"/>
          </a:xfrm>
          <a:prstGeom prst="rect">
            <a:avLst/>
          </a:prstGeom>
          <a:noFill/>
          <a:ln/>
        </p:spPr>
        <p:txBody>
          <a:bodyPr wrap="square" lIns="0" tIns="0" rIns="0" bIns="0" rtlCol="0" anchor="ctr"/>
          <a:lstStyle/>
          <a:p>
            <a:pPr marL="0" indent="0">
              <a:buNone/>
            </a:pPr>
            <a:r>
              <a:rPr lang="en-US" sz="1500" b="1" dirty="0">
                <a:solidFill>
                  <a:srgbClr val="192231"/>
                </a:solidFill>
                <a:latin typeface="Calibri" pitchFamily="34" charset="0"/>
                <a:ea typeface="Calibri" pitchFamily="34" charset="-122"/>
                <a:cs typeface="Calibri" pitchFamily="34" charset="-120"/>
              </a:rPr>
              <a:t>Subsection</a:t>
            </a:r>
            <a:endParaRPr lang="en-US" sz="1500" dirty="0"/>
          </a:p>
        </p:txBody>
      </p:sp>
      <p:sp>
        <p:nvSpPr>
          <p:cNvPr id="9" name="Text 7"/>
          <p:cNvSpPr/>
          <p:nvPr/>
        </p:nvSpPr>
        <p:spPr>
          <a:xfrm>
            <a:off x="731520" y="2066544"/>
            <a:ext cx="3566160" cy="137160"/>
          </a:xfrm>
          <a:prstGeom prst="rect">
            <a:avLst/>
          </a:prstGeom>
          <a:noFill/>
          <a:ln/>
        </p:spPr>
        <p:txBody>
          <a:bodyPr wrap="square" lIns="0" tIns="0" rIns="0" bIns="0" rtlCol="0" anchor="ctr"/>
          <a:lstStyle/>
          <a:p>
            <a:pPr marL="0" indent="0">
              <a:buNone/>
            </a:pPr>
            <a:r>
              <a:rPr lang="en-US" sz="700" dirty="0">
                <a:solidFill>
                  <a:srgbClr val="9CA3AF"/>
                </a:solidFill>
                <a:latin typeface="Calibri Light" pitchFamily="34" charset="0"/>
                <a:ea typeface="Calibri Light" pitchFamily="34" charset="-122"/>
                <a:cs typeface="Calibri Light" pitchFamily="34" charset="-120"/>
              </a:rPr>
              <a:t>H2 / 16pt / Bold / Midnight Ink</a:t>
            </a:r>
            <a:endParaRPr lang="en-US" sz="700" dirty="0"/>
          </a:p>
        </p:txBody>
      </p:sp>
      <p:sp>
        <p:nvSpPr>
          <p:cNvPr id="10" name="Text 8"/>
          <p:cNvSpPr/>
          <p:nvPr/>
        </p:nvSpPr>
        <p:spPr>
          <a:xfrm>
            <a:off x="731520" y="2340864"/>
            <a:ext cx="3566160" cy="256032"/>
          </a:xfrm>
          <a:prstGeom prst="rect">
            <a:avLst/>
          </a:prstGeom>
          <a:noFill/>
          <a:ln/>
        </p:spPr>
        <p:txBody>
          <a:bodyPr wrap="square" lIns="0" tIns="0" rIns="0" bIns="0" rtlCol="0" anchor="ctr"/>
          <a:lstStyle/>
          <a:p>
            <a:pPr marL="0" indent="0">
              <a:buNone/>
            </a:pPr>
            <a:r>
              <a:rPr lang="en-US" sz="1200" b="1" dirty="0">
                <a:solidFill>
                  <a:srgbClr val="3B5068"/>
                </a:solidFill>
                <a:latin typeface="Calibri" pitchFamily="34" charset="0"/>
                <a:ea typeface="Calibri" pitchFamily="34" charset="-122"/>
                <a:cs typeface="Calibri" pitchFamily="34" charset="-120"/>
              </a:rPr>
              <a:t>Sub-subsection</a:t>
            </a:r>
            <a:endParaRPr lang="en-US" sz="1200" dirty="0"/>
          </a:p>
        </p:txBody>
      </p:sp>
      <p:sp>
        <p:nvSpPr>
          <p:cNvPr id="11" name="Text 9"/>
          <p:cNvSpPr/>
          <p:nvPr/>
        </p:nvSpPr>
        <p:spPr>
          <a:xfrm>
            <a:off x="731520" y="2596896"/>
            <a:ext cx="3566160" cy="137160"/>
          </a:xfrm>
          <a:prstGeom prst="rect">
            <a:avLst/>
          </a:prstGeom>
          <a:noFill/>
          <a:ln/>
        </p:spPr>
        <p:txBody>
          <a:bodyPr wrap="square" lIns="0" tIns="0" rIns="0" bIns="0" rtlCol="0" anchor="ctr"/>
          <a:lstStyle/>
          <a:p>
            <a:pPr marL="0" indent="0">
              <a:buNone/>
            </a:pPr>
            <a:r>
              <a:rPr lang="en-US" sz="700" dirty="0">
                <a:solidFill>
                  <a:srgbClr val="9CA3AF"/>
                </a:solidFill>
                <a:latin typeface="Calibri Light" pitchFamily="34" charset="0"/>
                <a:ea typeface="Calibri Light" pitchFamily="34" charset="-122"/>
                <a:cs typeface="Calibri Light" pitchFamily="34" charset="-120"/>
              </a:rPr>
              <a:t>H3 / 13pt / Bold / Slate</a:t>
            </a:r>
            <a:endParaRPr lang="en-US" sz="700" dirty="0"/>
          </a:p>
        </p:txBody>
      </p:sp>
      <p:sp>
        <p:nvSpPr>
          <p:cNvPr id="12" name="Text 10"/>
          <p:cNvSpPr/>
          <p:nvPr/>
        </p:nvSpPr>
        <p:spPr>
          <a:xfrm>
            <a:off x="731520" y="2871216"/>
            <a:ext cx="3566160" cy="256032"/>
          </a:xfrm>
          <a:prstGeom prst="rect">
            <a:avLst/>
          </a:prstGeom>
          <a:noFill/>
          <a:ln/>
        </p:spPr>
        <p:txBody>
          <a:bodyPr wrap="square" lIns="0" tIns="0" rIns="0" bIns="0" rtlCol="0" anchor="ctr"/>
          <a:lstStyle/>
          <a:p>
            <a:pPr marL="0" indent="0">
              <a:buNone/>
            </a:pPr>
            <a:r>
              <a:rPr lang="en-US" sz="1100" dirty="0">
                <a:solidFill>
                  <a:srgbClr val="192231"/>
                </a:solidFill>
                <a:latin typeface="Calibri Light" pitchFamily="34" charset="0"/>
                <a:ea typeface="Calibri Light" pitchFamily="34" charset="-122"/>
                <a:cs typeface="Calibri Light" pitchFamily="34" charset="-120"/>
              </a:rPr>
              <a:t>Body text reads like this.</a:t>
            </a:r>
            <a:endParaRPr lang="en-US" sz="1100" dirty="0"/>
          </a:p>
        </p:txBody>
      </p:sp>
      <p:sp>
        <p:nvSpPr>
          <p:cNvPr id="13" name="Text 11"/>
          <p:cNvSpPr/>
          <p:nvPr/>
        </p:nvSpPr>
        <p:spPr>
          <a:xfrm>
            <a:off x="731520" y="3127248"/>
            <a:ext cx="3566160" cy="137160"/>
          </a:xfrm>
          <a:prstGeom prst="rect">
            <a:avLst/>
          </a:prstGeom>
          <a:noFill/>
          <a:ln/>
        </p:spPr>
        <p:txBody>
          <a:bodyPr wrap="square" lIns="0" tIns="0" rIns="0" bIns="0" rtlCol="0" anchor="ctr"/>
          <a:lstStyle/>
          <a:p>
            <a:pPr marL="0" indent="0">
              <a:buNone/>
            </a:pPr>
            <a:r>
              <a:rPr lang="en-US" sz="700" dirty="0">
                <a:solidFill>
                  <a:srgbClr val="9CA3AF"/>
                </a:solidFill>
                <a:latin typeface="Calibri Light" pitchFamily="34" charset="0"/>
                <a:ea typeface="Calibri Light" pitchFamily="34" charset="-122"/>
                <a:cs typeface="Calibri Light" pitchFamily="34" charset="-120"/>
              </a:rPr>
              <a:t>Body / 11pt / Regular</a:t>
            </a:r>
            <a:endParaRPr lang="en-US" sz="700" dirty="0"/>
          </a:p>
        </p:txBody>
      </p:sp>
      <p:sp>
        <p:nvSpPr>
          <p:cNvPr id="14" name="Text 12"/>
          <p:cNvSpPr/>
          <p:nvPr/>
        </p:nvSpPr>
        <p:spPr>
          <a:xfrm>
            <a:off x="731520" y="3401568"/>
            <a:ext cx="3566160" cy="256032"/>
          </a:xfrm>
          <a:prstGeom prst="rect">
            <a:avLst/>
          </a:prstGeom>
          <a:noFill/>
          <a:ln/>
        </p:spPr>
        <p:txBody>
          <a:bodyPr wrap="square" lIns="0" tIns="0" rIns="0" bIns="0" rtlCol="0" anchor="ctr"/>
          <a:lstStyle/>
          <a:p>
            <a:pPr marL="0" indent="0">
              <a:buNone/>
            </a:pPr>
            <a:r>
              <a:rPr lang="en-US" sz="1000" dirty="0">
                <a:solidFill>
                  <a:srgbClr val="6B7280"/>
                </a:solidFill>
                <a:latin typeface="Calibri Light" pitchFamily="34" charset="0"/>
                <a:ea typeface="Calibri Light" pitchFamily="34" charset="-122"/>
                <a:cs typeface="Calibri Light" pitchFamily="34" charset="-120"/>
              </a:rPr>
              <a:t>Caption and metadata</a:t>
            </a:r>
            <a:endParaRPr lang="en-US" sz="1000" dirty="0"/>
          </a:p>
        </p:txBody>
      </p:sp>
      <p:sp>
        <p:nvSpPr>
          <p:cNvPr id="15" name="Text 13"/>
          <p:cNvSpPr/>
          <p:nvPr/>
        </p:nvSpPr>
        <p:spPr>
          <a:xfrm>
            <a:off x="731520" y="3657600"/>
            <a:ext cx="3566160" cy="137160"/>
          </a:xfrm>
          <a:prstGeom prst="rect">
            <a:avLst/>
          </a:prstGeom>
          <a:noFill/>
          <a:ln/>
        </p:spPr>
        <p:txBody>
          <a:bodyPr wrap="square" lIns="0" tIns="0" rIns="0" bIns="0" rtlCol="0" anchor="ctr"/>
          <a:lstStyle/>
          <a:p>
            <a:pPr marL="0" indent="0">
              <a:buNone/>
            </a:pPr>
            <a:r>
              <a:rPr lang="en-US" sz="700" dirty="0">
                <a:solidFill>
                  <a:srgbClr val="9CA3AF"/>
                </a:solidFill>
                <a:latin typeface="Calibri Light" pitchFamily="34" charset="0"/>
                <a:ea typeface="Calibri Light" pitchFamily="34" charset="-122"/>
                <a:cs typeface="Calibri Light" pitchFamily="34" charset="-120"/>
              </a:rPr>
              <a:t>Caption / 10pt / Light</a:t>
            </a:r>
            <a:endParaRPr lang="en-US" sz="700" dirty="0"/>
          </a:p>
        </p:txBody>
      </p:sp>
      <p:sp>
        <p:nvSpPr>
          <p:cNvPr id="16" name="Shape 14"/>
          <p:cNvSpPr/>
          <p:nvPr/>
        </p:nvSpPr>
        <p:spPr>
          <a:xfrm>
            <a:off x="4754880" y="914400"/>
            <a:ext cx="3840480" cy="1463040"/>
          </a:xfrm>
          <a:prstGeom prst="rect">
            <a:avLst/>
          </a:prstGeom>
          <a:solidFill>
            <a:srgbClr val="192231"/>
          </a:solidFill>
          <a:ln/>
        </p:spPr>
        <p:txBody>
          <a:bodyPr/>
          <a:lstStyle/>
          <a:p>
            <a:endParaRPr lang="en-GB"/>
          </a:p>
        </p:txBody>
      </p:sp>
      <p:sp>
        <p:nvSpPr>
          <p:cNvPr id="17" name="Text 15"/>
          <p:cNvSpPr/>
          <p:nvPr/>
        </p:nvSpPr>
        <p:spPr>
          <a:xfrm>
            <a:off x="4937760" y="1005840"/>
            <a:ext cx="2743200" cy="182880"/>
          </a:xfrm>
          <a:prstGeom prst="rect">
            <a:avLst/>
          </a:prstGeom>
          <a:noFill/>
          <a:ln/>
        </p:spPr>
        <p:txBody>
          <a:bodyPr wrap="square" lIns="0" tIns="0" rIns="0" bIns="0" rtlCol="0" anchor="ctr"/>
          <a:lstStyle/>
          <a:p>
            <a:pPr marL="0" indent="0">
              <a:buNone/>
            </a:pPr>
            <a:r>
              <a:rPr lang="en-US" sz="900" b="1" kern="0" spc="300" dirty="0">
                <a:solidFill>
                  <a:srgbClr val="D4382C"/>
                </a:solidFill>
                <a:latin typeface="Calibri" pitchFamily="34" charset="0"/>
                <a:ea typeface="Calibri" pitchFamily="34" charset="-122"/>
                <a:cs typeface="Calibri" pitchFamily="34" charset="-120"/>
              </a:rPr>
              <a:t>DIGITAL</a:t>
            </a:r>
            <a:endParaRPr lang="en-US" sz="900" dirty="0"/>
          </a:p>
        </p:txBody>
      </p:sp>
      <p:sp>
        <p:nvSpPr>
          <p:cNvPr id="18" name="Text 16"/>
          <p:cNvSpPr/>
          <p:nvPr/>
        </p:nvSpPr>
        <p:spPr>
          <a:xfrm>
            <a:off x="4937760" y="1234440"/>
            <a:ext cx="3200400" cy="27432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Inter (Google Fonts)</a:t>
            </a:r>
            <a:endParaRPr lang="en-US" sz="1500" dirty="0"/>
          </a:p>
        </p:txBody>
      </p:sp>
      <p:sp>
        <p:nvSpPr>
          <p:cNvPr id="19" name="Text 17"/>
          <p:cNvSpPr/>
          <p:nvPr/>
        </p:nvSpPr>
        <p:spPr>
          <a:xfrm>
            <a:off x="4937760" y="1554480"/>
            <a:ext cx="3474720" cy="502920"/>
          </a:xfrm>
          <a:prstGeom prst="rect">
            <a:avLst/>
          </a:prstGeom>
          <a:noFill/>
          <a:ln/>
        </p:spPr>
        <p:txBody>
          <a:bodyPr wrap="square" lIns="0" tIns="0" rIns="0" bIns="0" rtlCol="0" anchor="ctr"/>
          <a:lstStyle/>
          <a:p>
            <a:pPr marL="0" indent="0">
              <a:buNone/>
            </a:pPr>
            <a:r>
              <a:rPr lang="en-US" sz="950" dirty="0">
                <a:solidFill>
                  <a:srgbClr val="9CA3AF"/>
                </a:solidFill>
                <a:latin typeface="Calibri Light" pitchFamily="34" charset="0"/>
                <a:ea typeface="Calibri Light" pitchFamily="34" charset="-122"/>
                <a:cs typeface="Calibri Light" pitchFamily="34" charset="-120"/>
              </a:rPr>
              <a:t>Identical x-height to Calibri. Open apertures.</a:t>
            </a:r>
            <a:endParaRPr lang="en-US" sz="950" dirty="0"/>
          </a:p>
          <a:p>
            <a:pPr marL="0" indent="0">
              <a:buNone/>
            </a:pPr>
            <a:r>
              <a:rPr lang="en-US" sz="950" dirty="0">
                <a:solidFill>
                  <a:srgbClr val="9CA3AF"/>
                </a:solidFill>
                <a:latin typeface="Calibri Light" pitchFamily="34" charset="0"/>
                <a:ea typeface="Calibri Light" pitchFamily="34" charset="-122"/>
                <a:cs typeface="Calibri Light" pitchFamily="34" charset="-120"/>
              </a:rPr>
              <a:t>Fallback: Inter, -apple-system, Segoe UI, sans-serif.</a:t>
            </a:r>
            <a:endParaRPr lang="en-US" sz="950" dirty="0"/>
          </a:p>
        </p:txBody>
      </p:sp>
      <p:sp>
        <p:nvSpPr>
          <p:cNvPr id="20" name="Shape 18"/>
          <p:cNvSpPr/>
          <p:nvPr/>
        </p:nvSpPr>
        <p:spPr>
          <a:xfrm>
            <a:off x="4754880" y="2560320"/>
            <a:ext cx="3840480" cy="1828800"/>
          </a:xfrm>
          <a:prstGeom prst="rect">
            <a:avLst/>
          </a:prstGeom>
          <a:solidFill>
            <a:srgbClr val="F3F4F6"/>
          </a:solidFill>
          <a:ln/>
        </p:spPr>
        <p:txBody>
          <a:bodyPr/>
          <a:lstStyle/>
          <a:p>
            <a:endParaRPr lang="en-GB"/>
          </a:p>
        </p:txBody>
      </p:sp>
      <p:sp>
        <p:nvSpPr>
          <p:cNvPr id="21" name="Text 19"/>
          <p:cNvSpPr/>
          <p:nvPr/>
        </p:nvSpPr>
        <p:spPr>
          <a:xfrm>
            <a:off x="4937760" y="2651760"/>
            <a:ext cx="2743200" cy="182880"/>
          </a:xfrm>
          <a:prstGeom prst="rect">
            <a:avLst/>
          </a:prstGeom>
          <a:noFill/>
          <a:ln/>
        </p:spPr>
        <p:txBody>
          <a:bodyPr wrap="square" lIns="0" tIns="0" rIns="0" bIns="0" rtlCol="0" anchor="ctr"/>
          <a:lstStyle/>
          <a:p>
            <a:pPr marL="0" indent="0">
              <a:buNone/>
            </a:pPr>
            <a:r>
              <a:rPr lang="en-US" sz="900" b="1" kern="0" spc="300" dirty="0">
                <a:solidFill>
                  <a:srgbClr val="3B5068"/>
                </a:solidFill>
                <a:latin typeface="Calibri" pitchFamily="34" charset="0"/>
                <a:ea typeface="Calibri" pitchFamily="34" charset="-122"/>
                <a:cs typeface="Calibri" pitchFamily="34" charset="-120"/>
              </a:rPr>
              <a:t>RULES</a:t>
            </a:r>
            <a:endParaRPr lang="en-US" sz="900" dirty="0"/>
          </a:p>
        </p:txBody>
      </p:sp>
      <p:sp>
        <p:nvSpPr>
          <p:cNvPr id="22" name="Text 20"/>
          <p:cNvSpPr/>
          <p:nvPr/>
        </p:nvSpPr>
        <p:spPr>
          <a:xfrm>
            <a:off x="5120640" y="2880360"/>
            <a:ext cx="3291840" cy="274320"/>
          </a:xfrm>
          <a:prstGeom prst="rect">
            <a:avLst/>
          </a:prstGeom>
          <a:noFill/>
          <a:ln/>
        </p:spPr>
        <p:txBody>
          <a:bodyPr wrap="square" lIns="0" tIns="0" rIns="0" bIns="0" rtlCol="0" anchor="ctr"/>
          <a:lstStyle/>
          <a:p>
            <a:pPr marL="342900" indent="-342900">
              <a:buSzPct val="100000"/>
              <a:buChar char="•"/>
            </a:pPr>
            <a:r>
              <a:rPr lang="en-US" sz="1000" dirty="0">
                <a:solidFill>
                  <a:srgbClr val="192231"/>
                </a:solidFill>
                <a:latin typeface="Calibri" pitchFamily="34" charset="0"/>
                <a:ea typeface="Calibri" pitchFamily="34" charset="-122"/>
                <a:cs typeface="Calibri" pitchFamily="34" charset="-120"/>
              </a:rPr>
              <a:t>Line height 1.5x minimum</a:t>
            </a:r>
            <a:endParaRPr lang="en-US" sz="1000" dirty="0"/>
          </a:p>
        </p:txBody>
      </p:sp>
      <p:sp>
        <p:nvSpPr>
          <p:cNvPr id="23" name="Text 21"/>
          <p:cNvSpPr/>
          <p:nvPr/>
        </p:nvSpPr>
        <p:spPr>
          <a:xfrm>
            <a:off x="5120640" y="3182112"/>
            <a:ext cx="3291840" cy="274320"/>
          </a:xfrm>
          <a:prstGeom prst="rect">
            <a:avLst/>
          </a:prstGeom>
          <a:noFill/>
          <a:ln/>
        </p:spPr>
        <p:txBody>
          <a:bodyPr wrap="square" lIns="0" tIns="0" rIns="0" bIns="0" rtlCol="0" anchor="ctr"/>
          <a:lstStyle/>
          <a:p>
            <a:pPr marL="342900" indent="-342900">
              <a:buSzPct val="100000"/>
              <a:buChar char="•"/>
            </a:pPr>
            <a:r>
              <a:rPr lang="en-US" sz="1000" dirty="0">
                <a:solidFill>
                  <a:srgbClr val="192231"/>
                </a:solidFill>
                <a:latin typeface="Calibri" pitchFamily="34" charset="0"/>
                <a:ea typeface="Calibri" pitchFamily="34" charset="-122"/>
                <a:cs typeface="Calibri" pitchFamily="34" charset="-120"/>
              </a:rPr>
              <a:t>Max 75 characters per line</a:t>
            </a:r>
            <a:endParaRPr lang="en-US" sz="1000" dirty="0"/>
          </a:p>
        </p:txBody>
      </p:sp>
      <p:sp>
        <p:nvSpPr>
          <p:cNvPr id="24" name="Text 22"/>
          <p:cNvSpPr/>
          <p:nvPr/>
        </p:nvSpPr>
        <p:spPr>
          <a:xfrm>
            <a:off x="5120640" y="3483864"/>
            <a:ext cx="3291840" cy="274320"/>
          </a:xfrm>
          <a:prstGeom prst="rect">
            <a:avLst/>
          </a:prstGeom>
          <a:noFill/>
          <a:ln/>
        </p:spPr>
        <p:txBody>
          <a:bodyPr wrap="square" lIns="0" tIns="0" rIns="0" bIns="0" rtlCol="0" anchor="ctr"/>
          <a:lstStyle/>
          <a:p>
            <a:pPr marL="342900" indent="-342900">
              <a:buSzPct val="100000"/>
              <a:buChar char="•"/>
            </a:pPr>
            <a:r>
              <a:rPr lang="en-US" sz="1000" dirty="0">
                <a:solidFill>
                  <a:srgbClr val="192231"/>
                </a:solidFill>
                <a:latin typeface="Calibri" pitchFamily="34" charset="0"/>
                <a:ea typeface="Calibri" pitchFamily="34" charset="-122"/>
                <a:cs typeface="Calibri" pitchFamily="34" charset="-120"/>
              </a:rPr>
              <a:t>All-caps for section labels and logo only</a:t>
            </a:r>
            <a:endParaRPr lang="en-US" sz="1000" dirty="0"/>
          </a:p>
        </p:txBody>
      </p:sp>
      <p:sp>
        <p:nvSpPr>
          <p:cNvPr id="25" name="Text 23"/>
          <p:cNvSpPr/>
          <p:nvPr/>
        </p:nvSpPr>
        <p:spPr>
          <a:xfrm>
            <a:off x="5120640" y="3785616"/>
            <a:ext cx="3291840" cy="274320"/>
          </a:xfrm>
          <a:prstGeom prst="rect">
            <a:avLst/>
          </a:prstGeom>
          <a:noFill/>
          <a:ln/>
        </p:spPr>
        <p:txBody>
          <a:bodyPr wrap="square" lIns="0" tIns="0" rIns="0" bIns="0" rtlCol="0" anchor="ctr"/>
          <a:lstStyle/>
          <a:p>
            <a:pPr marL="342900" indent="-342900">
              <a:buSzPct val="100000"/>
              <a:buChar char="•"/>
            </a:pPr>
            <a:r>
              <a:rPr lang="en-US" sz="1000" dirty="0">
                <a:solidFill>
                  <a:srgbClr val="192231"/>
                </a:solidFill>
                <a:latin typeface="Calibri" pitchFamily="34" charset="0"/>
                <a:ea typeface="Calibri" pitchFamily="34" charset="-122"/>
                <a:cs typeface="Calibri" pitchFamily="34" charset="-120"/>
              </a:rPr>
              <a:t>Bold sparingly; no italic for emphasis</a:t>
            </a:r>
            <a:endParaRPr lang="en-US" sz="1000" dirty="0"/>
          </a:p>
        </p:txBody>
      </p:sp>
      <p:sp>
        <p:nvSpPr>
          <p:cNvPr id="26" name="Text 24"/>
          <p:cNvSpPr/>
          <p:nvPr/>
        </p:nvSpPr>
        <p:spPr>
          <a:xfrm>
            <a:off x="5120640" y="4087368"/>
            <a:ext cx="3291840" cy="274320"/>
          </a:xfrm>
          <a:prstGeom prst="rect">
            <a:avLst/>
          </a:prstGeom>
          <a:noFill/>
          <a:ln/>
        </p:spPr>
        <p:txBody>
          <a:bodyPr wrap="square" lIns="0" tIns="0" rIns="0" bIns="0" rtlCol="0" anchor="ctr"/>
          <a:lstStyle/>
          <a:p>
            <a:pPr marL="342900" indent="-342900">
              <a:buSzPct val="100000"/>
              <a:buChar char="•"/>
            </a:pPr>
            <a:r>
              <a:rPr lang="en-US" sz="1000" dirty="0">
                <a:solidFill>
                  <a:srgbClr val="192231"/>
                </a:solidFill>
                <a:latin typeface="Calibri" pitchFamily="34" charset="0"/>
                <a:ea typeface="Calibri" pitchFamily="34" charset="-122"/>
                <a:cs typeface="Calibri" pitchFamily="34" charset="-120"/>
              </a:rPr>
              <a:t>Paragraph spacing: 6pt after body</a:t>
            </a:r>
            <a:endParaRPr lang="en-US" sz="1000" dirty="0"/>
          </a:p>
        </p:txBody>
      </p:sp>
      <p:sp>
        <p:nvSpPr>
          <p:cNvPr id="27" name="Shape 25"/>
          <p:cNvSpPr/>
          <p:nvPr/>
        </p:nvSpPr>
        <p:spPr>
          <a:xfrm>
            <a:off x="0" y="4800600"/>
            <a:ext cx="9144000" cy="342900"/>
          </a:xfrm>
          <a:prstGeom prst="rect">
            <a:avLst/>
          </a:prstGeom>
          <a:solidFill>
            <a:srgbClr val="F3F4F6"/>
          </a:solidFill>
          <a:ln/>
        </p:spPr>
        <p:txBody>
          <a:bodyPr/>
          <a:lstStyle/>
          <a:p>
            <a:endParaRPr lang="en-GB"/>
          </a:p>
        </p:txBody>
      </p:sp>
      <p:sp>
        <p:nvSpPr>
          <p:cNvPr id="28" name="Text 26"/>
          <p:cNvSpPr/>
          <p:nvPr/>
        </p:nvSpPr>
        <p:spPr>
          <a:xfrm>
            <a:off x="457200" y="4828032"/>
            <a:ext cx="2743200" cy="274320"/>
          </a:xfrm>
          <a:prstGeom prst="rect">
            <a:avLst/>
          </a:prstGeom>
          <a:noFill/>
          <a:ln/>
        </p:spPr>
        <p:txBody>
          <a:bodyPr wrap="square" lIns="0" tIns="0" rIns="0" bIns="0" rtlCol="0" anchor="ctr"/>
          <a:lstStyle/>
          <a:p>
            <a:pPr marL="0" indent="0">
              <a:buNone/>
            </a:pPr>
            <a:r>
              <a:rPr lang="en-US" sz="800" dirty="0">
                <a:solidFill>
                  <a:srgbClr val="6B7280"/>
                </a:solidFill>
                <a:latin typeface="Calibri Light" pitchFamily="34" charset="0"/>
                <a:ea typeface="Calibri Light" pitchFamily="34" charset="-122"/>
                <a:cs typeface="Calibri Light" pitchFamily="34" charset="-120"/>
              </a:rPr>
              <a:t>tenderlab.co.uk</a:t>
            </a:r>
            <a:endParaRPr lang="en-US" sz="800" dirty="0"/>
          </a:p>
        </p:txBody>
      </p:sp>
      <p:pic>
        <p:nvPicPr>
          <p:cNvPr id="29" name="Image 0" descr="preencoded.png"/>
          <p:cNvPicPr>
            <a:picLocks noChangeAspect="1"/>
          </p:cNvPicPr>
          <p:nvPr/>
        </p:nvPicPr>
        <p:blipFill>
          <a:blip r:embed="rId3"/>
          <a:stretch>
            <a:fillRect/>
          </a:stretch>
        </p:blipFill>
        <p:spPr>
          <a:xfrm>
            <a:off x="8229600" y="4709160"/>
            <a:ext cx="502920" cy="50292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32004"/>
          </a:xfrm>
          <a:prstGeom prst="rect">
            <a:avLst/>
          </a:prstGeom>
          <a:solidFill>
            <a:srgbClr val="D4382C"/>
          </a:solidFill>
          <a:ln/>
        </p:spPr>
        <p:txBody>
          <a:bodyPr/>
          <a:lstStyle/>
          <a:p>
            <a:endParaRPr lang="en-GB"/>
          </a:p>
        </p:txBody>
      </p:sp>
      <p:sp>
        <p:nvSpPr>
          <p:cNvPr id="3" name="Text 1"/>
          <p:cNvSpPr/>
          <p:nvPr/>
        </p:nvSpPr>
        <p:spPr>
          <a:xfrm>
            <a:off x="548640" y="274320"/>
            <a:ext cx="4572000" cy="457200"/>
          </a:xfrm>
          <a:prstGeom prst="rect">
            <a:avLst/>
          </a:prstGeom>
          <a:noFill/>
          <a:ln/>
        </p:spPr>
        <p:txBody>
          <a:bodyPr wrap="square" lIns="0" tIns="0" rIns="0" bIns="0" rtlCol="0" anchor="ctr"/>
          <a:lstStyle/>
          <a:p>
            <a:pPr marL="0" indent="0">
              <a:buNone/>
            </a:pPr>
            <a:r>
              <a:rPr lang="en-US" sz="2800" dirty="0">
                <a:solidFill>
                  <a:srgbClr val="192231"/>
                </a:solidFill>
                <a:latin typeface="Arial Black" pitchFamily="34" charset="0"/>
                <a:ea typeface="Arial Black" pitchFamily="34" charset="-122"/>
                <a:cs typeface="Arial Black" pitchFamily="34" charset="-120"/>
              </a:rPr>
              <a:t>Tone of Voice</a:t>
            </a:r>
            <a:endParaRPr lang="en-US" sz="2800" dirty="0"/>
          </a:p>
        </p:txBody>
      </p:sp>
      <p:sp>
        <p:nvSpPr>
          <p:cNvPr id="4" name="Shape 2"/>
          <p:cNvSpPr/>
          <p:nvPr/>
        </p:nvSpPr>
        <p:spPr>
          <a:xfrm>
            <a:off x="548640" y="914400"/>
            <a:ext cx="1874520" cy="1371600"/>
          </a:xfrm>
          <a:prstGeom prst="rect">
            <a:avLst/>
          </a:prstGeom>
          <a:solidFill>
            <a:srgbClr val="192231"/>
          </a:solidFill>
          <a:ln/>
        </p:spPr>
        <p:txBody>
          <a:bodyPr/>
          <a:lstStyle/>
          <a:p>
            <a:endParaRPr lang="en-GB"/>
          </a:p>
        </p:txBody>
      </p:sp>
      <p:sp>
        <p:nvSpPr>
          <p:cNvPr id="5" name="Shape 3"/>
          <p:cNvSpPr/>
          <p:nvPr/>
        </p:nvSpPr>
        <p:spPr>
          <a:xfrm>
            <a:off x="548640" y="914400"/>
            <a:ext cx="1874520" cy="36576"/>
          </a:xfrm>
          <a:prstGeom prst="rect">
            <a:avLst/>
          </a:prstGeom>
          <a:solidFill>
            <a:srgbClr val="D4382C"/>
          </a:solidFill>
          <a:ln/>
        </p:spPr>
        <p:txBody>
          <a:bodyPr/>
          <a:lstStyle/>
          <a:p>
            <a:endParaRPr lang="en-GB"/>
          </a:p>
        </p:txBody>
      </p:sp>
      <p:sp>
        <p:nvSpPr>
          <p:cNvPr id="6" name="Text 4"/>
          <p:cNvSpPr/>
          <p:nvPr/>
        </p:nvSpPr>
        <p:spPr>
          <a:xfrm>
            <a:off x="685800" y="1051560"/>
            <a:ext cx="1600200" cy="228600"/>
          </a:xfrm>
          <a:prstGeom prst="rect">
            <a:avLst/>
          </a:prstGeom>
          <a:noFill/>
          <a:ln/>
        </p:spPr>
        <p:txBody>
          <a:bodyPr wrap="square" lIns="0" tIns="0" rIns="0" bIns="0" rtlCol="0" anchor="ctr"/>
          <a:lstStyle/>
          <a:p>
            <a:pPr marL="0" indent="0">
              <a:buNone/>
            </a:pPr>
            <a:r>
              <a:rPr lang="en-US" sz="1100" b="1" kern="0" spc="200" dirty="0">
                <a:solidFill>
                  <a:srgbClr val="D4382C"/>
                </a:solidFill>
                <a:latin typeface="Calibri" pitchFamily="34" charset="0"/>
                <a:ea typeface="Calibri" pitchFamily="34" charset="-122"/>
                <a:cs typeface="Calibri" pitchFamily="34" charset="-120"/>
              </a:rPr>
              <a:t>DIRECT</a:t>
            </a:r>
            <a:endParaRPr lang="en-US" sz="1100" dirty="0"/>
          </a:p>
        </p:txBody>
      </p:sp>
      <p:sp>
        <p:nvSpPr>
          <p:cNvPr id="7" name="Text 5"/>
          <p:cNvSpPr/>
          <p:nvPr/>
        </p:nvSpPr>
        <p:spPr>
          <a:xfrm>
            <a:off x="685800" y="1371600"/>
            <a:ext cx="1600200" cy="731520"/>
          </a:xfrm>
          <a:prstGeom prst="rect">
            <a:avLst/>
          </a:prstGeom>
          <a:noFill/>
          <a:ln/>
        </p:spPr>
        <p:txBody>
          <a:bodyPr wrap="square" lIns="0" tIns="0" rIns="0" bIns="0" rtlCol="0" anchor="ctr"/>
          <a:lstStyle/>
          <a:p>
            <a:pPr marL="0" indent="0">
              <a:buNone/>
            </a:pPr>
            <a:r>
              <a:rPr lang="en-US" sz="950" dirty="0">
                <a:solidFill>
                  <a:srgbClr val="9CA3AF"/>
                </a:solidFill>
                <a:latin typeface="Calibri Light" pitchFamily="34" charset="0"/>
                <a:ea typeface="Calibri Light" pitchFamily="34" charset="-122"/>
                <a:cs typeface="Calibri Light" pitchFamily="34" charset="-120"/>
              </a:rPr>
              <a:t>State what we do, how, and what it produces.</a:t>
            </a:r>
            <a:endParaRPr lang="en-US" sz="950" dirty="0"/>
          </a:p>
        </p:txBody>
      </p:sp>
      <p:sp>
        <p:nvSpPr>
          <p:cNvPr id="8" name="Shape 6"/>
          <p:cNvSpPr/>
          <p:nvPr/>
        </p:nvSpPr>
        <p:spPr>
          <a:xfrm>
            <a:off x="2651760" y="914400"/>
            <a:ext cx="1874520" cy="1371600"/>
          </a:xfrm>
          <a:prstGeom prst="rect">
            <a:avLst/>
          </a:prstGeom>
          <a:solidFill>
            <a:srgbClr val="3B5068"/>
          </a:solidFill>
          <a:ln/>
        </p:spPr>
        <p:txBody>
          <a:bodyPr/>
          <a:lstStyle/>
          <a:p>
            <a:endParaRPr lang="en-GB"/>
          </a:p>
        </p:txBody>
      </p:sp>
      <p:sp>
        <p:nvSpPr>
          <p:cNvPr id="9" name="Shape 7"/>
          <p:cNvSpPr/>
          <p:nvPr/>
        </p:nvSpPr>
        <p:spPr>
          <a:xfrm>
            <a:off x="2651760" y="914400"/>
            <a:ext cx="1874520" cy="36576"/>
          </a:xfrm>
          <a:prstGeom prst="rect">
            <a:avLst/>
          </a:prstGeom>
          <a:solidFill>
            <a:srgbClr val="D4382C"/>
          </a:solidFill>
          <a:ln/>
        </p:spPr>
        <p:txBody>
          <a:bodyPr/>
          <a:lstStyle/>
          <a:p>
            <a:endParaRPr lang="en-GB"/>
          </a:p>
        </p:txBody>
      </p:sp>
      <p:sp>
        <p:nvSpPr>
          <p:cNvPr id="10" name="Text 8"/>
          <p:cNvSpPr/>
          <p:nvPr/>
        </p:nvSpPr>
        <p:spPr>
          <a:xfrm>
            <a:off x="2788920" y="1051560"/>
            <a:ext cx="1600200" cy="228600"/>
          </a:xfrm>
          <a:prstGeom prst="rect">
            <a:avLst/>
          </a:prstGeom>
          <a:noFill/>
          <a:ln/>
        </p:spPr>
        <p:txBody>
          <a:bodyPr wrap="square" lIns="0" tIns="0" rIns="0" bIns="0" rtlCol="0" anchor="ctr"/>
          <a:lstStyle/>
          <a:p>
            <a:pPr marL="0" indent="0">
              <a:buNone/>
            </a:pPr>
            <a:r>
              <a:rPr lang="en-US" sz="1100" b="1" kern="0" spc="200" dirty="0">
                <a:solidFill>
                  <a:srgbClr val="D4382C"/>
                </a:solidFill>
                <a:latin typeface="Calibri" pitchFamily="34" charset="0"/>
                <a:ea typeface="Calibri" pitchFamily="34" charset="-122"/>
                <a:cs typeface="Calibri" pitchFamily="34" charset="-120"/>
              </a:rPr>
              <a:t>TECHNICAL</a:t>
            </a:r>
            <a:endParaRPr lang="en-US" sz="1100" dirty="0"/>
          </a:p>
        </p:txBody>
      </p:sp>
      <p:sp>
        <p:nvSpPr>
          <p:cNvPr id="11" name="Text 9"/>
          <p:cNvSpPr/>
          <p:nvPr/>
        </p:nvSpPr>
        <p:spPr>
          <a:xfrm>
            <a:off x="2788920" y="1371600"/>
            <a:ext cx="1600200" cy="731520"/>
          </a:xfrm>
          <a:prstGeom prst="rect">
            <a:avLst/>
          </a:prstGeom>
          <a:noFill/>
          <a:ln/>
        </p:spPr>
        <p:txBody>
          <a:bodyPr wrap="square" lIns="0" tIns="0" rIns="0" bIns="0" rtlCol="0" anchor="ctr"/>
          <a:lstStyle/>
          <a:p>
            <a:pPr marL="0" indent="0">
              <a:buNone/>
            </a:pPr>
            <a:r>
              <a:rPr lang="en-US" sz="950" dirty="0">
                <a:solidFill>
                  <a:srgbClr val="9CA3AF"/>
                </a:solidFill>
                <a:latin typeface="Calibri Light" pitchFamily="34" charset="0"/>
                <a:ea typeface="Calibri Light" pitchFamily="34" charset="-122"/>
                <a:cs typeface="Calibri Light" pitchFamily="34" charset="-120"/>
              </a:rPr>
              <a:t>Sector terminology used accurately.</a:t>
            </a:r>
            <a:endParaRPr lang="en-US" sz="950" dirty="0"/>
          </a:p>
        </p:txBody>
      </p:sp>
      <p:sp>
        <p:nvSpPr>
          <p:cNvPr id="12" name="Shape 10"/>
          <p:cNvSpPr/>
          <p:nvPr/>
        </p:nvSpPr>
        <p:spPr>
          <a:xfrm>
            <a:off x="4754880" y="914400"/>
            <a:ext cx="1874520" cy="1371600"/>
          </a:xfrm>
          <a:prstGeom prst="rect">
            <a:avLst/>
          </a:prstGeom>
          <a:solidFill>
            <a:srgbClr val="192231"/>
          </a:solidFill>
          <a:ln/>
        </p:spPr>
        <p:txBody>
          <a:bodyPr/>
          <a:lstStyle/>
          <a:p>
            <a:endParaRPr lang="en-GB"/>
          </a:p>
        </p:txBody>
      </p:sp>
      <p:sp>
        <p:nvSpPr>
          <p:cNvPr id="13" name="Shape 11"/>
          <p:cNvSpPr/>
          <p:nvPr/>
        </p:nvSpPr>
        <p:spPr>
          <a:xfrm>
            <a:off x="4754880" y="914400"/>
            <a:ext cx="1874520" cy="36576"/>
          </a:xfrm>
          <a:prstGeom prst="rect">
            <a:avLst/>
          </a:prstGeom>
          <a:solidFill>
            <a:srgbClr val="D4382C"/>
          </a:solidFill>
          <a:ln/>
        </p:spPr>
        <p:txBody>
          <a:bodyPr/>
          <a:lstStyle/>
          <a:p>
            <a:endParaRPr lang="en-GB"/>
          </a:p>
        </p:txBody>
      </p:sp>
      <p:sp>
        <p:nvSpPr>
          <p:cNvPr id="14" name="Text 12"/>
          <p:cNvSpPr/>
          <p:nvPr/>
        </p:nvSpPr>
        <p:spPr>
          <a:xfrm>
            <a:off x="4892040" y="1051560"/>
            <a:ext cx="1600200" cy="228600"/>
          </a:xfrm>
          <a:prstGeom prst="rect">
            <a:avLst/>
          </a:prstGeom>
          <a:noFill/>
          <a:ln/>
        </p:spPr>
        <p:txBody>
          <a:bodyPr wrap="square" lIns="0" tIns="0" rIns="0" bIns="0" rtlCol="0" anchor="ctr"/>
          <a:lstStyle/>
          <a:p>
            <a:pPr marL="0" indent="0">
              <a:buNone/>
            </a:pPr>
            <a:r>
              <a:rPr lang="en-US" sz="1100" b="1" kern="0" spc="200" dirty="0">
                <a:solidFill>
                  <a:srgbClr val="D4382C"/>
                </a:solidFill>
                <a:latin typeface="Calibri" pitchFamily="34" charset="0"/>
                <a:ea typeface="Calibri" pitchFamily="34" charset="-122"/>
                <a:cs typeface="Calibri" pitchFamily="34" charset="-120"/>
              </a:rPr>
              <a:t>EVIDENCE-LED</a:t>
            </a:r>
            <a:endParaRPr lang="en-US" sz="1100" dirty="0"/>
          </a:p>
        </p:txBody>
      </p:sp>
      <p:sp>
        <p:nvSpPr>
          <p:cNvPr id="15" name="Text 13"/>
          <p:cNvSpPr/>
          <p:nvPr/>
        </p:nvSpPr>
        <p:spPr>
          <a:xfrm>
            <a:off x="4892040" y="1371600"/>
            <a:ext cx="1600200" cy="731520"/>
          </a:xfrm>
          <a:prstGeom prst="rect">
            <a:avLst/>
          </a:prstGeom>
          <a:noFill/>
          <a:ln/>
        </p:spPr>
        <p:txBody>
          <a:bodyPr wrap="square" lIns="0" tIns="0" rIns="0" bIns="0" rtlCol="0" anchor="ctr"/>
          <a:lstStyle/>
          <a:p>
            <a:pPr marL="0" indent="0">
              <a:buNone/>
            </a:pPr>
            <a:r>
              <a:rPr lang="en-US" sz="950" dirty="0">
                <a:solidFill>
                  <a:srgbClr val="9CA3AF"/>
                </a:solidFill>
                <a:latin typeface="Calibri Light" pitchFamily="34" charset="0"/>
                <a:ea typeface="Calibri Light" pitchFamily="34" charset="-122"/>
                <a:cs typeface="Calibri Light" pitchFamily="34" charset="-120"/>
              </a:rPr>
              <a:t>Every claim substantiated with specifics.</a:t>
            </a:r>
            <a:endParaRPr lang="en-US" sz="950" dirty="0"/>
          </a:p>
        </p:txBody>
      </p:sp>
      <p:sp>
        <p:nvSpPr>
          <p:cNvPr id="16" name="Shape 14"/>
          <p:cNvSpPr/>
          <p:nvPr/>
        </p:nvSpPr>
        <p:spPr>
          <a:xfrm>
            <a:off x="6858000" y="914400"/>
            <a:ext cx="1874520" cy="1371600"/>
          </a:xfrm>
          <a:prstGeom prst="rect">
            <a:avLst/>
          </a:prstGeom>
          <a:solidFill>
            <a:srgbClr val="3B5068"/>
          </a:solidFill>
          <a:ln/>
        </p:spPr>
        <p:txBody>
          <a:bodyPr/>
          <a:lstStyle/>
          <a:p>
            <a:endParaRPr lang="en-GB"/>
          </a:p>
        </p:txBody>
      </p:sp>
      <p:sp>
        <p:nvSpPr>
          <p:cNvPr id="17" name="Shape 15"/>
          <p:cNvSpPr/>
          <p:nvPr/>
        </p:nvSpPr>
        <p:spPr>
          <a:xfrm>
            <a:off x="6858000" y="914400"/>
            <a:ext cx="1874520" cy="36576"/>
          </a:xfrm>
          <a:prstGeom prst="rect">
            <a:avLst/>
          </a:prstGeom>
          <a:solidFill>
            <a:srgbClr val="D4382C"/>
          </a:solidFill>
          <a:ln/>
        </p:spPr>
        <p:txBody>
          <a:bodyPr/>
          <a:lstStyle/>
          <a:p>
            <a:endParaRPr lang="en-GB"/>
          </a:p>
        </p:txBody>
      </p:sp>
      <p:sp>
        <p:nvSpPr>
          <p:cNvPr id="18" name="Text 16"/>
          <p:cNvSpPr/>
          <p:nvPr/>
        </p:nvSpPr>
        <p:spPr>
          <a:xfrm>
            <a:off x="6995160" y="1051560"/>
            <a:ext cx="1600200" cy="228600"/>
          </a:xfrm>
          <a:prstGeom prst="rect">
            <a:avLst/>
          </a:prstGeom>
          <a:noFill/>
          <a:ln/>
        </p:spPr>
        <p:txBody>
          <a:bodyPr wrap="square" lIns="0" tIns="0" rIns="0" bIns="0" rtlCol="0" anchor="ctr"/>
          <a:lstStyle/>
          <a:p>
            <a:pPr marL="0" indent="0">
              <a:buNone/>
            </a:pPr>
            <a:r>
              <a:rPr lang="en-US" sz="1100" b="1" kern="0" spc="200" dirty="0">
                <a:solidFill>
                  <a:srgbClr val="D4382C"/>
                </a:solidFill>
                <a:latin typeface="Calibri" pitchFamily="34" charset="0"/>
                <a:ea typeface="Calibri" pitchFamily="34" charset="-122"/>
                <a:cs typeface="Calibri" pitchFamily="34" charset="-120"/>
              </a:rPr>
              <a:t>ECONOMICAL</a:t>
            </a:r>
            <a:endParaRPr lang="en-US" sz="1100" dirty="0"/>
          </a:p>
        </p:txBody>
      </p:sp>
      <p:sp>
        <p:nvSpPr>
          <p:cNvPr id="19" name="Text 17"/>
          <p:cNvSpPr/>
          <p:nvPr/>
        </p:nvSpPr>
        <p:spPr>
          <a:xfrm>
            <a:off x="6995160" y="1371600"/>
            <a:ext cx="1600200" cy="731520"/>
          </a:xfrm>
          <a:prstGeom prst="rect">
            <a:avLst/>
          </a:prstGeom>
          <a:noFill/>
          <a:ln/>
        </p:spPr>
        <p:txBody>
          <a:bodyPr wrap="square" lIns="0" tIns="0" rIns="0" bIns="0" rtlCol="0" anchor="ctr"/>
          <a:lstStyle/>
          <a:p>
            <a:pPr marL="0" indent="0">
              <a:buNone/>
            </a:pPr>
            <a:r>
              <a:rPr lang="en-US" sz="950" dirty="0">
                <a:solidFill>
                  <a:srgbClr val="9CA3AF"/>
                </a:solidFill>
                <a:latin typeface="Calibri Light" pitchFamily="34" charset="0"/>
                <a:ea typeface="Calibri Light" pitchFamily="34" charset="-122"/>
                <a:cs typeface="Calibri Light" pitchFamily="34" charset="-120"/>
              </a:rPr>
              <a:t>Fewest words at required precision.</a:t>
            </a:r>
            <a:endParaRPr lang="en-US" sz="950" dirty="0"/>
          </a:p>
        </p:txBody>
      </p:sp>
      <p:sp>
        <p:nvSpPr>
          <p:cNvPr id="20" name="Shape 18"/>
          <p:cNvSpPr/>
          <p:nvPr/>
        </p:nvSpPr>
        <p:spPr>
          <a:xfrm>
            <a:off x="548640" y="2514600"/>
            <a:ext cx="3931920" cy="1371600"/>
          </a:xfrm>
          <a:prstGeom prst="rect">
            <a:avLst/>
          </a:prstGeom>
          <a:solidFill>
            <a:srgbClr val="F3F4F6"/>
          </a:solidFill>
          <a:ln/>
        </p:spPr>
        <p:txBody>
          <a:bodyPr/>
          <a:lstStyle/>
          <a:p>
            <a:endParaRPr lang="en-GB"/>
          </a:p>
        </p:txBody>
      </p:sp>
      <p:sp>
        <p:nvSpPr>
          <p:cNvPr id="21" name="Text 19"/>
          <p:cNvSpPr/>
          <p:nvPr/>
        </p:nvSpPr>
        <p:spPr>
          <a:xfrm>
            <a:off x="731520" y="2560320"/>
            <a:ext cx="3657600" cy="182880"/>
          </a:xfrm>
          <a:prstGeom prst="rect">
            <a:avLst/>
          </a:prstGeom>
          <a:noFill/>
          <a:ln/>
        </p:spPr>
        <p:txBody>
          <a:bodyPr wrap="square" lIns="0" tIns="0" rIns="0" bIns="0" rtlCol="0" anchor="ctr"/>
          <a:lstStyle/>
          <a:p>
            <a:pPr marL="0" indent="0">
              <a:buNone/>
            </a:pPr>
            <a:r>
              <a:rPr lang="en-US" sz="900" b="1" kern="0" spc="200" dirty="0">
                <a:solidFill>
                  <a:srgbClr val="D4382C"/>
                </a:solidFill>
                <a:latin typeface="Calibri" pitchFamily="34" charset="0"/>
                <a:ea typeface="Calibri" pitchFamily="34" charset="-122"/>
                <a:cs typeface="Calibri" pitchFamily="34" charset="-120"/>
              </a:rPr>
              <a:t>WE WRITE</a:t>
            </a:r>
            <a:endParaRPr lang="en-US" sz="900" dirty="0"/>
          </a:p>
        </p:txBody>
      </p:sp>
      <p:sp>
        <p:nvSpPr>
          <p:cNvPr id="22" name="Text 20"/>
          <p:cNvSpPr/>
          <p:nvPr/>
        </p:nvSpPr>
        <p:spPr>
          <a:xfrm>
            <a:off x="731520" y="2788920"/>
            <a:ext cx="3657600" cy="731520"/>
          </a:xfrm>
          <a:prstGeom prst="rect">
            <a:avLst/>
          </a:prstGeom>
          <a:noFill/>
          <a:ln/>
        </p:spPr>
        <p:txBody>
          <a:bodyPr wrap="square" lIns="0" tIns="0" rIns="0" bIns="0" rtlCol="0" anchor="ctr"/>
          <a:lstStyle/>
          <a:p>
            <a:pPr marL="0" indent="0">
              <a:buNone/>
            </a:pPr>
            <a:r>
              <a:rPr lang="en-US" sz="900" dirty="0">
                <a:solidFill>
                  <a:srgbClr val="192231"/>
                </a:solidFill>
                <a:latin typeface="Calibri" pitchFamily="34" charset="0"/>
                <a:ea typeface="Calibri" pitchFamily="34" charset="-122"/>
                <a:cs typeface="Calibri" pitchFamily="34" charset="-120"/>
              </a:rPr>
              <a:t>"We scored this response 3.2/5."</a:t>
            </a:r>
            <a:endParaRPr lang="en-US" sz="900" dirty="0"/>
          </a:p>
          <a:p>
            <a:pPr marL="0" indent="0">
              <a:buNone/>
            </a:pPr>
            <a:r>
              <a:rPr lang="en-US" sz="900" dirty="0">
                <a:solidFill>
                  <a:srgbClr val="192231"/>
                </a:solidFill>
                <a:latin typeface="Calibri" pitchFamily="34" charset="0"/>
                <a:ea typeface="Calibri" pitchFamily="34" charset="-122"/>
                <a:cs typeface="Calibri" pitchFamily="34" charset="-120"/>
              </a:rPr>
              <a:t>"The specification requires TUPE compliance."</a:t>
            </a:r>
            <a:endParaRPr lang="en-US" sz="900" dirty="0"/>
          </a:p>
          <a:p>
            <a:pPr marL="0" indent="0">
              <a:buNone/>
            </a:pPr>
            <a:r>
              <a:rPr lang="en-US" sz="900" dirty="0">
                <a:solidFill>
                  <a:srgbClr val="192231"/>
                </a:solidFill>
                <a:latin typeface="Calibri" pitchFamily="34" charset="0"/>
                <a:ea typeface="Calibri" pitchFamily="34" charset="-122"/>
                <a:cs typeface="Calibri" pitchFamily="34" charset="-120"/>
              </a:rPr>
              <a:t>"This response does not evidence named staff."</a:t>
            </a:r>
            <a:endParaRPr lang="en-US" sz="900" dirty="0"/>
          </a:p>
        </p:txBody>
      </p:sp>
      <p:sp>
        <p:nvSpPr>
          <p:cNvPr id="23" name="Shape 21"/>
          <p:cNvSpPr/>
          <p:nvPr/>
        </p:nvSpPr>
        <p:spPr>
          <a:xfrm>
            <a:off x="4663440" y="2514600"/>
            <a:ext cx="3931920" cy="1371600"/>
          </a:xfrm>
          <a:prstGeom prst="rect">
            <a:avLst/>
          </a:prstGeom>
          <a:solidFill>
            <a:srgbClr val="192231"/>
          </a:solidFill>
          <a:ln/>
        </p:spPr>
        <p:txBody>
          <a:bodyPr/>
          <a:lstStyle/>
          <a:p>
            <a:endParaRPr lang="en-GB"/>
          </a:p>
        </p:txBody>
      </p:sp>
      <p:sp>
        <p:nvSpPr>
          <p:cNvPr id="24" name="Text 22"/>
          <p:cNvSpPr/>
          <p:nvPr/>
        </p:nvSpPr>
        <p:spPr>
          <a:xfrm>
            <a:off x="4846320" y="2560320"/>
            <a:ext cx="3657600" cy="182880"/>
          </a:xfrm>
          <a:prstGeom prst="rect">
            <a:avLst/>
          </a:prstGeom>
          <a:noFill/>
          <a:ln/>
        </p:spPr>
        <p:txBody>
          <a:bodyPr wrap="square" lIns="0" tIns="0" rIns="0" bIns="0" rtlCol="0" anchor="ctr"/>
          <a:lstStyle/>
          <a:p>
            <a:pPr marL="0" indent="0">
              <a:buNone/>
            </a:pPr>
            <a:r>
              <a:rPr lang="en-US" sz="900" b="1" kern="0" spc="200" dirty="0">
                <a:solidFill>
                  <a:srgbClr val="6B7280"/>
                </a:solidFill>
                <a:latin typeface="Calibri" pitchFamily="34" charset="0"/>
                <a:ea typeface="Calibri" pitchFamily="34" charset="-122"/>
                <a:cs typeface="Calibri" pitchFamily="34" charset="-120"/>
              </a:rPr>
              <a:t>WE DO NOT WRITE</a:t>
            </a:r>
            <a:endParaRPr lang="en-US" sz="900" dirty="0"/>
          </a:p>
        </p:txBody>
      </p:sp>
      <p:sp>
        <p:nvSpPr>
          <p:cNvPr id="25" name="Text 23"/>
          <p:cNvSpPr/>
          <p:nvPr/>
        </p:nvSpPr>
        <p:spPr>
          <a:xfrm>
            <a:off x="4846320" y="2788920"/>
            <a:ext cx="3657600" cy="731520"/>
          </a:xfrm>
          <a:prstGeom prst="rect">
            <a:avLst/>
          </a:prstGeom>
          <a:noFill/>
          <a:ln/>
        </p:spPr>
        <p:txBody>
          <a:bodyPr wrap="square" lIns="0" tIns="0" rIns="0" bIns="0" rtlCol="0" anchor="ctr"/>
          <a:lstStyle/>
          <a:p>
            <a:pPr marL="0" indent="0">
              <a:buNone/>
            </a:pPr>
            <a:r>
              <a:rPr lang="en-US" sz="900" dirty="0">
                <a:solidFill>
                  <a:srgbClr val="9CA3AF"/>
                </a:solidFill>
                <a:latin typeface="Calibri Light" pitchFamily="34" charset="0"/>
                <a:ea typeface="Calibri Light" pitchFamily="34" charset="-122"/>
                <a:cs typeface="Calibri Light" pitchFamily="34" charset="-120"/>
              </a:rPr>
              <a:t>"We feel this is a strong response."</a:t>
            </a:r>
            <a:endParaRPr lang="en-US" sz="900" dirty="0"/>
          </a:p>
          <a:p>
            <a:pPr marL="0" indent="0">
              <a:buNone/>
            </a:pPr>
            <a:r>
              <a:rPr lang="en-US" sz="900" dirty="0">
                <a:solidFill>
                  <a:srgbClr val="9CA3AF"/>
                </a:solidFill>
                <a:latin typeface="Calibri Light" pitchFamily="34" charset="0"/>
                <a:ea typeface="Calibri Light" pitchFamily="34" charset="-122"/>
                <a:cs typeface="Calibri Light" pitchFamily="34" charset="-120"/>
              </a:rPr>
              <a:t>"You may want to consider TUPE."</a:t>
            </a:r>
            <a:endParaRPr lang="en-US" sz="900" dirty="0"/>
          </a:p>
          <a:p>
            <a:pPr marL="0" indent="0">
              <a:buNone/>
            </a:pPr>
            <a:r>
              <a:rPr lang="en-US" sz="900" dirty="0">
                <a:solidFill>
                  <a:srgbClr val="9CA3AF"/>
                </a:solidFill>
                <a:latin typeface="Calibri Light" pitchFamily="34" charset="0"/>
                <a:ea typeface="Calibri Light" pitchFamily="34" charset="-122"/>
                <a:cs typeface="Calibri Light" pitchFamily="34" charset="-120"/>
              </a:rPr>
              <a:t>"This could be improved."</a:t>
            </a:r>
            <a:endParaRPr lang="en-US" sz="900" dirty="0"/>
          </a:p>
        </p:txBody>
      </p:sp>
      <p:pic>
        <p:nvPicPr>
          <p:cNvPr id="26" name="Image 0" descr="preencoded.png"/>
          <p:cNvPicPr>
            <a:picLocks noChangeAspect="1"/>
          </p:cNvPicPr>
          <p:nvPr/>
        </p:nvPicPr>
        <p:blipFill>
          <a:blip r:embed="rId3"/>
          <a:stretch>
            <a:fillRect/>
          </a:stretch>
        </p:blipFill>
        <p:spPr>
          <a:xfrm>
            <a:off x="0" y="3931920"/>
            <a:ext cx="4572000" cy="868680"/>
          </a:xfrm>
          <a:prstGeom prst="rect">
            <a:avLst/>
          </a:prstGeom>
        </p:spPr>
      </p:pic>
      <p:pic>
        <p:nvPicPr>
          <p:cNvPr id="27" name="Image 1" descr="preencoded.png"/>
          <p:cNvPicPr>
            <a:picLocks noChangeAspect="1"/>
          </p:cNvPicPr>
          <p:nvPr/>
        </p:nvPicPr>
        <p:blipFill>
          <a:blip r:embed="rId4"/>
          <a:stretch>
            <a:fillRect/>
          </a:stretch>
        </p:blipFill>
        <p:spPr>
          <a:xfrm>
            <a:off x="4572000" y="3931920"/>
            <a:ext cx="4572000" cy="86868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32004"/>
          </a:xfrm>
          <a:prstGeom prst="rect">
            <a:avLst/>
          </a:prstGeom>
          <a:solidFill>
            <a:srgbClr val="D4382C"/>
          </a:solidFill>
          <a:ln/>
        </p:spPr>
        <p:txBody>
          <a:bodyPr/>
          <a:lstStyle/>
          <a:p>
            <a:endParaRPr lang="en-GB"/>
          </a:p>
        </p:txBody>
      </p:sp>
      <p:sp>
        <p:nvSpPr>
          <p:cNvPr id="3" name="Text 1"/>
          <p:cNvSpPr/>
          <p:nvPr/>
        </p:nvSpPr>
        <p:spPr>
          <a:xfrm>
            <a:off x="548640" y="274320"/>
            <a:ext cx="5486400" cy="457200"/>
          </a:xfrm>
          <a:prstGeom prst="rect">
            <a:avLst/>
          </a:prstGeom>
          <a:noFill/>
          <a:ln/>
        </p:spPr>
        <p:txBody>
          <a:bodyPr wrap="square" lIns="0" tIns="0" rIns="0" bIns="0" rtlCol="0" anchor="ctr"/>
          <a:lstStyle/>
          <a:p>
            <a:pPr marL="0" indent="0">
              <a:buNone/>
            </a:pPr>
            <a:r>
              <a:rPr lang="en-US" sz="2800" dirty="0">
                <a:solidFill>
                  <a:srgbClr val="192231"/>
                </a:solidFill>
                <a:latin typeface="Arial Black" pitchFamily="34" charset="0"/>
                <a:ea typeface="Arial Black" pitchFamily="34" charset="-122"/>
                <a:cs typeface="Arial Black" pitchFamily="34" charset="-120"/>
              </a:rPr>
              <a:t>Visual Identity</a:t>
            </a:r>
            <a:endParaRPr lang="en-US" sz="2800" dirty="0"/>
          </a:p>
        </p:txBody>
      </p:sp>
      <p:sp>
        <p:nvSpPr>
          <p:cNvPr id="4" name="Shape 2"/>
          <p:cNvSpPr/>
          <p:nvPr/>
        </p:nvSpPr>
        <p:spPr>
          <a:xfrm>
            <a:off x="548640" y="914400"/>
            <a:ext cx="3840480" cy="1005840"/>
          </a:xfrm>
          <a:prstGeom prst="rect">
            <a:avLst/>
          </a:prstGeom>
          <a:solidFill>
            <a:srgbClr val="F3F4F6"/>
          </a:solidFill>
          <a:ln/>
        </p:spPr>
        <p:txBody>
          <a:bodyPr/>
          <a:lstStyle/>
          <a:p>
            <a:endParaRPr lang="en-GB"/>
          </a:p>
        </p:txBody>
      </p:sp>
      <p:sp>
        <p:nvSpPr>
          <p:cNvPr id="5" name="Text 3"/>
          <p:cNvSpPr/>
          <p:nvPr/>
        </p:nvSpPr>
        <p:spPr>
          <a:xfrm>
            <a:off x="685800" y="1005840"/>
            <a:ext cx="3566160" cy="228600"/>
          </a:xfrm>
          <a:prstGeom prst="rect">
            <a:avLst/>
          </a:prstGeom>
          <a:noFill/>
          <a:ln/>
        </p:spPr>
        <p:txBody>
          <a:bodyPr wrap="square" lIns="0" tIns="0" rIns="0" bIns="0" rtlCol="0" anchor="ctr"/>
          <a:lstStyle/>
          <a:p>
            <a:pPr marL="0" indent="0">
              <a:buNone/>
            </a:pPr>
            <a:r>
              <a:rPr lang="en-US" sz="1100" b="1" dirty="0">
                <a:solidFill>
                  <a:srgbClr val="192231"/>
                </a:solidFill>
                <a:latin typeface="Calibri" pitchFamily="34" charset="0"/>
                <a:ea typeface="Calibri" pitchFamily="34" charset="-122"/>
                <a:cs typeface="Calibri" pitchFamily="34" charset="-120"/>
              </a:rPr>
              <a:t>Photography</a:t>
            </a:r>
            <a:endParaRPr lang="en-US" sz="1100" dirty="0"/>
          </a:p>
        </p:txBody>
      </p:sp>
      <p:sp>
        <p:nvSpPr>
          <p:cNvPr id="6" name="Text 4"/>
          <p:cNvSpPr/>
          <p:nvPr/>
        </p:nvSpPr>
        <p:spPr>
          <a:xfrm>
            <a:off x="685800" y="1261872"/>
            <a:ext cx="3566160" cy="548640"/>
          </a:xfrm>
          <a:prstGeom prst="rect">
            <a:avLst/>
          </a:prstGeom>
          <a:noFill/>
          <a:ln/>
        </p:spPr>
        <p:txBody>
          <a:bodyPr wrap="square" lIns="0" tIns="0" rIns="0" bIns="0" rtlCol="0" anchor="ctr"/>
          <a:lstStyle/>
          <a:p>
            <a:pPr marL="0" indent="0">
              <a:buNone/>
            </a:pPr>
            <a:r>
              <a:rPr lang="en-US" sz="900" dirty="0">
                <a:solidFill>
                  <a:srgbClr val="6B7280"/>
                </a:solidFill>
                <a:latin typeface="Calibri Light" pitchFamily="34" charset="0"/>
                <a:ea typeface="Calibri Light" pitchFamily="34" charset="-122"/>
                <a:cs typeface="Calibri Light" pitchFamily="34" charset="-120"/>
              </a:rPr>
              <a:t>Real care sector images. Desaturated to 40% with Heritage Red duotone for brand consistency where needed.</a:t>
            </a:r>
            <a:endParaRPr lang="en-US" sz="900" dirty="0"/>
          </a:p>
        </p:txBody>
      </p:sp>
      <p:sp>
        <p:nvSpPr>
          <p:cNvPr id="7" name="Shape 5"/>
          <p:cNvSpPr/>
          <p:nvPr/>
        </p:nvSpPr>
        <p:spPr>
          <a:xfrm>
            <a:off x="4754880" y="914400"/>
            <a:ext cx="3840480" cy="1005840"/>
          </a:xfrm>
          <a:prstGeom prst="rect">
            <a:avLst/>
          </a:prstGeom>
          <a:solidFill>
            <a:srgbClr val="FAFAF5"/>
          </a:solidFill>
          <a:ln/>
        </p:spPr>
        <p:txBody>
          <a:bodyPr/>
          <a:lstStyle/>
          <a:p>
            <a:endParaRPr lang="en-GB"/>
          </a:p>
        </p:txBody>
      </p:sp>
      <p:sp>
        <p:nvSpPr>
          <p:cNvPr id="8" name="Text 6"/>
          <p:cNvSpPr/>
          <p:nvPr/>
        </p:nvSpPr>
        <p:spPr>
          <a:xfrm>
            <a:off x="4892040" y="1005840"/>
            <a:ext cx="3566160" cy="228600"/>
          </a:xfrm>
          <a:prstGeom prst="rect">
            <a:avLst/>
          </a:prstGeom>
          <a:noFill/>
          <a:ln/>
        </p:spPr>
        <p:txBody>
          <a:bodyPr wrap="square" lIns="0" tIns="0" rIns="0" bIns="0" rtlCol="0" anchor="ctr"/>
          <a:lstStyle/>
          <a:p>
            <a:pPr marL="0" indent="0">
              <a:buNone/>
            </a:pPr>
            <a:r>
              <a:rPr lang="en-US" sz="1100" b="1" dirty="0">
                <a:solidFill>
                  <a:srgbClr val="192231"/>
                </a:solidFill>
                <a:latin typeface="Calibri" pitchFamily="34" charset="0"/>
                <a:ea typeface="Calibri" pitchFamily="34" charset="-122"/>
                <a:cs typeface="Calibri" pitchFamily="34" charset="-120"/>
              </a:rPr>
              <a:t>The Horizontal Rule</a:t>
            </a:r>
            <a:endParaRPr lang="en-US" sz="1100" dirty="0"/>
          </a:p>
        </p:txBody>
      </p:sp>
      <p:sp>
        <p:nvSpPr>
          <p:cNvPr id="9" name="Text 7"/>
          <p:cNvSpPr/>
          <p:nvPr/>
        </p:nvSpPr>
        <p:spPr>
          <a:xfrm>
            <a:off x="4892040" y="1261872"/>
            <a:ext cx="3566160" cy="548640"/>
          </a:xfrm>
          <a:prstGeom prst="rect">
            <a:avLst/>
          </a:prstGeom>
          <a:noFill/>
          <a:ln/>
        </p:spPr>
        <p:txBody>
          <a:bodyPr wrap="square" lIns="0" tIns="0" rIns="0" bIns="0" rtlCol="0" anchor="ctr"/>
          <a:lstStyle/>
          <a:p>
            <a:pPr marL="0" indent="0">
              <a:buNone/>
            </a:pPr>
            <a:r>
              <a:rPr lang="en-US" sz="900" dirty="0">
                <a:solidFill>
                  <a:srgbClr val="6B7280"/>
                </a:solidFill>
                <a:latin typeface="Calibri Light" pitchFamily="34" charset="0"/>
                <a:ea typeface="Calibri Light" pitchFamily="34" charset="-122"/>
                <a:cs typeface="Calibri Light" pitchFamily="34" charset="-120"/>
              </a:rPr>
              <a:t>From the logo. 2pt for section dividers, 1pt for heading emphasis. Always Heritage Red.</a:t>
            </a:r>
            <a:endParaRPr lang="en-US" sz="900" dirty="0"/>
          </a:p>
        </p:txBody>
      </p:sp>
      <p:sp>
        <p:nvSpPr>
          <p:cNvPr id="10" name="Shape 8"/>
          <p:cNvSpPr/>
          <p:nvPr/>
        </p:nvSpPr>
        <p:spPr>
          <a:xfrm>
            <a:off x="548640" y="2103120"/>
            <a:ext cx="3840480" cy="1005840"/>
          </a:xfrm>
          <a:prstGeom prst="rect">
            <a:avLst/>
          </a:prstGeom>
          <a:solidFill>
            <a:srgbClr val="F3F4F6"/>
          </a:solidFill>
          <a:ln/>
        </p:spPr>
        <p:txBody>
          <a:bodyPr/>
          <a:lstStyle/>
          <a:p>
            <a:endParaRPr lang="en-GB"/>
          </a:p>
        </p:txBody>
      </p:sp>
      <p:sp>
        <p:nvSpPr>
          <p:cNvPr id="11" name="Text 9"/>
          <p:cNvSpPr/>
          <p:nvPr/>
        </p:nvSpPr>
        <p:spPr>
          <a:xfrm>
            <a:off x="685800" y="2194560"/>
            <a:ext cx="3566160" cy="228600"/>
          </a:xfrm>
          <a:prstGeom prst="rect">
            <a:avLst/>
          </a:prstGeom>
          <a:noFill/>
          <a:ln/>
        </p:spPr>
        <p:txBody>
          <a:bodyPr wrap="square" lIns="0" tIns="0" rIns="0" bIns="0" rtlCol="0" anchor="ctr"/>
          <a:lstStyle/>
          <a:p>
            <a:pPr marL="0" indent="0">
              <a:buNone/>
            </a:pPr>
            <a:r>
              <a:rPr lang="en-US" sz="1100" b="1" dirty="0">
                <a:solidFill>
                  <a:srgbClr val="192231"/>
                </a:solidFill>
                <a:latin typeface="Calibri" pitchFamily="34" charset="0"/>
                <a:ea typeface="Calibri" pitchFamily="34" charset="-122"/>
                <a:cs typeface="Calibri" pitchFamily="34" charset="-120"/>
              </a:rPr>
              <a:t>The Container</a:t>
            </a:r>
            <a:endParaRPr lang="en-US" sz="1100" dirty="0"/>
          </a:p>
        </p:txBody>
      </p:sp>
      <p:sp>
        <p:nvSpPr>
          <p:cNvPr id="12" name="Text 10"/>
          <p:cNvSpPr/>
          <p:nvPr/>
        </p:nvSpPr>
        <p:spPr>
          <a:xfrm>
            <a:off x="685800" y="2450592"/>
            <a:ext cx="3566160" cy="548640"/>
          </a:xfrm>
          <a:prstGeom prst="rect">
            <a:avLst/>
          </a:prstGeom>
          <a:noFill/>
          <a:ln/>
        </p:spPr>
        <p:txBody>
          <a:bodyPr wrap="square" lIns="0" tIns="0" rIns="0" bIns="0" rtlCol="0" anchor="ctr"/>
          <a:lstStyle/>
          <a:p>
            <a:pPr marL="0" indent="0">
              <a:buNone/>
            </a:pPr>
            <a:r>
              <a:rPr lang="en-US" sz="900" dirty="0">
                <a:solidFill>
                  <a:srgbClr val="6B7280"/>
                </a:solidFill>
                <a:latin typeface="Calibri Light" pitchFamily="34" charset="0"/>
                <a:ea typeface="Calibri Light" pitchFamily="34" charset="-122"/>
                <a:cs typeface="Calibri Light" pitchFamily="34" charset="-120"/>
              </a:rPr>
              <a:t>From the LAB element. For callouts and key statistics. Tightened radius. Max two per page.</a:t>
            </a:r>
            <a:endParaRPr lang="en-US" sz="900" dirty="0"/>
          </a:p>
        </p:txBody>
      </p:sp>
      <p:sp>
        <p:nvSpPr>
          <p:cNvPr id="13" name="Shape 11"/>
          <p:cNvSpPr/>
          <p:nvPr/>
        </p:nvSpPr>
        <p:spPr>
          <a:xfrm>
            <a:off x="4754880" y="2103120"/>
            <a:ext cx="3840480" cy="1005840"/>
          </a:xfrm>
          <a:prstGeom prst="rect">
            <a:avLst/>
          </a:prstGeom>
          <a:solidFill>
            <a:srgbClr val="FAFAF5"/>
          </a:solidFill>
          <a:ln/>
        </p:spPr>
        <p:txBody>
          <a:bodyPr/>
          <a:lstStyle/>
          <a:p>
            <a:endParaRPr lang="en-GB"/>
          </a:p>
        </p:txBody>
      </p:sp>
      <p:sp>
        <p:nvSpPr>
          <p:cNvPr id="14" name="Text 12"/>
          <p:cNvSpPr/>
          <p:nvPr/>
        </p:nvSpPr>
        <p:spPr>
          <a:xfrm>
            <a:off x="4892040" y="2194560"/>
            <a:ext cx="3566160" cy="228600"/>
          </a:xfrm>
          <a:prstGeom prst="rect">
            <a:avLst/>
          </a:prstGeom>
          <a:noFill/>
          <a:ln/>
        </p:spPr>
        <p:txBody>
          <a:bodyPr wrap="square" lIns="0" tIns="0" rIns="0" bIns="0" rtlCol="0" anchor="ctr"/>
          <a:lstStyle/>
          <a:p>
            <a:pPr marL="0" indent="0">
              <a:buNone/>
            </a:pPr>
            <a:r>
              <a:rPr lang="en-US" sz="1100" b="1" dirty="0">
                <a:solidFill>
                  <a:srgbClr val="192231"/>
                </a:solidFill>
                <a:latin typeface="Calibri" pitchFamily="34" charset="0"/>
                <a:ea typeface="Calibri" pitchFamily="34" charset="-122"/>
                <a:cs typeface="Calibri" pitchFamily="34" charset="-120"/>
              </a:rPr>
              <a:t>Iconography</a:t>
            </a:r>
            <a:endParaRPr lang="en-US" sz="1100" dirty="0"/>
          </a:p>
        </p:txBody>
      </p:sp>
      <p:sp>
        <p:nvSpPr>
          <p:cNvPr id="15" name="Text 13"/>
          <p:cNvSpPr/>
          <p:nvPr/>
        </p:nvSpPr>
        <p:spPr>
          <a:xfrm>
            <a:off x="4892040" y="2450592"/>
            <a:ext cx="3566160" cy="548640"/>
          </a:xfrm>
          <a:prstGeom prst="rect">
            <a:avLst/>
          </a:prstGeom>
          <a:noFill/>
          <a:ln/>
        </p:spPr>
        <p:txBody>
          <a:bodyPr wrap="square" lIns="0" tIns="0" rIns="0" bIns="0" rtlCol="0" anchor="ctr"/>
          <a:lstStyle/>
          <a:p>
            <a:pPr marL="0" indent="0">
              <a:buNone/>
            </a:pPr>
            <a:r>
              <a:rPr lang="en-US" sz="900" dirty="0">
                <a:solidFill>
                  <a:srgbClr val="6B7280"/>
                </a:solidFill>
                <a:latin typeface="Calibri Light" pitchFamily="34" charset="0"/>
                <a:ea typeface="Calibri Light" pitchFamily="34" charset="-122"/>
                <a:cs typeface="Calibri Light" pitchFamily="34" charset="-120"/>
              </a:rPr>
              <a:t>24px grid, 1.5px stroke, rounded caps. Heritage Red or Midnight Ink only. Functional, not decorative.</a:t>
            </a:r>
            <a:endParaRPr lang="en-US" sz="900" dirty="0"/>
          </a:p>
        </p:txBody>
      </p:sp>
      <p:sp>
        <p:nvSpPr>
          <p:cNvPr id="16" name="Shape 14"/>
          <p:cNvSpPr/>
          <p:nvPr/>
        </p:nvSpPr>
        <p:spPr>
          <a:xfrm>
            <a:off x="548640" y="3291840"/>
            <a:ext cx="3840480" cy="1005840"/>
          </a:xfrm>
          <a:prstGeom prst="rect">
            <a:avLst/>
          </a:prstGeom>
          <a:solidFill>
            <a:srgbClr val="F3F4F6"/>
          </a:solidFill>
          <a:ln/>
        </p:spPr>
        <p:txBody>
          <a:bodyPr/>
          <a:lstStyle/>
          <a:p>
            <a:endParaRPr lang="en-GB"/>
          </a:p>
        </p:txBody>
      </p:sp>
      <p:sp>
        <p:nvSpPr>
          <p:cNvPr id="17" name="Text 15"/>
          <p:cNvSpPr/>
          <p:nvPr/>
        </p:nvSpPr>
        <p:spPr>
          <a:xfrm>
            <a:off x="685800" y="3383280"/>
            <a:ext cx="3566160" cy="228600"/>
          </a:xfrm>
          <a:prstGeom prst="rect">
            <a:avLst/>
          </a:prstGeom>
          <a:noFill/>
          <a:ln/>
        </p:spPr>
        <p:txBody>
          <a:bodyPr wrap="square" lIns="0" tIns="0" rIns="0" bIns="0" rtlCol="0" anchor="ctr"/>
          <a:lstStyle/>
          <a:p>
            <a:pPr marL="0" indent="0">
              <a:buNone/>
            </a:pPr>
            <a:r>
              <a:rPr lang="en-US" sz="1100" b="1" dirty="0">
                <a:solidFill>
                  <a:srgbClr val="192231"/>
                </a:solidFill>
                <a:latin typeface="Calibri" pitchFamily="34" charset="0"/>
                <a:ea typeface="Calibri" pitchFamily="34" charset="-122"/>
                <a:cs typeface="Calibri" pitchFamily="34" charset="-120"/>
              </a:rPr>
              <a:t>Templates</a:t>
            </a:r>
            <a:endParaRPr lang="en-US" sz="1100" dirty="0"/>
          </a:p>
        </p:txBody>
      </p:sp>
      <p:sp>
        <p:nvSpPr>
          <p:cNvPr id="18" name="Text 16"/>
          <p:cNvSpPr/>
          <p:nvPr/>
        </p:nvSpPr>
        <p:spPr>
          <a:xfrm>
            <a:off x="685800" y="3639312"/>
            <a:ext cx="3566160" cy="548640"/>
          </a:xfrm>
          <a:prstGeom prst="rect">
            <a:avLst/>
          </a:prstGeom>
          <a:noFill/>
          <a:ln/>
        </p:spPr>
        <p:txBody>
          <a:bodyPr wrap="square" lIns="0" tIns="0" rIns="0" bIns="0" rtlCol="0" anchor="ctr"/>
          <a:lstStyle/>
          <a:p>
            <a:pPr marL="0" indent="0">
              <a:buNone/>
            </a:pPr>
            <a:r>
              <a:rPr lang="en-US" sz="900" dirty="0">
                <a:solidFill>
                  <a:srgbClr val="6B7280"/>
                </a:solidFill>
                <a:latin typeface="Calibri Light" pitchFamily="34" charset="0"/>
                <a:ea typeface="Calibri Light" pitchFamily="34" charset="-122"/>
                <a:cs typeface="Calibri Light" pitchFamily="34" charset="-120"/>
              </a:rPr>
              <a:t>Briefing (2pp landscape). Evaluation report. Invoice. Proposal. Deck (16:9). All version-controlled.</a:t>
            </a:r>
            <a:endParaRPr lang="en-US" sz="900" dirty="0"/>
          </a:p>
        </p:txBody>
      </p:sp>
      <p:sp>
        <p:nvSpPr>
          <p:cNvPr id="19" name="Shape 17"/>
          <p:cNvSpPr/>
          <p:nvPr/>
        </p:nvSpPr>
        <p:spPr>
          <a:xfrm>
            <a:off x="4754880" y="3291840"/>
            <a:ext cx="3840480" cy="1005840"/>
          </a:xfrm>
          <a:prstGeom prst="rect">
            <a:avLst/>
          </a:prstGeom>
          <a:solidFill>
            <a:srgbClr val="FAFAF5"/>
          </a:solidFill>
          <a:ln/>
        </p:spPr>
        <p:txBody>
          <a:bodyPr/>
          <a:lstStyle/>
          <a:p>
            <a:endParaRPr lang="en-GB"/>
          </a:p>
        </p:txBody>
      </p:sp>
      <p:sp>
        <p:nvSpPr>
          <p:cNvPr id="20" name="Text 18"/>
          <p:cNvSpPr/>
          <p:nvPr/>
        </p:nvSpPr>
        <p:spPr>
          <a:xfrm>
            <a:off x="4892040" y="3383280"/>
            <a:ext cx="3566160" cy="228600"/>
          </a:xfrm>
          <a:prstGeom prst="rect">
            <a:avLst/>
          </a:prstGeom>
          <a:noFill/>
          <a:ln/>
        </p:spPr>
        <p:txBody>
          <a:bodyPr wrap="square" lIns="0" tIns="0" rIns="0" bIns="0" rtlCol="0" anchor="ctr"/>
          <a:lstStyle/>
          <a:p>
            <a:pPr marL="0" indent="0">
              <a:buNone/>
            </a:pPr>
            <a:r>
              <a:rPr lang="en-US" sz="1100" b="1" dirty="0">
                <a:solidFill>
                  <a:srgbClr val="192231"/>
                </a:solidFill>
                <a:latin typeface="Calibri" pitchFamily="34" charset="0"/>
                <a:ea typeface="Calibri" pitchFamily="34" charset="-122"/>
                <a:cs typeface="Calibri" pitchFamily="34" charset="-120"/>
              </a:rPr>
              <a:t>Prohibited</a:t>
            </a:r>
            <a:endParaRPr lang="en-US" sz="1100" dirty="0"/>
          </a:p>
        </p:txBody>
      </p:sp>
      <p:sp>
        <p:nvSpPr>
          <p:cNvPr id="21" name="Text 19"/>
          <p:cNvSpPr/>
          <p:nvPr/>
        </p:nvSpPr>
        <p:spPr>
          <a:xfrm>
            <a:off x="4892040" y="3639312"/>
            <a:ext cx="3566160" cy="548640"/>
          </a:xfrm>
          <a:prstGeom prst="rect">
            <a:avLst/>
          </a:prstGeom>
          <a:noFill/>
          <a:ln/>
        </p:spPr>
        <p:txBody>
          <a:bodyPr wrap="square" lIns="0" tIns="0" rIns="0" bIns="0" rtlCol="0" anchor="ctr"/>
          <a:lstStyle/>
          <a:p>
            <a:pPr marL="0" indent="0">
              <a:buNone/>
            </a:pPr>
            <a:r>
              <a:rPr lang="en-US" sz="900" dirty="0">
                <a:solidFill>
                  <a:srgbClr val="6B7280"/>
                </a:solidFill>
                <a:latin typeface="Calibri Light" pitchFamily="34" charset="0"/>
                <a:ea typeface="Calibri Light" pitchFamily="34" charset="-122"/>
                <a:cs typeface="Calibri Light" pitchFamily="34" charset="-120"/>
              </a:rPr>
              <a:t>No animations, gradients, drop shadows, glows. No unapproved fonts. No co-branding. No white box behind logo.</a:t>
            </a:r>
            <a:endParaRPr lang="en-US" sz="900" dirty="0"/>
          </a:p>
        </p:txBody>
      </p:sp>
      <p:sp>
        <p:nvSpPr>
          <p:cNvPr id="22" name="Shape 20"/>
          <p:cNvSpPr/>
          <p:nvPr/>
        </p:nvSpPr>
        <p:spPr>
          <a:xfrm>
            <a:off x="0" y="4800600"/>
            <a:ext cx="9144000" cy="342900"/>
          </a:xfrm>
          <a:prstGeom prst="rect">
            <a:avLst/>
          </a:prstGeom>
          <a:solidFill>
            <a:srgbClr val="F3F4F6"/>
          </a:solidFill>
          <a:ln/>
        </p:spPr>
        <p:txBody>
          <a:bodyPr/>
          <a:lstStyle/>
          <a:p>
            <a:endParaRPr lang="en-GB"/>
          </a:p>
        </p:txBody>
      </p:sp>
      <p:sp>
        <p:nvSpPr>
          <p:cNvPr id="23" name="Text 21"/>
          <p:cNvSpPr/>
          <p:nvPr/>
        </p:nvSpPr>
        <p:spPr>
          <a:xfrm>
            <a:off x="457200" y="4828032"/>
            <a:ext cx="2743200" cy="274320"/>
          </a:xfrm>
          <a:prstGeom prst="rect">
            <a:avLst/>
          </a:prstGeom>
          <a:noFill/>
          <a:ln/>
        </p:spPr>
        <p:txBody>
          <a:bodyPr wrap="square" lIns="0" tIns="0" rIns="0" bIns="0" rtlCol="0" anchor="ctr"/>
          <a:lstStyle/>
          <a:p>
            <a:pPr marL="0" indent="0">
              <a:buNone/>
            </a:pPr>
            <a:r>
              <a:rPr lang="en-US" sz="800" dirty="0">
                <a:solidFill>
                  <a:srgbClr val="6B7280"/>
                </a:solidFill>
                <a:latin typeface="Calibri Light" pitchFamily="34" charset="0"/>
                <a:ea typeface="Calibri Light" pitchFamily="34" charset="-122"/>
                <a:cs typeface="Calibri Light" pitchFamily="34" charset="-120"/>
              </a:rPr>
              <a:t>tenderlab.co.uk</a:t>
            </a:r>
            <a:endParaRPr lang="en-US" sz="800" dirty="0"/>
          </a:p>
        </p:txBody>
      </p:sp>
      <p:pic>
        <p:nvPicPr>
          <p:cNvPr id="24" name="Image 0" descr="preencoded.png"/>
          <p:cNvPicPr>
            <a:picLocks noChangeAspect="1"/>
          </p:cNvPicPr>
          <p:nvPr/>
        </p:nvPicPr>
        <p:blipFill>
          <a:blip r:embed="rId3"/>
          <a:stretch>
            <a:fillRect/>
          </a:stretch>
        </p:blipFill>
        <p:spPr>
          <a:xfrm>
            <a:off x="8229600" y="4709160"/>
            <a:ext cx="502920" cy="50292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32004"/>
          </a:xfrm>
          <a:prstGeom prst="rect">
            <a:avLst/>
          </a:prstGeom>
          <a:solidFill>
            <a:srgbClr val="D4382C"/>
          </a:solidFill>
          <a:ln/>
        </p:spPr>
        <p:txBody>
          <a:bodyPr/>
          <a:lstStyle/>
          <a:p>
            <a:endParaRPr lang="en-GB"/>
          </a:p>
        </p:txBody>
      </p:sp>
      <p:sp>
        <p:nvSpPr>
          <p:cNvPr id="3" name="Text 1"/>
          <p:cNvSpPr/>
          <p:nvPr/>
        </p:nvSpPr>
        <p:spPr>
          <a:xfrm>
            <a:off x="548640" y="1645920"/>
            <a:ext cx="1371600" cy="457200"/>
          </a:xfrm>
          <a:prstGeom prst="rect">
            <a:avLst/>
          </a:prstGeom>
          <a:noFill/>
          <a:ln/>
        </p:spPr>
        <p:txBody>
          <a:bodyPr wrap="square" lIns="0" tIns="0" rIns="0" bIns="0" rtlCol="0" anchor="ctr"/>
          <a:lstStyle/>
          <a:p>
            <a:pPr marL="0" indent="0">
              <a:buNone/>
            </a:pPr>
            <a:r>
              <a:rPr lang="en-US" sz="2200" dirty="0">
                <a:solidFill>
                  <a:srgbClr val="5A7A96"/>
                </a:solidFill>
                <a:latin typeface="Arial" pitchFamily="34" charset="0"/>
                <a:ea typeface="Arial" pitchFamily="34" charset="-122"/>
                <a:cs typeface="Arial" pitchFamily="34" charset="-120"/>
              </a:rPr>
              <a:t>05</a:t>
            </a:r>
            <a:endParaRPr lang="en-US" sz="2200" dirty="0"/>
          </a:p>
        </p:txBody>
      </p:sp>
      <p:sp>
        <p:nvSpPr>
          <p:cNvPr id="4" name="Text 2"/>
          <p:cNvSpPr/>
          <p:nvPr/>
        </p:nvSpPr>
        <p:spPr>
          <a:xfrm>
            <a:off x="548640" y="2103120"/>
            <a:ext cx="7315200" cy="1463040"/>
          </a:xfrm>
          <a:prstGeom prst="rect">
            <a:avLst/>
          </a:prstGeom>
          <a:noFill/>
          <a:ln/>
        </p:spPr>
        <p:txBody>
          <a:bodyPr wrap="square" lIns="0" tIns="0" rIns="0" bIns="0" rtlCol="0" anchor="ctr"/>
          <a:lstStyle/>
          <a:p>
            <a:pPr marL="0" indent="0">
              <a:lnSpc>
                <a:spcPct val="90000"/>
              </a:lnSpc>
              <a:buNone/>
            </a:pPr>
            <a:r>
              <a:rPr lang="en-US" sz="4800" dirty="0">
                <a:solidFill>
                  <a:srgbClr val="FFFFFF"/>
                </a:solidFill>
                <a:latin typeface="Arial Black" pitchFamily="34" charset="0"/>
                <a:ea typeface="Arial Black" pitchFamily="34" charset="-122"/>
                <a:cs typeface="Arial Black" pitchFamily="34" charset="-120"/>
              </a:rPr>
              <a:t>MARKETING</a:t>
            </a:r>
            <a:endParaRPr lang="en-US" sz="4800" dirty="0"/>
          </a:p>
          <a:p>
            <a:pPr marL="0" indent="0">
              <a:lnSpc>
                <a:spcPct val="90000"/>
              </a:lnSpc>
              <a:buNone/>
            </a:pPr>
            <a:r>
              <a:rPr lang="en-US" sz="4800" dirty="0">
                <a:solidFill>
                  <a:srgbClr val="FFFFFF"/>
                </a:solidFill>
                <a:latin typeface="Arial Black" pitchFamily="34" charset="0"/>
                <a:ea typeface="Arial Black" pitchFamily="34" charset="-122"/>
                <a:cs typeface="Arial Black" pitchFamily="34" charset="-120"/>
              </a:rPr>
              <a:t>&amp; DIGITAL</a:t>
            </a:r>
            <a:endParaRPr lang="en-US" sz="4800" dirty="0"/>
          </a:p>
        </p:txBody>
      </p:sp>
      <p:sp>
        <p:nvSpPr>
          <p:cNvPr id="5" name="Shape 3"/>
          <p:cNvSpPr/>
          <p:nvPr/>
        </p:nvSpPr>
        <p:spPr>
          <a:xfrm>
            <a:off x="548640" y="3657600"/>
            <a:ext cx="1828800" cy="0"/>
          </a:xfrm>
          <a:prstGeom prst="line">
            <a:avLst/>
          </a:prstGeom>
          <a:noFill/>
          <a:ln w="38100">
            <a:solidFill>
              <a:srgbClr val="D4382C"/>
            </a:solidFill>
            <a:prstDash val="solid"/>
          </a:ln>
        </p:spPr>
        <p:txBody>
          <a:bodyPr/>
          <a:lstStyle/>
          <a:p>
            <a:endParaRPr lang="en-GB"/>
          </a:p>
        </p:txBody>
      </p:sp>
      <p:pic>
        <p:nvPicPr>
          <p:cNvPr id="6" name="Image 0" descr="preencoded.png"/>
          <p:cNvPicPr>
            <a:picLocks noChangeAspect="1"/>
          </p:cNvPicPr>
          <p:nvPr/>
        </p:nvPicPr>
        <p:blipFill>
          <a:blip r:embed="rId4"/>
          <a:stretch>
            <a:fillRect/>
          </a:stretch>
        </p:blipFill>
        <p:spPr>
          <a:xfrm>
            <a:off x="7772400" y="4114800"/>
            <a:ext cx="731520" cy="73152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32004"/>
          </a:xfrm>
          <a:prstGeom prst="rect">
            <a:avLst/>
          </a:prstGeom>
          <a:solidFill>
            <a:srgbClr val="D4382C"/>
          </a:solidFill>
          <a:ln/>
        </p:spPr>
        <p:txBody>
          <a:bodyPr/>
          <a:lstStyle/>
          <a:p>
            <a:endParaRPr lang="en-GB"/>
          </a:p>
        </p:txBody>
      </p:sp>
      <p:sp>
        <p:nvSpPr>
          <p:cNvPr id="3" name="Text 1"/>
          <p:cNvSpPr/>
          <p:nvPr/>
        </p:nvSpPr>
        <p:spPr>
          <a:xfrm>
            <a:off x="548640" y="274320"/>
            <a:ext cx="5486400" cy="457200"/>
          </a:xfrm>
          <a:prstGeom prst="rect">
            <a:avLst/>
          </a:prstGeom>
          <a:noFill/>
          <a:ln/>
        </p:spPr>
        <p:txBody>
          <a:bodyPr wrap="square" lIns="0" tIns="0" rIns="0" bIns="0" rtlCol="0" anchor="ctr"/>
          <a:lstStyle/>
          <a:p>
            <a:pPr marL="0" indent="0">
              <a:buNone/>
            </a:pPr>
            <a:r>
              <a:rPr lang="en-US" sz="2800" dirty="0">
                <a:solidFill>
                  <a:srgbClr val="192231"/>
                </a:solidFill>
                <a:latin typeface="Arial Black" pitchFamily="34" charset="0"/>
                <a:ea typeface="Arial Black" pitchFamily="34" charset="-122"/>
                <a:cs typeface="Arial Black" pitchFamily="34" charset="-120"/>
              </a:rPr>
              <a:t>Content Strategy</a:t>
            </a:r>
            <a:endParaRPr lang="en-US" sz="2800" dirty="0"/>
          </a:p>
        </p:txBody>
      </p:sp>
      <p:sp>
        <p:nvSpPr>
          <p:cNvPr id="4" name="Text 2"/>
          <p:cNvSpPr/>
          <p:nvPr/>
        </p:nvSpPr>
        <p:spPr>
          <a:xfrm>
            <a:off x="548640" y="731520"/>
            <a:ext cx="4572000" cy="228600"/>
          </a:xfrm>
          <a:prstGeom prst="rect">
            <a:avLst/>
          </a:prstGeom>
          <a:noFill/>
          <a:ln/>
        </p:spPr>
        <p:txBody>
          <a:bodyPr wrap="square" lIns="0" tIns="0" rIns="0" bIns="0" rtlCol="0" anchor="ctr"/>
          <a:lstStyle/>
          <a:p>
            <a:pPr marL="0" indent="0">
              <a:buNone/>
            </a:pPr>
            <a:r>
              <a:rPr lang="en-US" sz="1100" dirty="0">
                <a:solidFill>
                  <a:srgbClr val="6B7280"/>
                </a:solidFill>
                <a:latin typeface="Calibri" pitchFamily="34" charset="0"/>
                <a:ea typeface="Calibri" pitchFamily="34" charset="-122"/>
                <a:cs typeface="Calibri" pitchFamily="34" charset="-120"/>
              </a:rPr>
              <a:t>LinkedIn, Facebook, Blog. Google My Business. Three content categories.</a:t>
            </a:r>
            <a:endParaRPr lang="en-US" sz="1100" dirty="0"/>
          </a:p>
        </p:txBody>
      </p:sp>
      <p:pic>
        <p:nvPicPr>
          <p:cNvPr id="5" name="Image 0"/>
          <p:cNvPicPr>
            <a:picLocks noChangeAspect="1"/>
          </p:cNvPicPr>
          <p:nvPr/>
        </p:nvPicPr>
        <p:blipFill>
          <a:blip r:embed="rId3"/>
          <a:srcRect/>
          <a:stretch/>
        </p:blipFill>
        <p:spPr>
          <a:xfrm>
            <a:off x="5327956" y="1097280"/>
            <a:ext cx="3151528" cy="2103120"/>
          </a:xfrm>
          <a:prstGeom prst="rect">
            <a:avLst/>
          </a:prstGeom>
        </p:spPr>
      </p:pic>
      <p:sp>
        <p:nvSpPr>
          <p:cNvPr id="6" name="Shape 3"/>
          <p:cNvSpPr/>
          <p:nvPr/>
        </p:nvSpPr>
        <p:spPr>
          <a:xfrm>
            <a:off x="548640" y="1097280"/>
            <a:ext cx="4206240" cy="640080"/>
          </a:xfrm>
          <a:prstGeom prst="rect">
            <a:avLst/>
          </a:prstGeom>
          <a:solidFill>
            <a:srgbClr val="F3F4F6"/>
          </a:solidFill>
          <a:ln/>
        </p:spPr>
        <p:txBody>
          <a:bodyPr/>
          <a:lstStyle/>
          <a:p>
            <a:endParaRPr lang="en-GB"/>
          </a:p>
        </p:txBody>
      </p:sp>
      <p:sp>
        <p:nvSpPr>
          <p:cNvPr id="7" name="Shape 4"/>
          <p:cNvSpPr/>
          <p:nvPr/>
        </p:nvSpPr>
        <p:spPr>
          <a:xfrm>
            <a:off x="548640" y="1097280"/>
            <a:ext cx="45720" cy="640080"/>
          </a:xfrm>
          <a:prstGeom prst="rect">
            <a:avLst/>
          </a:prstGeom>
          <a:solidFill>
            <a:srgbClr val="D4382C"/>
          </a:solidFill>
          <a:ln/>
        </p:spPr>
        <p:txBody>
          <a:bodyPr/>
          <a:lstStyle/>
          <a:p>
            <a:endParaRPr lang="en-GB"/>
          </a:p>
        </p:txBody>
      </p:sp>
      <p:sp>
        <p:nvSpPr>
          <p:cNvPr id="8" name="Text 5"/>
          <p:cNvSpPr/>
          <p:nvPr/>
        </p:nvSpPr>
        <p:spPr>
          <a:xfrm>
            <a:off x="777240" y="1143000"/>
            <a:ext cx="1828800" cy="182880"/>
          </a:xfrm>
          <a:prstGeom prst="rect">
            <a:avLst/>
          </a:prstGeom>
          <a:noFill/>
          <a:ln/>
        </p:spPr>
        <p:txBody>
          <a:bodyPr wrap="square" lIns="0" tIns="0" rIns="0" bIns="0" rtlCol="0" anchor="ctr"/>
          <a:lstStyle/>
          <a:p>
            <a:pPr marL="0" indent="0">
              <a:buNone/>
            </a:pPr>
            <a:r>
              <a:rPr lang="en-US" sz="900" b="1" kern="0" spc="100" dirty="0">
                <a:solidFill>
                  <a:srgbClr val="192231"/>
                </a:solidFill>
                <a:latin typeface="Calibri" pitchFamily="34" charset="0"/>
                <a:ea typeface="Calibri" pitchFamily="34" charset="-122"/>
                <a:cs typeface="Calibri" pitchFamily="34" charset="-120"/>
              </a:rPr>
              <a:t>SECTOR ANALYSIS</a:t>
            </a:r>
            <a:endParaRPr lang="en-US" sz="900" dirty="0"/>
          </a:p>
        </p:txBody>
      </p:sp>
      <p:sp>
        <p:nvSpPr>
          <p:cNvPr id="9" name="Text 6"/>
          <p:cNvSpPr/>
          <p:nvPr/>
        </p:nvSpPr>
        <p:spPr>
          <a:xfrm>
            <a:off x="777240" y="1353312"/>
            <a:ext cx="3840480" cy="320040"/>
          </a:xfrm>
          <a:prstGeom prst="rect">
            <a:avLst/>
          </a:prstGeom>
          <a:noFill/>
          <a:ln/>
        </p:spPr>
        <p:txBody>
          <a:bodyPr wrap="square" lIns="0" tIns="0" rIns="0" bIns="0" rtlCol="0" anchor="ctr"/>
          <a:lstStyle/>
          <a:p>
            <a:pPr marL="0" indent="0">
              <a:buNone/>
            </a:pPr>
            <a:r>
              <a:rPr lang="en-US" sz="900" dirty="0">
                <a:solidFill>
                  <a:srgbClr val="6B7280"/>
                </a:solidFill>
                <a:latin typeface="Calibri Light" pitchFamily="34" charset="0"/>
                <a:ea typeface="Calibri Light" pitchFamily="34" charset="-122"/>
                <a:cs typeface="Calibri Light" pitchFamily="34" charset="-120"/>
              </a:rPr>
              <a:t>Commissioning trends. Regulatory changes. Procurement insights. Specification patterns. Funding announcements.</a:t>
            </a:r>
            <a:endParaRPr lang="en-US" sz="900" dirty="0"/>
          </a:p>
        </p:txBody>
      </p:sp>
      <p:sp>
        <p:nvSpPr>
          <p:cNvPr id="10" name="Shape 7"/>
          <p:cNvSpPr/>
          <p:nvPr/>
        </p:nvSpPr>
        <p:spPr>
          <a:xfrm>
            <a:off x="548640" y="1874520"/>
            <a:ext cx="4206240" cy="640080"/>
          </a:xfrm>
          <a:prstGeom prst="rect">
            <a:avLst/>
          </a:prstGeom>
          <a:solidFill>
            <a:srgbClr val="F3F4F6"/>
          </a:solidFill>
          <a:ln/>
        </p:spPr>
        <p:txBody>
          <a:bodyPr/>
          <a:lstStyle/>
          <a:p>
            <a:endParaRPr lang="en-GB"/>
          </a:p>
        </p:txBody>
      </p:sp>
      <p:sp>
        <p:nvSpPr>
          <p:cNvPr id="11" name="Shape 8"/>
          <p:cNvSpPr/>
          <p:nvPr/>
        </p:nvSpPr>
        <p:spPr>
          <a:xfrm>
            <a:off x="548640" y="1874520"/>
            <a:ext cx="45720" cy="640080"/>
          </a:xfrm>
          <a:prstGeom prst="rect">
            <a:avLst/>
          </a:prstGeom>
          <a:solidFill>
            <a:srgbClr val="D4382C"/>
          </a:solidFill>
          <a:ln/>
        </p:spPr>
        <p:txBody>
          <a:bodyPr/>
          <a:lstStyle/>
          <a:p>
            <a:endParaRPr lang="en-GB"/>
          </a:p>
        </p:txBody>
      </p:sp>
      <p:sp>
        <p:nvSpPr>
          <p:cNvPr id="12" name="Text 9"/>
          <p:cNvSpPr/>
          <p:nvPr/>
        </p:nvSpPr>
        <p:spPr>
          <a:xfrm>
            <a:off x="777240" y="1920240"/>
            <a:ext cx="1828800" cy="182880"/>
          </a:xfrm>
          <a:prstGeom prst="rect">
            <a:avLst/>
          </a:prstGeom>
          <a:noFill/>
          <a:ln/>
        </p:spPr>
        <p:txBody>
          <a:bodyPr wrap="square" lIns="0" tIns="0" rIns="0" bIns="0" rtlCol="0" anchor="ctr"/>
          <a:lstStyle/>
          <a:p>
            <a:pPr marL="0" indent="0">
              <a:buNone/>
            </a:pPr>
            <a:r>
              <a:rPr lang="en-US" sz="900" b="1" kern="0" spc="100" dirty="0">
                <a:solidFill>
                  <a:srgbClr val="192231"/>
                </a:solidFill>
                <a:latin typeface="Calibri" pitchFamily="34" charset="0"/>
                <a:ea typeface="Calibri" pitchFamily="34" charset="-122"/>
                <a:cs typeface="Calibri" pitchFamily="34" charset="-120"/>
              </a:rPr>
              <a:t>PERFORMANCE DATA</a:t>
            </a:r>
            <a:endParaRPr lang="en-US" sz="900" dirty="0"/>
          </a:p>
        </p:txBody>
      </p:sp>
      <p:sp>
        <p:nvSpPr>
          <p:cNvPr id="13" name="Text 10"/>
          <p:cNvSpPr/>
          <p:nvPr/>
        </p:nvSpPr>
        <p:spPr>
          <a:xfrm>
            <a:off x="777240" y="2130552"/>
            <a:ext cx="3840480" cy="320040"/>
          </a:xfrm>
          <a:prstGeom prst="rect">
            <a:avLst/>
          </a:prstGeom>
          <a:noFill/>
          <a:ln/>
        </p:spPr>
        <p:txBody>
          <a:bodyPr wrap="square" lIns="0" tIns="0" rIns="0" bIns="0" rtlCol="0" anchor="ctr"/>
          <a:lstStyle/>
          <a:p>
            <a:pPr marL="0" indent="0">
              <a:buNone/>
            </a:pPr>
            <a:r>
              <a:rPr lang="en-US" sz="900" dirty="0">
                <a:solidFill>
                  <a:srgbClr val="6B7280"/>
                </a:solidFill>
                <a:latin typeface="Calibri Light" pitchFamily="34" charset="0"/>
                <a:ea typeface="Calibri Light" pitchFamily="34" charset="-122"/>
                <a:cs typeface="Calibri Light" pitchFamily="34" charset="-120"/>
              </a:rPr>
              <a:t>Anonymised win rates. Scoring improvements. Evaluator feedback patterns. Before-and-after scores.</a:t>
            </a:r>
            <a:endParaRPr lang="en-US" sz="900" dirty="0"/>
          </a:p>
        </p:txBody>
      </p:sp>
      <p:sp>
        <p:nvSpPr>
          <p:cNvPr id="14" name="Shape 11"/>
          <p:cNvSpPr/>
          <p:nvPr/>
        </p:nvSpPr>
        <p:spPr>
          <a:xfrm>
            <a:off x="548640" y="2651760"/>
            <a:ext cx="4206240" cy="640080"/>
          </a:xfrm>
          <a:prstGeom prst="rect">
            <a:avLst/>
          </a:prstGeom>
          <a:solidFill>
            <a:srgbClr val="F3F4F6"/>
          </a:solidFill>
          <a:ln/>
        </p:spPr>
        <p:txBody>
          <a:bodyPr/>
          <a:lstStyle/>
          <a:p>
            <a:endParaRPr lang="en-GB"/>
          </a:p>
        </p:txBody>
      </p:sp>
      <p:sp>
        <p:nvSpPr>
          <p:cNvPr id="15" name="Shape 12"/>
          <p:cNvSpPr/>
          <p:nvPr/>
        </p:nvSpPr>
        <p:spPr>
          <a:xfrm>
            <a:off x="548640" y="2651760"/>
            <a:ext cx="45720" cy="640080"/>
          </a:xfrm>
          <a:prstGeom prst="rect">
            <a:avLst/>
          </a:prstGeom>
          <a:solidFill>
            <a:srgbClr val="D4382C"/>
          </a:solidFill>
          <a:ln/>
        </p:spPr>
        <p:txBody>
          <a:bodyPr/>
          <a:lstStyle/>
          <a:p>
            <a:endParaRPr lang="en-GB"/>
          </a:p>
        </p:txBody>
      </p:sp>
      <p:sp>
        <p:nvSpPr>
          <p:cNvPr id="16" name="Text 13"/>
          <p:cNvSpPr/>
          <p:nvPr/>
        </p:nvSpPr>
        <p:spPr>
          <a:xfrm>
            <a:off x="777240" y="2697480"/>
            <a:ext cx="1828800" cy="182880"/>
          </a:xfrm>
          <a:prstGeom prst="rect">
            <a:avLst/>
          </a:prstGeom>
          <a:noFill/>
          <a:ln/>
        </p:spPr>
        <p:txBody>
          <a:bodyPr wrap="square" lIns="0" tIns="0" rIns="0" bIns="0" rtlCol="0" anchor="ctr"/>
          <a:lstStyle/>
          <a:p>
            <a:pPr marL="0" indent="0">
              <a:buNone/>
            </a:pPr>
            <a:r>
              <a:rPr lang="en-US" sz="900" b="1" kern="0" spc="100" dirty="0">
                <a:solidFill>
                  <a:srgbClr val="192231"/>
                </a:solidFill>
                <a:latin typeface="Calibri" pitchFamily="34" charset="0"/>
                <a:ea typeface="Calibri" pitchFamily="34" charset="-122"/>
                <a:cs typeface="Calibri" pitchFamily="34" charset="-120"/>
              </a:rPr>
              <a:t>OPERATIONAL COMMENTARY</a:t>
            </a:r>
            <a:endParaRPr lang="en-US" sz="900" dirty="0"/>
          </a:p>
        </p:txBody>
      </p:sp>
      <p:sp>
        <p:nvSpPr>
          <p:cNvPr id="17" name="Text 14"/>
          <p:cNvSpPr/>
          <p:nvPr/>
        </p:nvSpPr>
        <p:spPr>
          <a:xfrm>
            <a:off x="777240" y="2907792"/>
            <a:ext cx="3840480" cy="320040"/>
          </a:xfrm>
          <a:prstGeom prst="rect">
            <a:avLst/>
          </a:prstGeom>
          <a:noFill/>
          <a:ln/>
        </p:spPr>
        <p:txBody>
          <a:bodyPr wrap="square" lIns="0" tIns="0" rIns="0" bIns="0" rtlCol="0" anchor="ctr"/>
          <a:lstStyle/>
          <a:p>
            <a:pPr marL="0" indent="0">
              <a:buNone/>
            </a:pPr>
            <a:r>
              <a:rPr lang="en-US" sz="900" dirty="0">
                <a:solidFill>
                  <a:srgbClr val="6B7280"/>
                </a:solidFill>
                <a:latin typeface="Calibri Light" pitchFamily="34" charset="0"/>
                <a:ea typeface="Calibri Light" pitchFamily="34" charset="-122"/>
                <a:cs typeface="Calibri Light" pitchFamily="34" charset="-120"/>
              </a:rPr>
              <a:t>Common scoring failures. What evaluators look for. Pricing errors. Tender red flags.</a:t>
            </a:r>
            <a:endParaRPr lang="en-US" sz="900" dirty="0"/>
          </a:p>
        </p:txBody>
      </p:sp>
      <p:sp>
        <p:nvSpPr>
          <p:cNvPr id="18" name="Shape 15"/>
          <p:cNvSpPr/>
          <p:nvPr/>
        </p:nvSpPr>
        <p:spPr>
          <a:xfrm>
            <a:off x="548640" y="3474720"/>
            <a:ext cx="8046720" cy="320040"/>
          </a:xfrm>
          <a:prstGeom prst="rect">
            <a:avLst/>
          </a:prstGeom>
          <a:solidFill>
            <a:srgbClr val="192231"/>
          </a:solidFill>
          <a:ln/>
        </p:spPr>
        <p:txBody>
          <a:bodyPr/>
          <a:lstStyle/>
          <a:p>
            <a:endParaRPr lang="en-GB"/>
          </a:p>
        </p:txBody>
      </p:sp>
      <p:sp>
        <p:nvSpPr>
          <p:cNvPr id="19" name="Text 16"/>
          <p:cNvSpPr/>
          <p:nvPr/>
        </p:nvSpPr>
        <p:spPr>
          <a:xfrm>
            <a:off x="731520" y="3502152"/>
            <a:ext cx="7680960" cy="274320"/>
          </a:xfrm>
          <a:prstGeom prst="rect">
            <a:avLst/>
          </a:prstGeom>
          <a:noFill/>
          <a:ln/>
        </p:spPr>
        <p:txBody>
          <a:bodyPr wrap="square" lIns="0" tIns="0" rIns="0" bIns="0" rtlCol="0" anchor="ctr"/>
          <a:lstStyle/>
          <a:p>
            <a:pPr marL="0" indent="0">
              <a:buNone/>
            </a:pPr>
            <a:r>
              <a:rPr lang="en-US" sz="800" dirty="0">
                <a:solidFill>
                  <a:srgbClr val="9CA3AF"/>
                </a:solidFill>
                <a:latin typeface="Calibri Light" pitchFamily="34" charset="0"/>
                <a:ea typeface="Calibri Light" pitchFamily="34" charset="-122"/>
                <a:cs typeface="Calibri Light" pitchFamily="34" charset="-120"/>
              </a:rPr>
              <a:t>EXCLUDED: motivational content, team celebrations, win announcements, industry-leading, best-in-class, passionate, synergy, game-changer</a:t>
            </a:r>
            <a:endParaRPr lang="en-US" sz="800" dirty="0"/>
          </a:p>
        </p:txBody>
      </p:sp>
      <p:pic>
        <p:nvPicPr>
          <p:cNvPr id="20" name="Image 1" descr="preencoded.png"/>
          <p:cNvPicPr>
            <a:picLocks noChangeAspect="1"/>
          </p:cNvPicPr>
          <p:nvPr/>
        </p:nvPicPr>
        <p:blipFill>
          <a:blip r:embed="rId4"/>
          <a:stretch>
            <a:fillRect/>
          </a:stretch>
        </p:blipFill>
        <p:spPr>
          <a:xfrm>
            <a:off x="0" y="3840480"/>
            <a:ext cx="4572000" cy="960120"/>
          </a:xfrm>
          <a:prstGeom prst="rect">
            <a:avLst/>
          </a:prstGeom>
        </p:spPr>
      </p:pic>
      <p:pic>
        <p:nvPicPr>
          <p:cNvPr id="21" name="Image 2" descr="preencoded.png"/>
          <p:cNvPicPr>
            <a:picLocks noChangeAspect="1"/>
          </p:cNvPicPr>
          <p:nvPr/>
        </p:nvPicPr>
        <p:blipFill>
          <a:blip r:embed="rId5"/>
          <a:stretch>
            <a:fillRect/>
          </a:stretch>
        </p:blipFill>
        <p:spPr>
          <a:xfrm>
            <a:off x="4572000" y="3840480"/>
            <a:ext cx="4572000" cy="96012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32004"/>
          </a:xfrm>
          <a:prstGeom prst="rect">
            <a:avLst/>
          </a:prstGeom>
          <a:solidFill>
            <a:srgbClr val="D4382C"/>
          </a:solidFill>
          <a:ln/>
        </p:spPr>
        <p:txBody>
          <a:bodyPr/>
          <a:lstStyle/>
          <a:p>
            <a:endParaRPr lang="en-GB"/>
          </a:p>
        </p:txBody>
      </p:sp>
      <p:sp>
        <p:nvSpPr>
          <p:cNvPr id="3" name="Text 1"/>
          <p:cNvSpPr/>
          <p:nvPr/>
        </p:nvSpPr>
        <p:spPr>
          <a:xfrm>
            <a:off x="548640" y="274320"/>
            <a:ext cx="4572000" cy="457200"/>
          </a:xfrm>
          <a:prstGeom prst="rect">
            <a:avLst/>
          </a:prstGeom>
          <a:noFill/>
          <a:ln/>
        </p:spPr>
        <p:txBody>
          <a:bodyPr wrap="square" lIns="0" tIns="0" rIns="0" bIns="0" rtlCol="0" anchor="ctr"/>
          <a:lstStyle/>
          <a:p>
            <a:pPr marL="0" indent="0">
              <a:buNone/>
            </a:pPr>
            <a:r>
              <a:rPr lang="en-US" sz="2800" dirty="0">
                <a:solidFill>
                  <a:srgbClr val="192231"/>
                </a:solidFill>
                <a:latin typeface="Arial Black" pitchFamily="34" charset="0"/>
                <a:ea typeface="Arial Black" pitchFamily="34" charset="-122"/>
                <a:cs typeface="Arial Black" pitchFamily="34" charset="-120"/>
              </a:rPr>
              <a:t>Digital Presence</a:t>
            </a:r>
            <a:endParaRPr lang="en-US" sz="2800" dirty="0"/>
          </a:p>
        </p:txBody>
      </p:sp>
      <p:sp>
        <p:nvSpPr>
          <p:cNvPr id="4" name="Shape 2"/>
          <p:cNvSpPr/>
          <p:nvPr/>
        </p:nvSpPr>
        <p:spPr>
          <a:xfrm>
            <a:off x="548640" y="914400"/>
            <a:ext cx="3931920" cy="2743200"/>
          </a:xfrm>
          <a:prstGeom prst="rect">
            <a:avLst/>
          </a:prstGeom>
          <a:solidFill>
            <a:srgbClr val="F3F4F6"/>
          </a:solidFill>
          <a:ln/>
        </p:spPr>
        <p:txBody>
          <a:bodyPr/>
          <a:lstStyle/>
          <a:p>
            <a:endParaRPr lang="en-GB"/>
          </a:p>
        </p:txBody>
      </p:sp>
      <p:sp>
        <p:nvSpPr>
          <p:cNvPr id="5" name="Shape 3"/>
          <p:cNvSpPr/>
          <p:nvPr/>
        </p:nvSpPr>
        <p:spPr>
          <a:xfrm>
            <a:off x="548640" y="914400"/>
            <a:ext cx="3931920" cy="36576"/>
          </a:xfrm>
          <a:prstGeom prst="rect">
            <a:avLst/>
          </a:prstGeom>
          <a:solidFill>
            <a:srgbClr val="D4382C"/>
          </a:solidFill>
          <a:ln/>
        </p:spPr>
        <p:txBody>
          <a:bodyPr/>
          <a:lstStyle/>
          <a:p>
            <a:endParaRPr lang="en-GB"/>
          </a:p>
        </p:txBody>
      </p:sp>
      <p:sp>
        <p:nvSpPr>
          <p:cNvPr id="6" name="Text 4"/>
          <p:cNvSpPr/>
          <p:nvPr/>
        </p:nvSpPr>
        <p:spPr>
          <a:xfrm>
            <a:off x="731520" y="1051560"/>
            <a:ext cx="3200400" cy="228600"/>
          </a:xfrm>
          <a:prstGeom prst="rect">
            <a:avLst/>
          </a:prstGeom>
          <a:noFill/>
          <a:ln/>
        </p:spPr>
        <p:txBody>
          <a:bodyPr wrap="square" lIns="0" tIns="0" rIns="0" bIns="0" rtlCol="0" anchor="ctr"/>
          <a:lstStyle/>
          <a:p>
            <a:pPr marL="0" indent="0">
              <a:buNone/>
            </a:pPr>
            <a:r>
              <a:rPr lang="en-US" sz="1200" b="1" dirty="0">
                <a:solidFill>
                  <a:srgbClr val="192231"/>
                </a:solidFill>
                <a:latin typeface="Calibri" pitchFamily="34" charset="0"/>
                <a:ea typeface="Calibri" pitchFamily="34" charset="-122"/>
                <a:cs typeface="Calibri" pitchFamily="34" charset="-120"/>
              </a:rPr>
              <a:t>WEBSITE: tenderlab.co.uk</a:t>
            </a:r>
            <a:endParaRPr lang="en-US" sz="1200" dirty="0"/>
          </a:p>
        </p:txBody>
      </p:sp>
      <p:sp>
        <p:nvSpPr>
          <p:cNvPr id="7" name="Text 5"/>
          <p:cNvSpPr/>
          <p:nvPr/>
        </p:nvSpPr>
        <p:spPr>
          <a:xfrm>
            <a:off x="731520" y="1325880"/>
            <a:ext cx="3566160" cy="457200"/>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Credibility platform. Every page answers: what does this organisation know that generalist competitors do not.</a:t>
            </a:r>
            <a:endParaRPr lang="en-US" sz="1000" dirty="0"/>
          </a:p>
        </p:txBody>
      </p:sp>
      <p:sp>
        <p:nvSpPr>
          <p:cNvPr id="8" name="Text 6"/>
          <p:cNvSpPr/>
          <p:nvPr/>
        </p:nvSpPr>
        <p:spPr>
          <a:xfrm>
            <a:off x="731520" y="1874520"/>
            <a:ext cx="3566160" cy="274320"/>
          </a:xfrm>
          <a:prstGeom prst="rect">
            <a:avLst/>
          </a:prstGeom>
          <a:noFill/>
          <a:ln/>
        </p:spPr>
        <p:txBody>
          <a:bodyPr wrap="square" lIns="0" tIns="0" rIns="0" bIns="0" rtlCol="0" anchor="ctr"/>
          <a:lstStyle/>
          <a:p>
            <a:pPr marL="342900" indent="-342900">
              <a:buSzPct val="100000"/>
              <a:buChar char="•"/>
            </a:pPr>
            <a:r>
              <a:rPr lang="en-US" sz="1000" dirty="0">
                <a:solidFill>
                  <a:srgbClr val="192231"/>
                </a:solidFill>
                <a:latin typeface="Calibri" pitchFamily="34" charset="0"/>
                <a:ea typeface="Calibri" pitchFamily="34" charset="-122"/>
                <a:cs typeface="Calibri" pitchFamily="34" charset="-120"/>
              </a:rPr>
              <a:t>Proposition in under 20 words above the fold</a:t>
            </a:r>
            <a:endParaRPr lang="en-US" sz="1000" dirty="0"/>
          </a:p>
        </p:txBody>
      </p:sp>
      <p:sp>
        <p:nvSpPr>
          <p:cNvPr id="9" name="Text 7"/>
          <p:cNvSpPr/>
          <p:nvPr/>
        </p:nvSpPr>
        <p:spPr>
          <a:xfrm>
            <a:off x="731520" y="2176272"/>
            <a:ext cx="3566160" cy="274320"/>
          </a:xfrm>
          <a:prstGeom prst="rect">
            <a:avLst/>
          </a:prstGeom>
          <a:noFill/>
          <a:ln/>
        </p:spPr>
        <p:txBody>
          <a:bodyPr wrap="square" lIns="0" tIns="0" rIns="0" bIns="0" rtlCol="0" anchor="ctr"/>
          <a:lstStyle/>
          <a:p>
            <a:pPr marL="342900" indent="-342900">
              <a:buSzPct val="100000"/>
              <a:buChar char="•"/>
            </a:pPr>
            <a:r>
              <a:rPr lang="en-US" sz="1000" dirty="0">
                <a:solidFill>
                  <a:srgbClr val="192231"/>
                </a:solidFill>
                <a:latin typeface="Calibri" pitchFamily="34" charset="0"/>
                <a:ea typeface="Calibri" pitchFamily="34" charset="-122"/>
                <a:cs typeface="Calibri" pitchFamily="34" charset="-120"/>
              </a:rPr>
              <a:t>Five primary navigation items maximum</a:t>
            </a:r>
            <a:endParaRPr lang="en-US" sz="1000" dirty="0"/>
          </a:p>
        </p:txBody>
      </p:sp>
      <p:sp>
        <p:nvSpPr>
          <p:cNvPr id="10" name="Text 8"/>
          <p:cNvSpPr/>
          <p:nvPr/>
        </p:nvSpPr>
        <p:spPr>
          <a:xfrm>
            <a:off x="731520" y="2478024"/>
            <a:ext cx="3566160" cy="274320"/>
          </a:xfrm>
          <a:prstGeom prst="rect">
            <a:avLst/>
          </a:prstGeom>
          <a:noFill/>
          <a:ln/>
        </p:spPr>
        <p:txBody>
          <a:bodyPr wrap="square" lIns="0" tIns="0" rIns="0" bIns="0" rtlCol="0" anchor="ctr"/>
          <a:lstStyle/>
          <a:p>
            <a:pPr marL="342900" indent="-342900">
              <a:buSzPct val="100000"/>
              <a:buChar char="•"/>
            </a:pPr>
            <a:r>
              <a:rPr lang="en-US" sz="1000" dirty="0">
                <a:solidFill>
                  <a:srgbClr val="192231"/>
                </a:solidFill>
                <a:latin typeface="Calibri" pitchFamily="34" charset="0"/>
                <a:ea typeface="Calibri" pitchFamily="34" charset="-122"/>
                <a:cs typeface="Calibri" pitchFamily="34" charset="-120"/>
              </a:rPr>
              <a:t>Page load under 2 seconds on 4G</a:t>
            </a:r>
            <a:endParaRPr lang="en-US" sz="1000" dirty="0"/>
          </a:p>
        </p:txBody>
      </p:sp>
      <p:sp>
        <p:nvSpPr>
          <p:cNvPr id="11" name="Text 9"/>
          <p:cNvSpPr/>
          <p:nvPr/>
        </p:nvSpPr>
        <p:spPr>
          <a:xfrm>
            <a:off x="731520" y="2779776"/>
            <a:ext cx="3566160" cy="274320"/>
          </a:xfrm>
          <a:prstGeom prst="rect">
            <a:avLst/>
          </a:prstGeom>
          <a:noFill/>
          <a:ln/>
        </p:spPr>
        <p:txBody>
          <a:bodyPr wrap="square" lIns="0" tIns="0" rIns="0" bIns="0" rtlCol="0" anchor="ctr"/>
          <a:lstStyle/>
          <a:p>
            <a:pPr marL="342900" indent="-342900">
              <a:buSzPct val="100000"/>
              <a:buChar char="•"/>
            </a:pPr>
            <a:r>
              <a:rPr lang="en-US" sz="1000" dirty="0">
                <a:solidFill>
                  <a:srgbClr val="192231"/>
                </a:solidFill>
                <a:latin typeface="Calibri" pitchFamily="34" charset="0"/>
                <a:ea typeface="Calibri" pitchFamily="34" charset="-122"/>
                <a:cs typeface="Calibri" pitchFamily="34" charset="-120"/>
              </a:rPr>
              <a:t>No animations, carousels, pop-ups, chat widgets</a:t>
            </a:r>
            <a:endParaRPr lang="en-US" sz="1000" dirty="0"/>
          </a:p>
        </p:txBody>
      </p:sp>
      <p:sp>
        <p:nvSpPr>
          <p:cNvPr id="12" name="Shape 10"/>
          <p:cNvSpPr/>
          <p:nvPr/>
        </p:nvSpPr>
        <p:spPr>
          <a:xfrm>
            <a:off x="4754880" y="914400"/>
            <a:ext cx="3840480" cy="868680"/>
          </a:xfrm>
          <a:prstGeom prst="rect">
            <a:avLst/>
          </a:prstGeom>
          <a:solidFill>
            <a:srgbClr val="192231"/>
          </a:solidFill>
          <a:ln/>
        </p:spPr>
        <p:txBody>
          <a:bodyPr/>
          <a:lstStyle/>
          <a:p>
            <a:endParaRPr lang="en-GB"/>
          </a:p>
        </p:txBody>
      </p:sp>
      <p:sp>
        <p:nvSpPr>
          <p:cNvPr id="13" name="Text 11"/>
          <p:cNvSpPr/>
          <p:nvPr/>
        </p:nvSpPr>
        <p:spPr>
          <a:xfrm>
            <a:off x="4937760" y="987552"/>
            <a:ext cx="3200400" cy="182880"/>
          </a:xfrm>
          <a:prstGeom prst="rect">
            <a:avLst/>
          </a:prstGeom>
          <a:noFill/>
          <a:ln/>
        </p:spPr>
        <p:txBody>
          <a:bodyPr wrap="square" lIns="0" tIns="0" rIns="0" bIns="0" rtlCol="0" anchor="ctr"/>
          <a:lstStyle/>
          <a:p>
            <a:pPr marL="0" indent="0">
              <a:buNone/>
            </a:pPr>
            <a:r>
              <a:rPr lang="en-US" sz="900" b="1" kern="0" spc="200" dirty="0">
                <a:solidFill>
                  <a:srgbClr val="D4382C"/>
                </a:solidFill>
                <a:latin typeface="Calibri" pitchFamily="34" charset="0"/>
                <a:ea typeface="Calibri" pitchFamily="34" charset="-122"/>
                <a:cs typeface="Calibri" pitchFamily="34" charset="-120"/>
              </a:rPr>
              <a:t>EMAIL SIGNATURE</a:t>
            </a:r>
            <a:endParaRPr lang="en-US" sz="900" dirty="0"/>
          </a:p>
        </p:txBody>
      </p:sp>
      <p:sp>
        <p:nvSpPr>
          <p:cNvPr id="14" name="Text 12"/>
          <p:cNvSpPr/>
          <p:nvPr/>
        </p:nvSpPr>
        <p:spPr>
          <a:xfrm>
            <a:off x="4937760" y="1207008"/>
            <a:ext cx="3474720" cy="502920"/>
          </a:xfrm>
          <a:prstGeom prst="rect">
            <a:avLst/>
          </a:prstGeom>
          <a:noFill/>
          <a:ln/>
        </p:spPr>
        <p:txBody>
          <a:bodyPr wrap="square" lIns="0" tIns="0" rIns="0" bIns="0" rtlCol="0" anchor="ctr"/>
          <a:lstStyle/>
          <a:p>
            <a:pPr marL="0" indent="0">
              <a:buNone/>
            </a:pPr>
            <a:r>
              <a:rPr lang="en-US" sz="950" dirty="0">
                <a:solidFill>
                  <a:srgbClr val="9CA3AF"/>
                </a:solidFill>
                <a:latin typeface="Calibri Light" pitchFamily="34" charset="0"/>
                <a:ea typeface="Calibri Light" pitchFamily="34" charset="-122"/>
                <a:cs typeface="Calibri Light" pitchFamily="34" charset="-120"/>
              </a:rPr>
              <a:t>Name (Bold 11pt). Role (Light 10pt). Heritage Red rule. Logo at 80px. No taglines.</a:t>
            </a:r>
            <a:endParaRPr lang="en-US" sz="950" dirty="0"/>
          </a:p>
        </p:txBody>
      </p:sp>
      <p:sp>
        <p:nvSpPr>
          <p:cNvPr id="15" name="Shape 13"/>
          <p:cNvSpPr/>
          <p:nvPr/>
        </p:nvSpPr>
        <p:spPr>
          <a:xfrm>
            <a:off x="4754880" y="1965960"/>
            <a:ext cx="3840480" cy="868680"/>
          </a:xfrm>
          <a:prstGeom prst="rect">
            <a:avLst/>
          </a:prstGeom>
          <a:solidFill>
            <a:srgbClr val="192231"/>
          </a:solidFill>
          <a:ln/>
        </p:spPr>
        <p:txBody>
          <a:bodyPr/>
          <a:lstStyle/>
          <a:p>
            <a:endParaRPr lang="en-GB"/>
          </a:p>
        </p:txBody>
      </p:sp>
      <p:sp>
        <p:nvSpPr>
          <p:cNvPr id="16" name="Text 14"/>
          <p:cNvSpPr/>
          <p:nvPr/>
        </p:nvSpPr>
        <p:spPr>
          <a:xfrm>
            <a:off x="4937759" y="2039112"/>
            <a:ext cx="3579223" cy="219456"/>
          </a:xfrm>
          <a:prstGeom prst="rect">
            <a:avLst/>
          </a:prstGeom>
          <a:noFill/>
          <a:ln/>
        </p:spPr>
        <p:txBody>
          <a:bodyPr wrap="square" lIns="0" tIns="0" rIns="0" bIns="0" rtlCol="0" anchor="ctr"/>
          <a:lstStyle/>
          <a:p>
            <a:pPr marL="0" indent="0">
              <a:buNone/>
            </a:pPr>
            <a:r>
              <a:rPr lang="en-GB" sz="900" b="1" kern="0" spc="200" dirty="0">
                <a:solidFill>
                  <a:srgbClr val="D4382C"/>
                </a:solidFill>
                <a:latin typeface="Calibri" pitchFamily="34" charset="0"/>
                <a:ea typeface="Calibri" pitchFamily="34" charset="-122"/>
                <a:cs typeface="Calibri" pitchFamily="34" charset="-120"/>
              </a:rPr>
              <a:t>LinkedIn, Facebook, Blog. Google My Business</a:t>
            </a:r>
            <a:endParaRPr lang="en-US" sz="900" dirty="0"/>
          </a:p>
        </p:txBody>
      </p:sp>
      <p:sp>
        <p:nvSpPr>
          <p:cNvPr id="17" name="Text 15"/>
          <p:cNvSpPr/>
          <p:nvPr/>
        </p:nvSpPr>
        <p:spPr>
          <a:xfrm>
            <a:off x="4937760" y="2258568"/>
            <a:ext cx="3474720" cy="502920"/>
          </a:xfrm>
          <a:prstGeom prst="rect">
            <a:avLst/>
          </a:prstGeom>
          <a:noFill/>
          <a:ln/>
        </p:spPr>
        <p:txBody>
          <a:bodyPr wrap="square" lIns="0" tIns="0" rIns="0" bIns="0" rtlCol="0" anchor="ctr"/>
          <a:lstStyle/>
          <a:p>
            <a:pPr marL="0" indent="0">
              <a:buNone/>
            </a:pPr>
            <a:r>
              <a:rPr lang="en-US" sz="950" dirty="0">
                <a:solidFill>
                  <a:srgbClr val="9CA3AF"/>
                </a:solidFill>
                <a:latin typeface="Calibri Light" pitchFamily="34" charset="0"/>
                <a:ea typeface="Calibri Light" pitchFamily="34" charset="-122"/>
                <a:cs typeface="Calibri Light" pitchFamily="34" charset="-120"/>
              </a:rPr>
              <a:t>Only social platforms. Brand palette on all assets. Sector analysis, performance data, operational commentary.</a:t>
            </a:r>
            <a:endParaRPr lang="en-US" sz="950" dirty="0"/>
          </a:p>
        </p:txBody>
      </p:sp>
      <p:sp>
        <p:nvSpPr>
          <p:cNvPr id="18" name="Shape 16"/>
          <p:cNvSpPr/>
          <p:nvPr/>
        </p:nvSpPr>
        <p:spPr>
          <a:xfrm>
            <a:off x="4754880" y="3017520"/>
            <a:ext cx="3840480" cy="868680"/>
          </a:xfrm>
          <a:prstGeom prst="rect">
            <a:avLst/>
          </a:prstGeom>
          <a:solidFill>
            <a:srgbClr val="192231"/>
          </a:solidFill>
          <a:ln/>
        </p:spPr>
        <p:txBody>
          <a:bodyPr/>
          <a:lstStyle/>
          <a:p>
            <a:endParaRPr lang="en-GB"/>
          </a:p>
        </p:txBody>
      </p:sp>
      <p:sp>
        <p:nvSpPr>
          <p:cNvPr id="19" name="Text 17"/>
          <p:cNvSpPr/>
          <p:nvPr/>
        </p:nvSpPr>
        <p:spPr>
          <a:xfrm>
            <a:off x="4937760" y="3090672"/>
            <a:ext cx="3200400" cy="182880"/>
          </a:xfrm>
          <a:prstGeom prst="rect">
            <a:avLst/>
          </a:prstGeom>
          <a:noFill/>
          <a:ln/>
        </p:spPr>
        <p:txBody>
          <a:bodyPr wrap="square" lIns="0" tIns="0" rIns="0" bIns="0" rtlCol="0" anchor="ctr"/>
          <a:lstStyle/>
          <a:p>
            <a:pPr marL="0" indent="0">
              <a:buNone/>
            </a:pPr>
            <a:r>
              <a:rPr lang="en-US" sz="900" b="1" kern="0" spc="200" dirty="0">
                <a:solidFill>
                  <a:srgbClr val="D4382C"/>
                </a:solidFill>
                <a:latin typeface="Calibri" pitchFamily="34" charset="0"/>
                <a:ea typeface="Calibri" pitchFamily="34" charset="-122"/>
                <a:cs typeface="Calibri" pitchFamily="34" charset="-120"/>
              </a:rPr>
              <a:t>TEMPLATES</a:t>
            </a:r>
            <a:endParaRPr lang="en-US" sz="900" dirty="0"/>
          </a:p>
        </p:txBody>
      </p:sp>
      <p:sp>
        <p:nvSpPr>
          <p:cNvPr id="20" name="Text 18"/>
          <p:cNvSpPr/>
          <p:nvPr/>
        </p:nvSpPr>
        <p:spPr>
          <a:xfrm>
            <a:off x="4937760" y="3310128"/>
            <a:ext cx="3474720" cy="502920"/>
          </a:xfrm>
          <a:prstGeom prst="rect">
            <a:avLst/>
          </a:prstGeom>
          <a:noFill/>
          <a:ln/>
        </p:spPr>
        <p:txBody>
          <a:bodyPr wrap="square" lIns="0" tIns="0" rIns="0" bIns="0" rtlCol="0" anchor="ctr"/>
          <a:lstStyle/>
          <a:p>
            <a:pPr marL="0" indent="0">
              <a:buNone/>
            </a:pPr>
            <a:r>
              <a:rPr lang="en-US" sz="950" dirty="0">
                <a:solidFill>
                  <a:srgbClr val="9CA3AF"/>
                </a:solidFill>
                <a:latin typeface="Calibri Light" pitchFamily="34" charset="0"/>
                <a:ea typeface="Calibri Light" pitchFamily="34" charset="-122"/>
                <a:cs typeface="Calibri Light" pitchFamily="34" charset="-120"/>
              </a:rPr>
              <a:t>Briefing (2pp landscape). Evaluation report. Invoice. Proposal. Deck (16:9). All version-controlled.</a:t>
            </a:r>
            <a:endParaRPr lang="en-US" sz="950" dirty="0"/>
          </a:p>
        </p:txBody>
      </p:sp>
      <p:sp>
        <p:nvSpPr>
          <p:cNvPr id="21" name="Shape 19"/>
          <p:cNvSpPr/>
          <p:nvPr/>
        </p:nvSpPr>
        <p:spPr>
          <a:xfrm>
            <a:off x="0" y="4800600"/>
            <a:ext cx="9144000" cy="342900"/>
          </a:xfrm>
          <a:prstGeom prst="rect">
            <a:avLst/>
          </a:prstGeom>
          <a:solidFill>
            <a:srgbClr val="F3F4F6"/>
          </a:solidFill>
          <a:ln/>
        </p:spPr>
        <p:txBody>
          <a:bodyPr/>
          <a:lstStyle/>
          <a:p>
            <a:endParaRPr lang="en-GB"/>
          </a:p>
        </p:txBody>
      </p:sp>
      <p:sp>
        <p:nvSpPr>
          <p:cNvPr id="22" name="Text 20"/>
          <p:cNvSpPr/>
          <p:nvPr/>
        </p:nvSpPr>
        <p:spPr>
          <a:xfrm>
            <a:off x="457200" y="4828032"/>
            <a:ext cx="2743200" cy="274320"/>
          </a:xfrm>
          <a:prstGeom prst="rect">
            <a:avLst/>
          </a:prstGeom>
          <a:noFill/>
          <a:ln/>
        </p:spPr>
        <p:txBody>
          <a:bodyPr wrap="square" lIns="0" tIns="0" rIns="0" bIns="0" rtlCol="0" anchor="ctr"/>
          <a:lstStyle/>
          <a:p>
            <a:pPr marL="0" indent="0">
              <a:buNone/>
            </a:pPr>
            <a:r>
              <a:rPr lang="en-US" sz="800" dirty="0">
                <a:solidFill>
                  <a:srgbClr val="6B7280"/>
                </a:solidFill>
                <a:latin typeface="Calibri Light" pitchFamily="34" charset="0"/>
                <a:ea typeface="Calibri Light" pitchFamily="34" charset="-122"/>
                <a:cs typeface="Calibri Light" pitchFamily="34" charset="-120"/>
              </a:rPr>
              <a:t>tenderlab.co.uk</a:t>
            </a:r>
            <a:endParaRPr lang="en-US" sz="800" dirty="0"/>
          </a:p>
        </p:txBody>
      </p:sp>
      <p:pic>
        <p:nvPicPr>
          <p:cNvPr id="23" name="Image 0" descr="preencoded.png"/>
          <p:cNvPicPr>
            <a:picLocks noChangeAspect="1"/>
          </p:cNvPicPr>
          <p:nvPr/>
        </p:nvPicPr>
        <p:blipFill>
          <a:blip r:embed="rId3"/>
          <a:stretch>
            <a:fillRect/>
          </a:stretch>
        </p:blipFill>
        <p:spPr>
          <a:xfrm>
            <a:off x="8229600" y="4709160"/>
            <a:ext cx="502920" cy="50292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32004"/>
          </a:xfrm>
          <a:prstGeom prst="rect">
            <a:avLst/>
          </a:prstGeom>
          <a:solidFill>
            <a:srgbClr val="D4382C"/>
          </a:solidFill>
          <a:ln/>
        </p:spPr>
        <p:txBody>
          <a:bodyPr/>
          <a:lstStyle/>
          <a:p>
            <a:endParaRPr lang="en-GB"/>
          </a:p>
        </p:txBody>
      </p:sp>
      <p:sp>
        <p:nvSpPr>
          <p:cNvPr id="3" name="Text 1"/>
          <p:cNvSpPr/>
          <p:nvPr/>
        </p:nvSpPr>
        <p:spPr>
          <a:xfrm>
            <a:off x="548640" y="274320"/>
            <a:ext cx="8229600" cy="457200"/>
          </a:xfrm>
          <a:prstGeom prst="rect">
            <a:avLst/>
          </a:prstGeom>
          <a:noFill/>
          <a:ln/>
        </p:spPr>
        <p:txBody>
          <a:bodyPr wrap="square" lIns="0" tIns="0" rIns="0" bIns="0" rtlCol="0" anchor="ctr"/>
          <a:lstStyle/>
          <a:p>
            <a:pPr marL="0" indent="0">
              <a:buNone/>
            </a:pPr>
            <a:r>
              <a:rPr lang="en-US" sz="2800" dirty="0">
                <a:solidFill>
                  <a:srgbClr val="192231"/>
                </a:solidFill>
                <a:latin typeface="Arial Black" pitchFamily="34" charset="0"/>
                <a:ea typeface="Arial Black" pitchFamily="34" charset="-122"/>
                <a:cs typeface="Arial Black" pitchFamily="34" charset="-120"/>
              </a:rPr>
              <a:t>Target Keywords &amp; SEO</a:t>
            </a:r>
            <a:endParaRPr lang="en-US" sz="2800" dirty="0"/>
          </a:p>
        </p:txBody>
      </p:sp>
      <p:pic>
        <p:nvPicPr>
          <p:cNvPr id="4" name="Image 0" descr="preencoded.png"/>
          <p:cNvPicPr>
            <a:picLocks noChangeAspect="1"/>
          </p:cNvPicPr>
          <p:nvPr/>
        </p:nvPicPr>
        <p:blipFill>
          <a:blip r:embed="rId3"/>
          <a:stretch>
            <a:fillRect/>
          </a:stretch>
        </p:blipFill>
        <p:spPr>
          <a:xfrm>
            <a:off x="548640" y="868680"/>
            <a:ext cx="201168" cy="201168"/>
          </a:xfrm>
          <a:prstGeom prst="rect">
            <a:avLst/>
          </a:prstGeom>
        </p:spPr>
      </p:pic>
      <p:sp>
        <p:nvSpPr>
          <p:cNvPr id="5" name="Text 2"/>
          <p:cNvSpPr/>
          <p:nvPr/>
        </p:nvSpPr>
        <p:spPr>
          <a:xfrm>
            <a:off x="822960" y="868680"/>
            <a:ext cx="2743200" cy="201168"/>
          </a:xfrm>
          <a:prstGeom prst="rect">
            <a:avLst/>
          </a:prstGeom>
          <a:noFill/>
          <a:ln/>
        </p:spPr>
        <p:txBody>
          <a:bodyPr wrap="square" lIns="0" tIns="0" rIns="0" bIns="0" rtlCol="0" anchor="ctr"/>
          <a:lstStyle/>
          <a:p>
            <a:pPr marL="0" indent="0">
              <a:buNone/>
            </a:pPr>
            <a:r>
              <a:rPr lang="en-US" sz="900" b="1" kern="0" spc="200" dirty="0">
                <a:solidFill>
                  <a:srgbClr val="D4382C"/>
                </a:solidFill>
                <a:latin typeface="Calibri" pitchFamily="34" charset="0"/>
                <a:ea typeface="Calibri" pitchFamily="34" charset="-122"/>
                <a:cs typeface="Calibri" pitchFamily="34" charset="-120"/>
              </a:rPr>
              <a:t>PRIMARY</a:t>
            </a:r>
            <a:endParaRPr lang="en-US" sz="900" dirty="0"/>
          </a:p>
        </p:txBody>
      </p:sp>
      <p:sp>
        <p:nvSpPr>
          <p:cNvPr id="6" name="Shape 3"/>
          <p:cNvSpPr/>
          <p:nvPr/>
        </p:nvSpPr>
        <p:spPr>
          <a:xfrm>
            <a:off x="548640" y="1143000"/>
            <a:ext cx="3840480" cy="256032"/>
          </a:xfrm>
          <a:prstGeom prst="rect">
            <a:avLst/>
          </a:prstGeom>
          <a:solidFill>
            <a:srgbClr val="F3F4F6"/>
          </a:solidFill>
          <a:ln/>
        </p:spPr>
        <p:txBody>
          <a:bodyPr/>
          <a:lstStyle/>
          <a:p>
            <a:endParaRPr lang="en-GB"/>
          </a:p>
        </p:txBody>
      </p:sp>
      <p:sp>
        <p:nvSpPr>
          <p:cNvPr id="7" name="Text 4"/>
          <p:cNvSpPr/>
          <p:nvPr/>
        </p:nvSpPr>
        <p:spPr>
          <a:xfrm>
            <a:off x="685800" y="1143000"/>
            <a:ext cx="3657600" cy="256032"/>
          </a:xfrm>
          <a:prstGeom prst="rect">
            <a:avLst/>
          </a:prstGeom>
          <a:noFill/>
          <a:ln/>
        </p:spPr>
        <p:txBody>
          <a:bodyPr wrap="square" lIns="0" tIns="0" rIns="0" bIns="0" rtlCol="0" anchor="ctr"/>
          <a:lstStyle/>
          <a:p>
            <a:pPr marL="0" indent="0">
              <a:buNone/>
            </a:pPr>
            <a:r>
              <a:rPr lang="en-US" sz="1000" dirty="0">
                <a:solidFill>
                  <a:srgbClr val="192231"/>
                </a:solidFill>
                <a:latin typeface="Calibri" pitchFamily="34" charset="0"/>
                <a:ea typeface="Calibri" pitchFamily="34" charset="-122"/>
                <a:cs typeface="Calibri" pitchFamily="34" charset="-120"/>
              </a:rPr>
              <a:t>tender writing health social care</a:t>
            </a:r>
            <a:endParaRPr lang="en-US" sz="1000" dirty="0"/>
          </a:p>
        </p:txBody>
      </p:sp>
      <p:sp>
        <p:nvSpPr>
          <p:cNvPr id="8" name="Shape 5"/>
          <p:cNvSpPr/>
          <p:nvPr/>
        </p:nvSpPr>
        <p:spPr>
          <a:xfrm>
            <a:off x="4754880" y="1143000"/>
            <a:ext cx="3840480" cy="256032"/>
          </a:xfrm>
          <a:prstGeom prst="rect">
            <a:avLst/>
          </a:prstGeom>
          <a:solidFill>
            <a:srgbClr val="F3F4F6"/>
          </a:solidFill>
          <a:ln/>
        </p:spPr>
        <p:txBody>
          <a:bodyPr/>
          <a:lstStyle/>
          <a:p>
            <a:endParaRPr lang="en-GB"/>
          </a:p>
        </p:txBody>
      </p:sp>
      <p:sp>
        <p:nvSpPr>
          <p:cNvPr id="9" name="Text 6"/>
          <p:cNvSpPr/>
          <p:nvPr/>
        </p:nvSpPr>
        <p:spPr>
          <a:xfrm>
            <a:off x="4892040" y="1143000"/>
            <a:ext cx="3657600" cy="256032"/>
          </a:xfrm>
          <a:prstGeom prst="rect">
            <a:avLst/>
          </a:prstGeom>
          <a:noFill/>
          <a:ln/>
        </p:spPr>
        <p:txBody>
          <a:bodyPr wrap="square" lIns="0" tIns="0" rIns="0" bIns="0" rtlCol="0" anchor="ctr"/>
          <a:lstStyle/>
          <a:p>
            <a:pPr marL="0" indent="0">
              <a:buNone/>
            </a:pPr>
            <a:r>
              <a:rPr lang="en-US" sz="1000" dirty="0">
                <a:solidFill>
                  <a:srgbClr val="192231"/>
                </a:solidFill>
                <a:latin typeface="Calibri" pitchFamily="34" charset="0"/>
                <a:ea typeface="Calibri" pitchFamily="34" charset="-122"/>
                <a:cs typeface="Calibri" pitchFamily="34" charset="-120"/>
              </a:rPr>
              <a:t>bid writing social care UK</a:t>
            </a:r>
            <a:endParaRPr lang="en-US" sz="1000" dirty="0"/>
          </a:p>
        </p:txBody>
      </p:sp>
      <p:sp>
        <p:nvSpPr>
          <p:cNvPr id="10" name="Shape 7"/>
          <p:cNvSpPr/>
          <p:nvPr/>
        </p:nvSpPr>
        <p:spPr>
          <a:xfrm>
            <a:off x="548640" y="1435608"/>
            <a:ext cx="3840480" cy="256032"/>
          </a:xfrm>
          <a:prstGeom prst="rect">
            <a:avLst/>
          </a:prstGeom>
          <a:solidFill>
            <a:srgbClr val="F3F4F6"/>
          </a:solidFill>
          <a:ln/>
        </p:spPr>
        <p:txBody>
          <a:bodyPr/>
          <a:lstStyle/>
          <a:p>
            <a:endParaRPr lang="en-GB"/>
          </a:p>
        </p:txBody>
      </p:sp>
      <p:sp>
        <p:nvSpPr>
          <p:cNvPr id="11" name="Text 8"/>
          <p:cNvSpPr/>
          <p:nvPr/>
        </p:nvSpPr>
        <p:spPr>
          <a:xfrm>
            <a:off x="685800" y="1435608"/>
            <a:ext cx="3657600" cy="256032"/>
          </a:xfrm>
          <a:prstGeom prst="rect">
            <a:avLst/>
          </a:prstGeom>
          <a:noFill/>
          <a:ln/>
        </p:spPr>
        <p:txBody>
          <a:bodyPr wrap="square" lIns="0" tIns="0" rIns="0" bIns="0" rtlCol="0" anchor="ctr"/>
          <a:lstStyle/>
          <a:p>
            <a:pPr marL="0" indent="0">
              <a:buNone/>
            </a:pPr>
            <a:r>
              <a:rPr lang="en-US" sz="1000" dirty="0">
                <a:solidFill>
                  <a:srgbClr val="192231"/>
                </a:solidFill>
                <a:latin typeface="Calibri" pitchFamily="34" charset="0"/>
                <a:ea typeface="Calibri" pitchFamily="34" charset="-122"/>
                <a:cs typeface="Calibri" pitchFamily="34" charset="-120"/>
              </a:rPr>
              <a:t>health care tender consultancy</a:t>
            </a:r>
            <a:endParaRPr lang="en-US" sz="1000" dirty="0"/>
          </a:p>
        </p:txBody>
      </p:sp>
      <p:sp>
        <p:nvSpPr>
          <p:cNvPr id="12" name="Shape 9"/>
          <p:cNvSpPr/>
          <p:nvPr/>
        </p:nvSpPr>
        <p:spPr>
          <a:xfrm>
            <a:off x="4754880" y="1435608"/>
            <a:ext cx="3840480" cy="256032"/>
          </a:xfrm>
          <a:prstGeom prst="rect">
            <a:avLst/>
          </a:prstGeom>
          <a:solidFill>
            <a:srgbClr val="F3F4F6"/>
          </a:solidFill>
          <a:ln/>
        </p:spPr>
        <p:txBody>
          <a:bodyPr/>
          <a:lstStyle/>
          <a:p>
            <a:endParaRPr lang="en-GB"/>
          </a:p>
        </p:txBody>
      </p:sp>
      <p:sp>
        <p:nvSpPr>
          <p:cNvPr id="13" name="Text 10"/>
          <p:cNvSpPr/>
          <p:nvPr/>
        </p:nvSpPr>
        <p:spPr>
          <a:xfrm>
            <a:off x="4892040" y="1435608"/>
            <a:ext cx="3657600" cy="256032"/>
          </a:xfrm>
          <a:prstGeom prst="rect">
            <a:avLst/>
          </a:prstGeom>
          <a:noFill/>
          <a:ln/>
        </p:spPr>
        <p:txBody>
          <a:bodyPr wrap="square" lIns="0" tIns="0" rIns="0" bIns="0" rtlCol="0" anchor="ctr"/>
          <a:lstStyle/>
          <a:p>
            <a:pPr marL="0" indent="0">
              <a:buNone/>
            </a:pPr>
            <a:r>
              <a:rPr lang="en-US" sz="1000" dirty="0">
                <a:solidFill>
                  <a:srgbClr val="192231"/>
                </a:solidFill>
                <a:latin typeface="Calibri" pitchFamily="34" charset="0"/>
                <a:ea typeface="Calibri" pitchFamily="34" charset="-122"/>
                <a:cs typeface="Calibri" pitchFamily="34" charset="-120"/>
              </a:rPr>
              <a:t>social care bid writer</a:t>
            </a:r>
            <a:endParaRPr lang="en-US" sz="1000" dirty="0"/>
          </a:p>
        </p:txBody>
      </p:sp>
      <p:sp>
        <p:nvSpPr>
          <p:cNvPr id="14" name="Shape 11"/>
          <p:cNvSpPr/>
          <p:nvPr/>
        </p:nvSpPr>
        <p:spPr>
          <a:xfrm>
            <a:off x="548640" y="1728216"/>
            <a:ext cx="3840480" cy="256032"/>
          </a:xfrm>
          <a:prstGeom prst="rect">
            <a:avLst/>
          </a:prstGeom>
          <a:solidFill>
            <a:srgbClr val="F3F4F6"/>
          </a:solidFill>
          <a:ln/>
        </p:spPr>
        <p:txBody>
          <a:bodyPr/>
          <a:lstStyle/>
          <a:p>
            <a:endParaRPr lang="en-GB"/>
          </a:p>
        </p:txBody>
      </p:sp>
      <p:sp>
        <p:nvSpPr>
          <p:cNvPr id="15" name="Text 12"/>
          <p:cNvSpPr/>
          <p:nvPr/>
        </p:nvSpPr>
        <p:spPr>
          <a:xfrm>
            <a:off x="685800" y="1728216"/>
            <a:ext cx="3657600" cy="256032"/>
          </a:xfrm>
          <a:prstGeom prst="rect">
            <a:avLst/>
          </a:prstGeom>
          <a:noFill/>
          <a:ln/>
        </p:spPr>
        <p:txBody>
          <a:bodyPr wrap="square" lIns="0" tIns="0" rIns="0" bIns="0" rtlCol="0" anchor="ctr"/>
          <a:lstStyle/>
          <a:p>
            <a:pPr marL="0" indent="0">
              <a:buNone/>
            </a:pPr>
            <a:r>
              <a:rPr lang="en-US" sz="1000" dirty="0">
                <a:solidFill>
                  <a:srgbClr val="192231"/>
                </a:solidFill>
                <a:latin typeface="Calibri" pitchFamily="34" charset="0"/>
                <a:ea typeface="Calibri" pitchFamily="34" charset="-122"/>
                <a:cs typeface="Calibri" pitchFamily="34" charset="-120"/>
              </a:rPr>
              <a:t>tender writing domiciliary care</a:t>
            </a:r>
            <a:endParaRPr lang="en-US" sz="1000" dirty="0"/>
          </a:p>
        </p:txBody>
      </p:sp>
      <p:sp>
        <p:nvSpPr>
          <p:cNvPr id="16" name="Shape 13"/>
          <p:cNvSpPr/>
          <p:nvPr/>
        </p:nvSpPr>
        <p:spPr>
          <a:xfrm>
            <a:off x="4754880" y="1728216"/>
            <a:ext cx="3840480" cy="256032"/>
          </a:xfrm>
          <a:prstGeom prst="rect">
            <a:avLst/>
          </a:prstGeom>
          <a:solidFill>
            <a:srgbClr val="F3F4F6"/>
          </a:solidFill>
          <a:ln/>
        </p:spPr>
        <p:txBody>
          <a:bodyPr/>
          <a:lstStyle/>
          <a:p>
            <a:endParaRPr lang="en-GB"/>
          </a:p>
        </p:txBody>
      </p:sp>
      <p:sp>
        <p:nvSpPr>
          <p:cNvPr id="17" name="Text 14"/>
          <p:cNvSpPr/>
          <p:nvPr/>
        </p:nvSpPr>
        <p:spPr>
          <a:xfrm>
            <a:off x="4892040" y="1728216"/>
            <a:ext cx="3657600" cy="256032"/>
          </a:xfrm>
          <a:prstGeom prst="rect">
            <a:avLst/>
          </a:prstGeom>
          <a:noFill/>
          <a:ln/>
        </p:spPr>
        <p:txBody>
          <a:bodyPr wrap="square" lIns="0" tIns="0" rIns="0" bIns="0" rtlCol="0" anchor="ctr"/>
          <a:lstStyle/>
          <a:p>
            <a:pPr marL="0" indent="0">
              <a:buNone/>
            </a:pPr>
            <a:r>
              <a:rPr lang="en-US" sz="1000" dirty="0">
                <a:solidFill>
                  <a:srgbClr val="192231"/>
                </a:solidFill>
                <a:latin typeface="Calibri" pitchFamily="34" charset="0"/>
                <a:ea typeface="Calibri" pitchFamily="34" charset="-122"/>
                <a:cs typeface="Calibri" pitchFamily="34" charset="-120"/>
              </a:rPr>
              <a:t>NHS tender writing services</a:t>
            </a:r>
            <a:endParaRPr lang="en-US" sz="1000" dirty="0"/>
          </a:p>
        </p:txBody>
      </p:sp>
      <p:sp>
        <p:nvSpPr>
          <p:cNvPr id="18" name="Shape 15"/>
          <p:cNvSpPr/>
          <p:nvPr/>
        </p:nvSpPr>
        <p:spPr>
          <a:xfrm>
            <a:off x="548640" y="2020824"/>
            <a:ext cx="3840480" cy="256032"/>
          </a:xfrm>
          <a:prstGeom prst="rect">
            <a:avLst/>
          </a:prstGeom>
          <a:solidFill>
            <a:srgbClr val="F3F4F6"/>
          </a:solidFill>
          <a:ln/>
        </p:spPr>
        <p:txBody>
          <a:bodyPr/>
          <a:lstStyle/>
          <a:p>
            <a:endParaRPr lang="en-GB"/>
          </a:p>
        </p:txBody>
      </p:sp>
      <p:sp>
        <p:nvSpPr>
          <p:cNvPr id="19" name="Text 16"/>
          <p:cNvSpPr/>
          <p:nvPr/>
        </p:nvSpPr>
        <p:spPr>
          <a:xfrm>
            <a:off x="685800" y="2020824"/>
            <a:ext cx="3657600" cy="256032"/>
          </a:xfrm>
          <a:prstGeom prst="rect">
            <a:avLst/>
          </a:prstGeom>
          <a:noFill/>
          <a:ln/>
        </p:spPr>
        <p:txBody>
          <a:bodyPr wrap="square" lIns="0" tIns="0" rIns="0" bIns="0" rtlCol="0" anchor="ctr"/>
          <a:lstStyle/>
          <a:p>
            <a:pPr marL="0" indent="0">
              <a:buNone/>
            </a:pPr>
            <a:r>
              <a:rPr lang="en-US" sz="1000" dirty="0">
                <a:solidFill>
                  <a:srgbClr val="192231"/>
                </a:solidFill>
                <a:latin typeface="Calibri" pitchFamily="34" charset="0"/>
                <a:ea typeface="Calibri" pitchFamily="34" charset="-122"/>
                <a:cs typeface="Calibri" pitchFamily="34" charset="-120"/>
              </a:rPr>
              <a:t>care tender consultant</a:t>
            </a:r>
            <a:endParaRPr lang="en-US" sz="1000" dirty="0"/>
          </a:p>
        </p:txBody>
      </p:sp>
      <p:pic>
        <p:nvPicPr>
          <p:cNvPr id="20" name="Image 1" descr="preencoded.png"/>
          <p:cNvPicPr>
            <a:picLocks noChangeAspect="1"/>
          </p:cNvPicPr>
          <p:nvPr/>
        </p:nvPicPr>
        <p:blipFill>
          <a:blip r:embed="rId4"/>
          <a:stretch>
            <a:fillRect/>
          </a:stretch>
        </p:blipFill>
        <p:spPr>
          <a:xfrm>
            <a:off x="548640" y="2423160"/>
            <a:ext cx="201168" cy="201168"/>
          </a:xfrm>
          <a:prstGeom prst="rect">
            <a:avLst/>
          </a:prstGeom>
        </p:spPr>
      </p:pic>
      <p:sp>
        <p:nvSpPr>
          <p:cNvPr id="21" name="Text 17"/>
          <p:cNvSpPr/>
          <p:nvPr/>
        </p:nvSpPr>
        <p:spPr>
          <a:xfrm>
            <a:off x="822960" y="2423160"/>
            <a:ext cx="2743200" cy="201168"/>
          </a:xfrm>
          <a:prstGeom prst="rect">
            <a:avLst/>
          </a:prstGeom>
          <a:noFill/>
          <a:ln/>
        </p:spPr>
        <p:txBody>
          <a:bodyPr wrap="square" lIns="0" tIns="0" rIns="0" bIns="0" rtlCol="0" anchor="ctr"/>
          <a:lstStyle/>
          <a:p>
            <a:pPr marL="0" indent="0">
              <a:buNone/>
            </a:pPr>
            <a:r>
              <a:rPr lang="en-US" sz="900" b="1" kern="0" spc="200" dirty="0">
                <a:solidFill>
                  <a:srgbClr val="D4382C"/>
                </a:solidFill>
                <a:latin typeface="Calibri" pitchFamily="34" charset="0"/>
                <a:ea typeface="Calibri" pitchFamily="34" charset="-122"/>
                <a:cs typeface="Calibri" pitchFamily="34" charset="-120"/>
              </a:rPr>
              <a:t>LONG-TAIL</a:t>
            </a:r>
            <a:endParaRPr lang="en-US" sz="900" dirty="0"/>
          </a:p>
        </p:txBody>
      </p:sp>
      <p:sp>
        <p:nvSpPr>
          <p:cNvPr id="22" name="Shape 18"/>
          <p:cNvSpPr/>
          <p:nvPr/>
        </p:nvSpPr>
        <p:spPr>
          <a:xfrm>
            <a:off x="548640" y="2697480"/>
            <a:ext cx="3840480" cy="256032"/>
          </a:xfrm>
          <a:prstGeom prst="rect">
            <a:avLst/>
          </a:prstGeom>
          <a:solidFill>
            <a:srgbClr val="FAFAF5"/>
          </a:solidFill>
          <a:ln/>
        </p:spPr>
        <p:txBody>
          <a:bodyPr/>
          <a:lstStyle/>
          <a:p>
            <a:endParaRPr lang="en-GB"/>
          </a:p>
        </p:txBody>
      </p:sp>
      <p:sp>
        <p:nvSpPr>
          <p:cNvPr id="23" name="Text 19"/>
          <p:cNvSpPr/>
          <p:nvPr/>
        </p:nvSpPr>
        <p:spPr>
          <a:xfrm>
            <a:off x="685800" y="2697480"/>
            <a:ext cx="3657600" cy="256032"/>
          </a:xfrm>
          <a:prstGeom prst="rect">
            <a:avLst/>
          </a:prstGeom>
          <a:noFill/>
          <a:ln/>
        </p:spPr>
        <p:txBody>
          <a:bodyPr wrap="square" lIns="0" tIns="0" rIns="0" bIns="0" rtlCol="0" anchor="ctr"/>
          <a:lstStyle/>
          <a:p>
            <a:pPr marL="0" indent="0">
              <a:buNone/>
            </a:pPr>
            <a:r>
              <a:rPr lang="en-US" sz="950" dirty="0">
                <a:solidFill>
                  <a:srgbClr val="192231"/>
                </a:solidFill>
                <a:latin typeface="Calibri" pitchFamily="34" charset="0"/>
                <a:ea typeface="Calibri" pitchFamily="34" charset="-122"/>
                <a:cs typeface="Calibri" pitchFamily="34" charset="-120"/>
              </a:rPr>
              <a:t>supported living tender writing UK</a:t>
            </a:r>
            <a:endParaRPr lang="en-US" sz="950" dirty="0"/>
          </a:p>
        </p:txBody>
      </p:sp>
      <p:sp>
        <p:nvSpPr>
          <p:cNvPr id="24" name="Shape 20"/>
          <p:cNvSpPr/>
          <p:nvPr/>
        </p:nvSpPr>
        <p:spPr>
          <a:xfrm>
            <a:off x="4754880" y="2697480"/>
            <a:ext cx="3840480" cy="256032"/>
          </a:xfrm>
          <a:prstGeom prst="rect">
            <a:avLst/>
          </a:prstGeom>
          <a:solidFill>
            <a:srgbClr val="FAFAF5"/>
          </a:solidFill>
          <a:ln/>
        </p:spPr>
        <p:txBody>
          <a:bodyPr/>
          <a:lstStyle/>
          <a:p>
            <a:endParaRPr lang="en-GB"/>
          </a:p>
        </p:txBody>
      </p:sp>
      <p:sp>
        <p:nvSpPr>
          <p:cNvPr id="25" name="Text 21"/>
          <p:cNvSpPr/>
          <p:nvPr/>
        </p:nvSpPr>
        <p:spPr>
          <a:xfrm>
            <a:off x="4892040" y="2697480"/>
            <a:ext cx="3657600" cy="256032"/>
          </a:xfrm>
          <a:prstGeom prst="rect">
            <a:avLst/>
          </a:prstGeom>
          <a:noFill/>
          <a:ln/>
        </p:spPr>
        <p:txBody>
          <a:bodyPr wrap="square" lIns="0" tIns="0" rIns="0" bIns="0" rtlCol="0" anchor="ctr"/>
          <a:lstStyle/>
          <a:p>
            <a:pPr marL="0" indent="0">
              <a:buNone/>
            </a:pPr>
            <a:r>
              <a:rPr lang="en-US" sz="950" dirty="0">
                <a:solidFill>
                  <a:srgbClr val="192231"/>
                </a:solidFill>
                <a:latin typeface="Calibri" pitchFamily="34" charset="0"/>
                <a:ea typeface="Calibri" pitchFamily="34" charset="-122"/>
                <a:cs typeface="Calibri" pitchFamily="34" charset="-120"/>
              </a:rPr>
              <a:t>CQC compliant bid writing</a:t>
            </a:r>
            <a:endParaRPr lang="en-US" sz="950" dirty="0"/>
          </a:p>
        </p:txBody>
      </p:sp>
      <p:sp>
        <p:nvSpPr>
          <p:cNvPr id="26" name="Shape 22"/>
          <p:cNvSpPr/>
          <p:nvPr/>
        </p:nvSpPr>
        <p:spPr>
          <a:xfrm>
            <a:off x="548640" y="2990088"/>
            <a:ext cx="3840480" cy="256032"/>
          </a:xfrm>
          <a:prstGeom prst="rect">
            <a:avLst/>
          </a:prstGeom>
          <a:solidFill>
            <a:srgbClr val="FAFAF5"/>
          </a:solidFill>
          <a:ln/>
        </p:spPr>
        <p:txBody>
          <a:bodyPr/>
          <a:lstStyle/>
          <a:p>
            <a:endParaRPr lang="en-GB"/>
          </a:p>
        </p:txBody>
      </p:sp>
      <p:sp>
        <p:nvSpPr>
          <p:cNvPr id="27" name="Text 23"/>
          <p:cNvSpPr/>
          <p:nvPr/>
        </p:nvSpPr>
        <p:spPr>
          <a:xfrm>
            <a:off x="685800" y="2990088"/>
            <a:ext cx="3657600" cy="256032"/>
          </a:xfrm>
          <a:prstGeom prst="rect">
            <a:avLst/>
          </a:prstGeom>
          <a:noFill/>
          <a:ln/>
        </p:spPr>
        <p:txBody>
          <a:bodyPr wrap="square" lIns="0" tIns="0" rIns="0" bIns="0" rtlCol="0" anchor="ctr"/>
          <a:lstStyle/>
          <a:p>
            <a:pPr marL="0" indent="0">
              <a:buNone/>
            </a:pPr>
            <a:r>
              <a:rPr lang="en-US" sz="950" dirty="0">
                <a:solidFill>
                  <a:srgbClr val="192231"/>
                </a:solidFill>
                <a:latin typeface="Calibri" pitchFamily="34" charset="0"/>
                <a:ea typeface="Calibri" pitchFamily="34" charset="-122"/>
                <a:cs typeface="Calibri" pitchFamily="34" charset="-120"/>
              </a:rPr>
              <a:t>domiciliary care framework application</a:t>
            </a:r>
            <a:endParaRPr lang="en-US" sz="950" dirty="0"/>
          </a:p>
        </p:txBody>
      </p:sp>
      <p:sp>
        <p:nvSpPr>
          <p:cNvPr id="28" name="Shape 24"/>
          <p:cNvSpPr/>
          <p:nvPr/>
        </p:nvSpPr>
        <p:spPr>
          <a:xfrm>
            <a:off x="4754880" y="2990088"/>
            <a:ext cx="3840480" cy="256032"/>
          </a:xfrm>
          <a:prstGeom prst="rect">
            <a:avLst/>
          </a:prstGeom>
          <a:solidFill>
            <a:srgbClr val="FAFAF5"/>
          </a:solidFill>
          <a:ln/>
        </p:spPr>
        <p:txBody>
          <a:bodyPr/>
          <a:lstStyle/>
          <a:p>
            <a:endParaRPr lang="en-GB"/>
          </a:p>
        </p:txBody>
      </p:sp>
      <p:sp>
        <p:nvSpPr>
          <p:cNvPr id="29" name="Text 25"/>
          <p:cNvSpPr/>
          <p:nvPr/>
        </p:nvSpPr>
        <p:spPr>
          <a:xfrm>
            <a:off x="4892040" y="2990088"/>
            <a:ext cx="3657600" cy="256032"/>
          </a:xfrm>
          <a:prstGeom prst="rect">
            <a:avLst/>
          </a:prstGeom>
          <a:noFill/>
          <a:ln/>
        </p:spPr>
        <p:txBody>
          <a:bodyPr wrap="square" lIns="0" tIns="0" rIns="0" bIns="0" rtlCol="0" anchor="ctr"/>
          <a:lstStyle/>
          <a:p>
            <a:pPr marL="0" indent="0">
              <a:buNone/>
            </a:pPr>
            <a:r>
              <a:rPr lang="en-US" sz="950" dirty="0">
                <a:solidFill>
                  <a:srgbClr val="192231"/>
                </a:solidFill>
                <a:latin typeface="Calibri" pitchFamily="34" charset="0"/>
                <a:ea typeface="Calibri" pitchFamily="34" charset="-122"/>
                <a:cs typeface="Calibri" pitchFamily="34" charset="-120"/>
              </a:rPr>
              <a:t>local authority care contract bid</a:t>
            </a:r>
            <a:endParaRPr lang="en-US" sz="950" dirty="0"/>
          </a:p>
        </p:txBody>
      </p:sp>
      <p:sp>
        <p:nvSpPr>
          <p:cNvPr id="30" name="Shape 26"/>
          <p:cNvSpPr/>
          <p:nvPr/>
        </p:nvSpPr>
        <p:spPr>
          <a:xfrm>
            <a:off x="548640" y="3282696"/>
            <a:ext cx="3840480" cy="256032"/>
          </a:xfrm>
          <a:prstGeom prst="rect">
            <a:avLst/>
          </a:prstGeom>
          <a:solidFill>
            <a:srgbClr val="FAFAF5"/>
          </a:solidFill>
          <a:ln/>
        </p:spPr>
        <p:txBody>
          <a:bodyPr/>
          <a:lstStyle/>
          <a:p>
            <a:endParaRPr lang="en-GB"/>
          </a:p>
        </p:txBody>
      </p:sp>
      <p:sp>
        <p:nvSpPr>
          <p:cNvPr id="31" name="Text 27"/>
          <p:cNvSpPr/>
          <p:nvPr/>
        </p:nvSpPr>
        <p:spPr>
          <a:xfrm>
            <a:off x="685800" y="3282696"/>
            <a:ext cx="3657600" cy="256032"/>
          </a:xfrm>
          <a:prstGeom prst="rect">
            <a:avLst/>
          </a:prstGeom>
          <a:noFill/>
          <a:ln/>
        </p:spPr>
        <p:txBody>
          <a:bodyPr wrap="square" lIns="0" tIns="0" rIns="0" bIns="0" rtlCol="0" anchor="ctr"/>
          <a:lstStyle/>
          <a:p>
            <a:pPr marL="0" indent="0">
              <a:buNone/>
            </a:pPr>
            <a:r>
              <a:rPr lang="en-US" sz="950" dirty="0">
                <a:solidFill>
                  <a:srgbClr val="192231"/>
                </a:solidFill>
                <a:latin typeface="Calibri" pitchFamily="34" charset="0"/>
                <a:ea typeface="Calibri" pitchFamily="34" charset="-122"/>
                <a:cs typeface="Calibri" pitchFamily="34" charset="-120"/>
              </a:rPr>
              <a:t>NHS continuing care tender support</a:t>
            </a:r>
            <a:endParaRPr lang="en-US" sz="950" dirty="0"/>
          </a:p>
        </p:txBody>
      </p:sp>
      <p:sp>
        <p:nvSpPr>
          <p:cNvPr id="32" name="Shape 28"/>
          <p:cNvSpPr/>
          <p:nvPr/>
        </p:nvSpPr>
        <p:spPr>
          <a:xfrm>
            <a:off x="4754880" y="3282696"/>
            <a:ext cx="3840480" cy="256032"/>
          </a:xfrm>
          <a:prstGeom prst="rect">
            <a:avLst/>
          </a:prstGeom>
          <a:solidFill>
            <a:srgbClr val="FAFAF5"/>
          </a:solidFill>
          <a:ln/>
        </p:spPr>
        <p:txBody>
          <a:bodyPr/>
          <a:lstStyle/>
          <a:p>
            <a:endParaRPr lang="en-GB"/>
          </a:p>
        </p:txBody>
      </p:sp>
      <p:sp>
        <p:nvSpPr>
          <p:cNvPr id="33" name="Text 29"/>
          <p:cNvSpPr/>
          <p:nvPr/>
        </p:nvSpPr>
        <p:spPr>
          <a:xfrm>
            <a:off x="4892040" y="3282696"/>
            <a:ext cx="3657600" cy="256032"/>
          </a:xfrm>
          <a:prstGeom prst="rect">
            <a:avLst/>
          </a:prstGeom>
          <a:noFill/>
          <a:ln/>
        </p:spPr>
        <p:txBody>
          <a:bodyPr wrap="square" lIns="0" tIns="0" rIns="0" bIns="0" rtlCol="0" anchor="ctr"/>
          <a:lstStyle/>
          <a:p>
            <a:pPr marL="0" indent="0">
              <a:buNone/>
            </a:pPr>
            <a:r>
              <a:rPr lang="en-US" sz="950" dirty="0">
                <a:solidFill>
                  <a:srgbClr val="192231"/>
                </a:solidFill>
                <a:latin typeface="Calibri" pitchFamily="34" charset="0"/>
                <a:ea typeface="Calibri" pitchFamily="34" charset="-122"/>
                <a:cs typeface="Calibri" pitchFamily="34" charset="-120"/>
              </a:rPr>
              <a:t>children's residential home tender writer</a:t>
            </a:r>
            <a:endParaRPr lang="en-US" sz="950" dirty="0"/>
          </a:p>
        </p:txBody>
      </p:sp>
      <p:sp>
        <p:nvSpPr>
          <p:cNvPr id="34" name="Shape 30"/>
          <p:cNvSpPr/>
          <p:nvPr/>
        </p:nvSpPr>
        <p:spPr>
          <a:xfrm>
            <a:off x="548640" y="3575304"/>
            <a:ext cx="3840480" cy="256032"/>
          </a:xfrm>
          <a:prstGeom prst="rect">
            <a:avLst/>
          </a:prstGeom>
          <a:solidFill>
            <a:srgbClr val="FAFAF5"/>
          </a:solidFill>
          <a:ln/>
        </p:spPr>
        <p:txBody>
          <a:bodyPr/>
          <a:lstStyle/>
          <a:p>
            <a:endParaRPr lang="en-GB"/>
          </a:p>
        </p:txBody>
      </p:sp>
      <p:sp>
        <p:nvSpPr>
          <p:cNvPr id="35" name="Text 31"/>
          <p:cNvSpPr/>
          <p:nvPr/>
        </p:nvSpPr>
        <p:spPr>
          <a:xfrm>
            <a:off x="685800" y="3575304"/>
            <a:ext cx="3657600" cy="256032"/>
          </a:xfrm>
          <a:prstGeom prst="rect">
            <a:avLst/>
          </a:prstGeom>
          <a:noFill/>
          <a:ln/>
        </p:spPr>
        <p:txBody>
          <a:bodyPr wrap="square" lIns="0" tIns="0" rIns="0" bIns="0" rtlCol="0" anchor="ctr"/>
          <a:lstStyle/>
          <a:p>
            <a:pPr marL="0" indent="0">
              <a:buNone/>
            </a:pPr>
            <a:r>
              <a:rPr lang="en-US" sz="950" dirty="0">
                <a:solidFill>
                  <a:srgbClr val="192231"/>
                </a:solidFill>
                <a:latin typeface="Calibri" pitchFamily="34" charset="0"/>
                <a:ea typeface="Calibri" pitchFamily="34" charset="-122"/>
                <a:cs typeface="Calibri" pitchFamily="34" charset="-120"/>
              </a:rPr>
              <a:t>DPS application social care</a:t>
            </a:r>
            <a:endParaRPr lang="en-US" sz="950" dirty="0"/>
          </a:p>
        </p:txBody>
      </p:sp>
      <p:sp>
        <p:nvSpPr>
          <p:cNvPr id="36" name="Shape 32"/>
          <p:cNvSpPr/>
          <p:nvPr/>
        </p:nvSpPr>
        <p:spPr>
          <a:xfrm>
            <a:off x="4754880" y="3575304"/>
            <a:ext cx="3840480" cy="256032"/>
          </a:xfrm>
          <a:prstGeom prst="rect">
            <a:avLst/>
          </a:prstGeom>
          <a:solidFill>
            <a:srgbClr val="FAFAF5"/>
          </a:solidFill>
          <a:ln/>
        </p:spPr>
        <p:txBody>
          <a:bodyPr/>
          <a:lstStyle/>
          <a:p>
            <a:endParaRPr lang="en-GB"/>
          </a:p>
        </p:txBody>
      </p:sp>
      <p:sp>
        <p:nvSpPr>
          <p:cNvPr id="37" name="Text 33"/>
          <p:cNvSpPr/>
          <p:nvPr/>
        </p:nvSpPr>
        <p:spPr>
          <a:xfrm>
            <a:off x="4892040" y="3575304"/>
            <a:ext cx="3657600" cy="256032"/>
          </a:xfrm>
          <a:prstGeom prst="rect">
            <a:avLst/>
          </a:prstGeom>
          <a:noFill/>
          <a:ln/>
        </p:spPr>
        <p:txBody>
          <a:bodyPr wrap="square" lIns="0" tIns="0" rIns="0" bIns="0" rtlCol="0" anchor="ctr"/>
          <a:lstStyle/>
          <a:p>
            <a:pPr marL="0" indent="0">
              <a:buNone/>
            </a:pPr>
            <a:r>
              <a:rPr lang="en-US" sz="950" dirty="0">
                <a:solidFill>
                  <a:srgbClr val="192231"/>
                </a:solidFill>
                <a:latin typeface="Calibri" pitchFamily="34" charset="0"/>
                <a:ea typeface="Calibri" pitchFamily="34" charset="-122"/>
                <a:cs typeface="Calibri" pitchFamily="34" charset="-120"/>
              </a:rPr>
              <a:t>tender evaluation health social care</a:t>
            </a:r>
            <a:endParaRPr lang="en-US" sz="950" dirty="0"/>
          </a:p>
        </p:txBody>
      </p:sp>
      <p:sp>
        <p:nvSpPr>
          <p:cNvPr id="38" name="Shape 34"/>
          <p:cNvSpPr/>
          <p:nvPr/>
        </p:nvSpPr>
        <p:spPr>
          <a:xfrm>
            <a:off x="548640" y="3931920"/>
            <a:ext cx="8046720" cy="731520"/>
          </a:xfrm>
          <a:prstGeom prst="rect">
            <a:avLst/>
          </a:prstGeom>
          <a:solidFill>
            <a:srgbClr val="192231"/>
          </a:solidFill>
          <a:ln/>
        </p:spPr>
        <p:txBody>
          <a:bodyPr/>
          <a:lstStyle/>
          <a:p>
            <a:endParaRPr lang="en-GB"/>
          </a:p>
        </p:txBody>
      </p:sp>
      <p:sp>
        <p:nvSpPr>
          <p:cNvPr id="39" name="Text 35"/>
          <p:cNvSpPr/>
          <p:nvPr/>
        </p:nvSpPr>
        <p:spPr>
          <a:xfrm>
            <a:off x="731520" y="3977640"/>
            <a:ext cx="2743200" cy="182880"/>
          </a:xfrm>
          <a:prstGeom prst="rect">
            <a:avLst/>
          </a:prstGeom>
          <a:noFill/>
          <a:ln/>
        </p:spPr>
        <p:txBody>
          <a:bodyPr wrap="square" lIns="0" tIns="0" rIns="0" bIns="0" rtlCol="0" anchor="ctr"/>
          <a:lstStyle/>
          <a:p>
            <a:pPr marL="0" indent="0">
              <a:buNone/>
            </a:pPr>
            <a:r>
              <a:rPr lang="en-US" sz="900" b="1" kern="0" spc="200" dirty="0">
                <a:solidFill>
                  <a:srgbClr val="D4382C"/>
                </a:solidFill>
                <a:latin typeface="Calibri" pitchFamily="34" charset="0"/>
                <a:ea typeface="Calibri" pitchFamily="34" charset="-122"/>
                <a:cs typeface="Calibri" pitchFamily="34" charset="-120"/>
              </a:rPr>
              <a:t>SEO METADATA</a:t>
            </a:r>
            <a:endParaRPr lang="en-US" sz="900" dirty="0"/>
          </a:p>
        </p:txBody>
      </p:sp>
      <p:sp>
        <p:nvSpPr>
          <p:cNvPr id="40" name="Text 36"/>
          <p:cNvSpPr/>
          <p:nvPr/>
        </p:nvSpPr>
        <p:spPr>
          <a:xfrm>
            <a:off x="731520" y="4206240"/>
            <a:ext cx="7680960" cy="411480"/>
          </a:xfrm>
          <a:prstGeom prst="rect">
            <a:avLst/>
          </a:prstGeom>
          <a:noFill/>
          <a:ln/>
        </p:spPr>
        <p:txBody>
          <a:bodyPr wrap="square" lIns="0" tIns="0" rIns="0" bIns="0" rtlCol="0" anchor="ctr"/>
          <a:lstStyle/>
          <a:p>
            <a:pPr marL="0" indent="0">
              <a:buNone/>
            </a:pPr>
            <a:r>
              <a:rPr lang="en-US" sz="750" dirty="0">
                <a:solidFill>
                  <a:srgbClr val="9CA3AF"/>
                </a:solidFill>
                <a:latin typeface="Consolas" pitchFamily="34" charset="0"/>
                <a:ea typeface="Consolas" pitchFamily="34" charset="-122"/>
                <a:cs typeface="Consolas" pitchFamily="34" charset="-120"/>
              </a:rPr>
              <a:t>Title: TenderLab | Specialist Tender Writing for UK Health &amp; Social Care</a:t>
            </a:r>
            <a:endParaRPr lang="en-US" sz="750" dirty="0"/>
          </a:p>
          <a:p>
            <a:pPr marL="0" indent="0">
              <a:buNone/>
            </a:pPr>
            <a:r>
              <a:rPr lang="en-US" sz="750" dirty="0">
                <a:solidFill>
                  <a:srgbClr val="9CA3AF"/>
                </a:solidFill>
                <a:latin typeface="Consolas" pitchFamily="34" charset="0"/>
                <a:ea typeface="Consolas" pitchFamily="34" charset="-122"/>
                <a:cs typeface="Consolas" pitchFamily="34" charset="-120"/>
              </a:rPr>
              <a:t>Meta: Expert tender writing and bid consultancy for UK health and social care providers. We write, evaluate, and quality-assure responses for local authority, NHS, and ICB contracts.</a:t>
            </a:r>
            <a:endParaRPr lang="en-US" sz="750" dirty="0"/>
          </a:p>
          <a:p>
            <a:pPr marL="0" indent="0">
              <a:buNone/>
            </a:pPr>
            <a:r>
              <a:rPr lang="en-US" sz="750" dirty="0">
                <a:solidFill>
                  <a:srgbClr val="9CA3AF"/>
                </a:solidFill>
                <a:latin typeface="Consolas" pitchFamily="34" charset="0"/>
                <a:ea typeface="Consolas" pitchFamily="34" charset="-122"/>
                <a:cs typeface="Consolas" pitchFamily="34" charset="-120"/>
              </a:rPr>
              <a:t>Schema: LocalBusiness + ProfessionalService | serviceType: Tender Writing, Bid Consultancy | areaServed: England</a:t>
            </a:r>
            <a:endParaRPr lang="en-US" sz="750" dirty="0"/>
          </a:p>
        </p:txBody>
      </p:sp>
      <p:sp>
        <p:nvSpPr>
          <p:cNvPr id="41" name="Shape 37"/>
          <p:cNvSpPr/>
          <p:nvPr/>
        </p:nvSpPr>
        <p:spPr>
          <a:xfrm>
            <a:off x="0" y="4800600"/>
            <a:ext cx="9144000" cy="342900"/>
          </a:xfrm>
          <a:prstGeom prst="rect">
            <a:avLst/>
          </a:prstGeom>
          <a:solidFill>
            <a:srgbClr val="192231"/>
          </a:solidFill>
          <a:ln/>
        </p:spPr>
        <p:txBody>
          <a:bodyPr/>
          <a:lstStyle/>
          <a:p>
            <a:endParaRPr lang="en-GB"/>
          </a:p>
        </p:txBody>
      </p:sp>
      <p:sp>
        <p:nvSpPr>
          <p:cNvPr id="42" name="Text 38"/>
          <p:cNvSpPr/>
          <p:nvPr/>
        </p:nvSpPr>
        <p:spPr>
          <a:xfrm>
            <a:off x="457200" y="4828032"/>
            <a:ext cx="2743200" cy="274320"/>
          </a:xfrm>
          <a:prstGeom prst="rect">
            <a:avLst/>
          </a:prstGeom>
          <a:noFill/>
          <a:ln/>
        </p:spPr>
        <p:txBody>
          <a:bodyPr wrap="square" lIns="0" tIns="0" rIns="0" bIns="0" rtlCol="0" anchor="ctr"/>
          <a:lstStyle/>
          <a:p>
            <a:pPr marL="0" indent="0">
              <a:buNone/>
            </a:pPr>
            <a:r>
              <a:rPr lang="en-US" sz="800" dirty="0">
                <a:solidFill>
                  <a:srgbClr val="6B7280"/>
                </a:solidFill>
                <a:latin typeface="Calibri Light" pitchFamily="34" charset="0"/>
                <a:ea typeface="Calibri Light" pitchFamily="34" charset="-122"/>
                <a:cs typeface="Calibri Light" pitchFamily="34" charset="-120"/>
              </a:rPr>
              <a:t>tenderlab.co.uk</a:t>
            </a:r>
            <a:endParaRPr lang="en-US" sz="800" dirty="0"/>
          </a:p>
        </p:txBody>
      </p:sp>
      <p:pic>
        <p:nvPicPr>
          <p:cNvPr id="43" name="Image 2" descr="preencoded.png"/>
          <p:cNvPicPr>
            <a:picLocks noChangeAspect="1"/>
          </p:cNvPicPr>
          <p:nvPr/>
        </p:nvPicPr>
        <p:blipFill>
          <a:blip r:embed="rId5"/>
          <a:stretch>
            <a:fillRect/>
          </a:stretch>
        </p:blipFill>
        <p:spPr>
          <a:xfrm>
            <a:off x="8229600" y="4709160"/>
            <a:ext cx="502920" cy="50292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32004"/>
          </a:xfrm>
          <a:prstGeom prst="rect">
            <a:avLst/>
          </a:prstGeom>
          <a:solidFill>
            <a:srgbClr val="D4382C"/>
          </a:solidFill>
          <a:ln/>
        </p:spPr>
        <p:txBody>
          <a:bodyPr/>
          <a:lstStyle/>
          <a:p>
            <a:endParaRPr lang="en-GB"/>
          </a:p>
        </p:txBody>
      </p:sp>
      <p:sp>
        <p:nvSpPr>
          <p:cNvPr id="3" name="Text 1"/>
          <p:cNvSpPr/>
          <p:nvPr/>
        </p:nvSpPr>
        <p:spPr>
          <a:xfrm>
            <a:off x="548640" y="274320"/>
            <a:ext cx="8229600" cy="457200"/>
          </a:xfrm>
          <a:prstGeom prst="rect">
            <a:avLst/>
          </a:prstGeom>
          <a:noFill/>
          <a:ln/>
        </p:spPr>
        <p:txBody>
          <a:bodyPr wrap="square" lIns="0" tIns="0" rIns="0" bIns="0" rtlCol="0" anchor="ctr"/>
          <a:lstStyle/>
          <a:p>
            <a:pPr marL="0" indent="0">
              <a:buNone/>
            </a:pPr>
            <a:r>
              <a:rPr lang="en-US" sz="2800" dirty="0">
                <a:solidFill>
                  <a:srgbClr val="192231"/>
                </a:solidFill>
                <a:latin typeface="Arial Black" pitchFamily="34" charset="0"/>
                <a:ea typeface="Arial Black" pitchFamily="34" charset="-122"/>
                <a:cs typeface="Arial Black" pitchFamily="34" charset="-120"/>
              </a:rPr>
              <a:t>Hashtag Strategy</a:t>
            </a:r>
            <a:endParaRPr lang="en-US" sz="2800" dirty="0"/>
          </a:p>
        </p:txBody>
      </p:sp>
      <p:sp>
        <p:nvSpPr>
          <p:cNvPr id="4" name="Text 2"/>
          <p:cNvSpPr/>
          <p:nvPr/>
        </p:nvSpPr>
        <p:spPr>
          <a:xfrm>
            <a:off x="548640" y="914400"/>
            <a:ext cx="3657600" cy="201168"/>
          </a:xfrm>
          <a:prstGeom prst="rect">
            <a:avLst/>
          </a:prstGeom>
          <a:noFill/>
          <a:ln/>
        </p:spPr>
        <p:txBody>
          <a:bodyPr wrap="square" lIns="0" tIns="0" rIns="0" bIns="0" rtlCol="0" anchor="ctr"/>
          <a:lstStyle/>
          <a:p>
            <a:pPr marL="0" indent="0">
              <a:buNone/>
            </a:pPr>
            <a:r>
              <a:rPr lang="en-US" sz="900" b="1" kern="0" spc="200" dirty="0">
                <a:solidFill>
                  <a:srgbClr val="D4382C"/>
                </a:solidFill>
                <a:latin typeface="Calibri" pitchFamily="34" charset="0"/>
                <a:ea typeface="Calibri" pitchFamily="34" charset="-122"/>
                <a:cs typeface="Calibri" pitchFamily="34" charset="-120"/>
              </a:rPr>
              <a:t>PRIMARY (every post)</a:t>
            </a:r>
            <a:endParaRPr lang="en-US" sz="900" dirty="0"/>
          </a:p>
        </p:txBody>
      </p:sp>
      <p:sp>
        <p:nvSpPr>
          <p:cNvPr id="5" name="Shape 3"/>
          <p:cNvSpPr/>
          <p:nvPr/>
        </p:nvSpPr>
        <p:spPr>
          <a:xfrm>
            <a:off x="548640" y="1188720"/>
            <a:ext cx="1554480" cy="292608"/>
          </a:xfrm>
          <a:prstGeom prst="rect">
            <a:avLst/>
          </a:prstGeom>
          <a:solidFill>
            <a:srgbClr val="3B5068"/>
          </a:solidFill>
          <a:ln/>
        </p:spPr>
        <p:txBody>
          <a:bodyPr/>
          <a:lstStyle/>
          <a:p>
            <a:endParaRPr lang="en-GB"/>
          </a:p>
        </p:txBody>
      </p:sp>
      <p:sp>
        <p:nvSpPr>
          <p:cNvPr id="6" name="Text 4"/>
          <p:cNvSpPr/>
          <p:nvPr/>
        </p:nvSpPr>
        <p:spPr>
          <a:xfrm>
            <a:off x="548640" y="1188720"/>
            <a:ext cx="1554480"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#TenderWriting</a:t>
            </a:r>
            <a:endParaRPr lang="en-US" sz="900" dirty="0"/>
          </a:p>
        </p:txBody>
      </p:sp>
      <p:sp>
        <p:nvSpPr>
          <p:cNvPr id="7" name="Shape 5"/>
          <p:cNvSpPr/>
          <p:nvPr/>
        </p:nvSpPr>
        <p:spPr>
          <a:xfrm>
            <a:off x="2240280" y="1188720"/>
            <a:ext cx="1554480" cy="292608"/>
          </a:xfrm>
          <a:prstGeom prst="rect">
            <a:avLst/>
          </a:prstGeom>
          <a:solidFill>
            <a:srgbClr val="3B5068"/>
          </a:solidFill>
          <a:ln/>
        </p:spPr>
        <p:txBody>
          <a:bodyPr/>
          <a:lstStyle/>
          <a:p>
            <a:endParaRPr lang="en-GB"/>
          </a:p>
        </p:txBody>
      </p:sp>
      <p:sp>
        <p:nvSpPr>
          <p:cNvPr id="8" name="Text 6"/>
          <p:cNvSpPr/>
          <p:nvPr/>
        </p:nvSpPr>
        <p:spPr>
          <a:xfrm>
            <a:off x="2240280" y="1188720"/>
            <a:ext cx="1554480"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#BidWriting</a:t>
            </a:r>
            <a:endParaRPr lang="en-US" sz="900" dirty="0"/>
          </a:p>
        </p:txBody>
      </p:sp>
      <p:sp>
        <p:nvSpPr>
          <p:cNvPr id="9" name="Shape 7"/>
          <p:cNvSpPr/>
          <p:nvPr/>
        </p:nvSpPr>
        <p:spPr>
          <a:xfrm>
            <a:off x="3931920" y="1188720"/>
            <a:ext cx="1554480" cy="292608"/>
          </a:xfrm>
          <a:prstGeom prst="rect">
            <a:avLst/>
          </a:prstGeom>
          <a:solidFill>
            <a:srgbClr val="3B5068"/>
          </a:solidFill>
          <a:ln/>
        </p:spPr>
        <p:txBody>
          <a:bodyPr/>
          <a:lstStyle/>
          <a:p>
            <a:endParaRPr lang="en-GB"/>
          </a:p>
        </p:txBody>
      </p:sp>
      <p:sp>
        <p:nvSpPr>
          <p:cNvPr id="10" name="Text 8"/>
          <p:cNvSpPr/>
          <p:nvPr/>
        </p:nvSpPr>
        <p:spPr>
          <a:xfrm>
            <a:off x="3931920" y="1188720"/>
            <a:ext cx="1554480"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#HealthAndSocialCare</a:t>
            </a:r>
            <a:endParaRPr lang="en-US" sz="900" dirty="0"/>
          </a:p>
        </p:txBody>
      </p:sp>
      <p:sp>
        <p:nvSpPr>
          <p:cNvPr id="11" name="Shape 9"/>
          <p:cNvSpPr/>
          <p:nvPr/>
        </p:nvSpPr>
        <p:spPr>
          <a:xfrm>
            <a:off x="5623560" y="1188720"/>
            <a:ext cx="1554480" cy="292608"/>
          </a:xfrm>
          <a:prstGeom prst="rect">
            <a:avLst/>
          </a:prstGeom>
          <a:solidFill>
            <a:srgbClr val="3B5068"/>
          </a:solidFill>
          <a:ln/>
        </p:spPr>
        <p:txBody>
          <a:bodyPr/>
          <a:lstStyle/>
          <a:p>
            <a:endParaRPr lang="en-GB"/>
          </a:p>
        </p:txBody>
      </p:sp>
      <p:sp>
        <p:nvSpPr>
          <p:cNvPr id="12" name="Text 10"/>
          <p:cNvSpPr/>
          <p:nvPr/>
        </p:nvSpPr>
        <p:spPr>
          <a:xfrm>
            <a:off x="5623560" y="1188720"/>
            <a:ext cx="1554480"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#SocialCareProcurement</a:t>
            </a:r>
            <a:endParaRPr lang="en-US" sz="900" dirty="0"/>
          </a:p>
        </p:txBody>
      </p:sp>
      <p:sp>
        <p:nvSpPr>
          <p:cNvPr id="13" name="Shape 11"/>
          <p:cNvSpPr/>
          <p:nvPr/>
        </p:nvSpPr>
        <p:spPr>
          <a:xfrm>
            <a:off x="7315200" y="1188720"/>
            <a:ext cx="1554480" cy="292608"/>
          </a:xfrm>
          <a:prstGeom prst="rect">
            <a:avLst/>
          </a:prstGeom>
          <a:solidFill>
            <a:srgbClr val="3B5068"/>
          </a:solidFill>
          <a:ln/>
        </p:spPr>
        <p:txBody>
          <a:bodyPr/>
          <a:lstStyle/>
          <a:p>
            <a:endParaRPr lang="en-GB"/>
          </a:p>
        </p:txBody>
      </p:sp>
      <p:sp>
        <p:nvSpPr>
          <p:cNvPr id="14" name="Text 12"/>
          <p:cNvSpPr/>
          <p:nvPr/>
        </p:nvSpPr>
        <p:spPr>
          <a:xfrm>
            <a:off x="7315200" y="1188720"/>
            <a:ext cx="1554480"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#TenderLab</a:t>
            </a:r>
            <a:endParaRPr lang="en-US" sz="900" dirty="0"/>
          </a:p>
        </p:txBody>
      </p:sp>
      <p:sp>
        <p:nvSpPr>
          <p:cNvPr id="15" name="Text 13"/>
          <p:cNvSpPr/>
          <p:nvPr/>
        </p:nvSpPr>
        <p:spPr>
          <a:xfrm>
            <a:off x="548640" y="1691640"/>
            <a:ext cx="5486400" cy="201168"/>
          </a:xfrm>
          <a:prstGeom prst="rect">
            <a:avLst/>
          </a:prstGeom>
          <a:noFill/>
          <a:ln/>
        </p:spPr>
        <p:txBody>
          <a:bodyPr wrap="square" lIns="0" tIns="0" rIns="0" bIns="0" rtlCol="0" anchor="ctr"/>
          <a:lstStyle/>
          <a:p>
            <a:pPr marL="0" indent="0">
              <a:buNone/>
            </a:pPr>
            <a:r>
              <a:rPr lang="en-US" sz="900" b="1" kern="0" spc="200" dirty="0">
                <a:solidFill>
                  <a:srgbClr val="3B5068"/>
                </a:solidFill>
                <a:latin typeface="Calibri" pitchFamily="34" charset="0"/>
                <a:ea typeface="Calibri" pitchFamily="34" charset="-122"/>
                <a:cs typeface="Calibri" pitchFamily="34" charset="-120"/>
              </a:rPr>
              <a:t>SECONDARY (rotate by content category)</a:t>
            </a:r>
            <a:endParaRPr lang="en-US" sz="900" dirty="0"/>
          </a:p>
        </p:txBody>
      </p:sp>
      <p:sp>
        <p:nvSpPr>
          <p:cNvPr id="16" name="Text 14"/>
          <p:cNvSpPr/>
          <p:nvPr/>
        </p:nvSpPr>
        <p:spPr>
          <a:xfrm>
            <a:off x="548640" y="2011680"/>
            <a:ext cx="1371600" cy="201168"/>
          </a:xfrm>
          <a:prstGeom prst="rect">
            <a:avLst/>
          </a:prstGeom>
          <a:noFill/>
          <a:ln/>
        </p:spPr>
        <p:txBody>
          <a:bodyPr wrap="square" lIns="0" tIns="0" rIns="0" bIns="0" rtlCol="0" anchor="ctr"/>
          <a:lstStyle/>
          <a:p>
            <a:pPr marL="0" indent="0">
              <a:buNone/>
            </a:pPr>
            <a:r>
              <a:rPr lang="en-US" sz="1000" b="1" dirty="0">
                <a:solidFill>
                  <a:srgbClr val="192231"/>
                </a:solidFill>
                <a:latin typeface="Calibri" pitchFamily="34" charset="0"/>
                <a:ea typeface="Calibri" pitchFamily="34" charset="-122"/>
                <a:cs typeface="Calibri" pitchFamily="34" charset="-120"/>
              </a:rPr>
              <a:t>Sector</a:t>
            </a:r>
            <a:endParaRPr lang="en-US" sz="1000" dirty="0"/>
          </a:p>
        </p:txBody>
      </p:sp>
      <p:sp>
        <p:nvSpPr>
          <p:cNvPr id="17" name="Shape 15"/>
          <p:cNvSpPr/>
          <p:nvPr/>
        </p:nvSpPr>
        <p:spPr>
          <a:xfrm>
            <a:off x="2011680" y="2011680"/>
            <a:ext cx="1280160" cy="256032"/>
          </a:xfrm>
          <a:prstGeom prst="rect">
            <a:avLst/>
          </a:prstGeom>
          <a:solidFill>
            <a:srgbClr val="F3F4F6"/>
          </a:solidFill>
          <a:ln/>
        </p:spPr>
        <p:txBody>
          <a:bodyPr/>
          <a:lstStyle/>
          <a:p>
            <a:endParaRPr lang="en-GB"/>
          </a:p>
        </p:txBody>
      </p:sp>
      <p:sp>
        <p:nvSpPr>
          <p:cNvPr id="18" name="Text 16"/>
          <p:cNvSpPr/>
          <p:nvPr/>
        </p:nvSpPr>
        <p:spPr>
          <a:xfrm>
            <a:off x="2011680" y="2011680"/>
            <a:ext cx="1280160" cy="256032"/>
          </a:xfrm>
          <a:prstGeom prst="rect">
            <a:avLst/>
          </a:prstGeom>
          <a:noFill/>
          <a:ln/>
        </p:spPr>
        <p:txBody>
          <a:bodyPr wrap="square" lIns="0" tIns="0" rIns="0" bIns="0" rtlCol="0" anchor="ctr"/>
          <a:lstStyle/>
          <a:p>
            <a:pPr marL="0" indent="0" algn="ctr">
              <a:buNone/>
            </a:pPr>
            <a:r>
              <a:rPr lang="en-US" sz="850" dirty="0">
                <a:solidFill>
                  <a:srgbClr val="192231"/>
                </a:solidFill>
                <a:latin typeface="Calibri" pitchFamily="34" charset="0"/>
                <a:ea typeface="Calibri" pitchFamily="34" charset="-122"/>
                <a:cs typeface="Calibri" pitchFamily="34" charset="-120"/>
              </a:rPr>
              <a:t>#CQC</a:t>
            </a:r>
            <a:endParaRPr lang="en-US" sz="850" dirty="0"/>
          </a:p>
        </p:txBody>
      </p:sp>
      <p:sp>
        <p:nvSpPr>
          <p:cNvPr id="19" name="Shape 17"/>
          <p:cNvSpPr/>
          <p:nvPr/>
        </p:nvSpPr>
        <p:spPr>
          <a:xfrm>
            <a:off x="3429000" y="2011680"/>
            <a:ext cx="1280160" cy="256032"/>
          </a:xfrm>
          <a:prstGeom prst="rect">
            <a:avLst/>
          </a:prstGeom>
          <a:solidFill>
            <a:srgbClr val="F3F4F6"/>
          </a:solidFill>
          <a:ln/>
        </p:spPr>
        <p:txBody>
          <a:bodyPr/>
          <a:lstStyle/>
          <a:p>
            <a:endParaRPr lang="en-GB"/>
          </a:p>
        </p:txBody>
      </p:sp>
      <p:sp>
        <p:nvSpPr>
          <p:cNvPr id="20" name="Text 18"/>
          <p:cNvSpPr/>
          <p:nvPr/>
        </p:nvSpPr>
        <p:spPr>
          <a:xfrm>
            <a:off x="3429000" y="2011680"/>
            <a:ext cx="1280160" cy="256032"/>
          </a:xfrm>
          <a:prstGeom prst="rect">
            <a:avLst/>
          </a:prstGeom>
          <a:noFill/>
          <a:ln/>
        </p:spPr>
        <p:txBody>
          <a:bodyPr wrap="square" lIns="0" tIns="0" rIns="0" bIns="0" rtlCol="0" anchor="ctr"/>
          <a:lstStyle/>
          <a:p>
            <a:pPr marL="0" indent="0" algn="ctr">
              <a:buNone/>
            </a:pPr>
            <a:r>
              <a:rPr lang="en-US" sz="850" dirty="0">
                <a:solidFill>
                  <a:srgbClr val="192231"/>
                </a:solidFill>
                <a:latin typeface="Calibri" pitchFamily="34" charset="0"/>
                <a:ea typeface="Calibri" pitchFamily="34" charset="-122"/>
                <a:cs typeface="Calibri" pitchFamily="34" charset="-120"/>
              </a:rPr>
              <a:t>#CareAct2014</a:t>
            </a:r>
            <a:endParaRPr lang="en-US" sz="850" dirty="0"/>
          </a:p>
        </p:txBody>
      </p:sp>
      <p:sp>
        <p:nvSpPr>
          <p:cNvPr id="21" name="Shape 19"/>
          <p:cNvSpPr/>
          <p:nvPr/>
        </p:nvSpPr>
        <p:spPr>
          <a:xfrm>
            <a:off x="4846320" y="2011680"/>
            <a:ext cx="1280160" cy="256032"/>
          </a:xfrm>
          <a:prstGeom prst="rect">
            <a:avLst/>
          </a:prstGeom>
          <a:solidFill>
            <a:srgbClr val="F3F4F6"/>
          </a:solidFill>
          <a:ln/>
        </p:spPr>
        <p:txBody>
          <a:bodyPr/>
          <a:lstStyle/>
          <a:p>
            <a:endParaRPr lang="en-GB"/>
          </a:p>
        </p:txBody>
      </p:sp>
      <p:sp>
        <p:nvSpPr>
          <p:cNvPr id="22" name="Text 20"/>
          <p:cNvSpPr/>
          <p:nvPr/>
        </p:nvSpPr>
        <p:spPr>
          <a:xfrm>
            <a:off x="4846320" y="2011680"/>
            <a:ext cx="1280160" cy="256032"/>
          </a:xfrm>
          <a:prstGeom prst="rect">
            <a:avLst/>
          </a:prstGeom>
          <a:noFill/>
          <a:ln/>
        </p:spPr>
        <p:txBody>
          <a:bodyPr wrap="square" lIns="0" tIns="0" rIns="0" bIns="0" rtlCol="0" anchor="ctr"/>
          <a:lstStyle/>
          <a:p>
            <a:pPr marL="0" indent="0" algn="ctr">
              <a:buNone/>
            </a:pPr>
            <a:r>
              <a:rPr lang="en-US" sz="850" dirty="0">
                <a:solidFill>
                  <a:srgbClr val="192231"/>
                </a:solidFill>
                <a:latin typeface="Calibri" pitchFamily="34" charset="0"/>
                <a:ea typeface="Calibri" pitchFamily="34" charset="-122"/>
                <a:cs typeface="Calibri" pitchFamily="34" charset="-120"/>
              </a:rPr>
              <a:t>#NHSProcurement</a:t>
            </a:r>
            <a:endParaRPr lang="en-US" sz="850" dirty="0"/>
          </a:p>
        </p:txBody>
      </p:sp>
      <p:sp>
        <p:nvSpPr>
          <p:cNvPr id="23" name="Shape 21"/>
          <p:cNvSpPr/>
          <p:nvPr/>
        </p:nvSpPr>
        <p:spPr>
          <a:xfrm>
            <a:off x="6263640" y="2011680"/>
            <a:ext cx="1280160" cy="256032"/>
          </a:xfrm>
          <a:prstGeom prst="rect">
            <a:avLst/>
          </a:prstGeom>
          <a:solidFill>
            <a:srgbClr val="F3F4F6"/>
          </a:solidFill>
          <a:ln/>
        </p:spPr>
        <p:txBody>
          <a:bodyPr/>
          <a:lstStyle/>
          <a:p>
            <a:endParaRPr lang="en-GB"/>
          </a:p>
        </p:txBody>
      </p:sp>
      <p:sp>
        <p:nvSpPr>
          <p:cNvPr id="24" name="Text 22"/>
          <p:cNvSpPr/>
          <p:nvPr/>
        </p:nvSpPr>
        <p:spPr>
          <a:xfrm>
            <a:off x="6263640" y="2011680"/>
            <a:ext cx="1280160" cy="256032"/>
          </a:xfrm>
          <a:prstGeom prst="rect">
            <a:avLst/>
          </a:prstGeom>
          <a:noFill/>
          <a:ln/>
        </p:spPr>
        <p:txBody>
          <a:bodyPr wrap="square" lIns="0" tIns="0" rIns="0" bIns="0" rtlCol="0" anchor="ctr"/>
          <a:lstStyle/>
          <a:p>
            <a:pPr marL="0" indent="0" algn="ctr">
              <a:buNone/>
            </a:pPr>
            <a:r>
              <a:rPr lang="en-US" sz="850" dirty="0">
                <a:solidFill>
                  <a:srgbClr val="192231"/>
                </a:solidFill>
                <a:latin typeface="Calibri" pitchFamily="34" charset="0"/>
                <a:ea typeface="Calibri" pitchFamily="34" charset="-122"/>
                <a:cs typeface="Calibri" pitchFamily="34" charset="-120"/>
              </a:rPr>
              <a:t>#LocalAuthority</a:t>
            </a:r>
            <a:endParaRPr lang="en-US" sz="850" dirty="0"/>
          </a:p>
        </p:txBody>
      </p:sp>
      <p:sp>
        <p:nvSpPr>
          <p:cNvPr id="25" name="Shape 23"/>
          <p:cNvSpPr/>
          <p:nvPr/>
        </p:nvSpPr>
        <p:spPr>
          <a:xfrm>
            <a:off x="7680960" y="2011680"/>
            <a:ext cx="1280160" cy="256032"/>
          </a:xfrm>
          <a:prstGeom prst="rect">
            <a:avLst/>
          </a:prstGeom>
          <a:solidFill>
            <a:srgbClr val="F3F4F6"/>
          </a:solidFill>
          <a:ln/>
        </p:spPr>
        <p:txBody>
          <a:bodyPr/>
          <a:lstStyle/>
          <a:p>
            <a:endParaRPr lang="en-GB"/>
          </a:p>
        </p:txBody>
      </p:sp>
      <p:sp>
        <p:nvSpPr>
          <p:cNvPr id="26" name="Text 24"/>
          <p:cNvSpPr/>
          <p:nvPr/>
        </p:nvSpPr>
        <p:spPr>
          <a:xfrm>
            <a:off x="7680960" y="2011680"/>
            <a:ext cx="1280160" cy="256032"/>
          </a:xfrm>
          <a:prstGeom prst="rect">
            <a:avLst/>
          </a:prstGeom>
          <a:noFill/>
          <a:ln/>
        </p:spPr>
        <p:txBody>
          <a:bodyPr wrap="square" lIns="0" tIns="0" rIns="0" bIns="0" rtlCol="0" anchor="ctr"/>
          <a:lstStyle/>
          <a:p>
            <a:pPr marL="0" indent="0" algn="ctr">
              <a:buNone/>
            </a:pPr>
            <a:r>
              <a:rPr lang="en-US" sz="850" dirty="0">
                <a:solidFill>
                  <a:srgbClr val="192231"/>
                </a:solidFill>
                <a:latin typeface="Calibri" pitchFamily="34" charset="0"/>
                <a:ea typeface="Calibri" pitchFamily="34" charset="-122"/>
                <a:cs typeface="Calibri" pitchFamily="34" charset="-120"/>
              </a:rPr>
              <a:t>#IntegratedCare</a:t>
            </a:r>
            <a:endParaRPr lang="en-US" sz="850" dirty="0"/>
          </a:p>
        </p:txBody>
      </p:sp>
      <p:sp>
        <p:nvSpPr>
          <p:cNvPr id="27" name="Text 25"/>
          <p:cNvSpPr/>
          <p:nvPr/>
        </p:nvSpPr>
        <p:spPr>
          <a:xfrm>
            <a:off x="548640" y="2514600"/>
            <a:ext cx="1371600" cy="201168"/>
          </a:xfrm>
          <a:prstGeom prst="rect">
            <a:avLst/>
          </a:prstGeom>
          <a:noFill/>
          <a:ln/>
        </p:spPr>
        <p:txBody>
          <a:bodyPr wrap="square" lIns="0" tIns="0" rIns="0" bIns="0" rtlCol="0" anchor="ctr"/>
          <a:lstStyle/>
          <a:p>
            <a:pPr marL="0" indent="0">
              <a:buNone/>
            </a:pPr>
            <a:r>
              <a:rPr lang="en-US" sz="1000" b="1" dirty="0">
                <a:solidFill>
                  <a:srgbClr val="192231"/>
                </a:solidFill>
                <a:latin typeface="Calibri" pitchFamily="34" charset="0"/>
                <a:ea typeface="Calibri" pitchFamily="34" charset="-122"/>
                <a:cs typeface="Calibri" pitchFamily="34" charset="-120"/>
              </a:rPr>
              <a:t>Performance</a:t>
            </a:r>
            <a:endParaRPr lang="en-US" sz="1000" dirty="0"/>
          </a:p>
        </p:txBody>
      </p:sp>
      <p:sp>
        <p:nvSpPr>
          <p:cNvPr id="28" name="Shape 26"/>
          <p:cNvSpPr/>
          <p:nvPr/>
        </p:nvSpPr>
        <p:spPr>
          <a:xfrm>
            <a:off x="2011680" y="2514600"/>
            <a:ext cx="1280160" cy="256032"/>
          </a:xfrm>
          <a:prstGeom prst="rect">
            <a:avLst/>
          </a:prstGeom>
          <a:solidFill>
            <a:srgbClr val="F3F4F6"/>
          </a:solidFill>
          <a:ln/>
        </p:spPr>
        <p:txBody>
          <a:bodyPr/>
          <a:lstStyle/>
          <a:p>
            <a:endParaRPr lang="en-GB"/>
          </a:p>
        </p:txBody>
      </p:sp>
      <p:sp>
        <p:nvSpPr>
          <p:cNvPr id="29" name="Text 27"/>
          <p:cNvSpPr/>
          <p:nvPr/>
        </p:nvSpPr>
        <p:spPr>
          <a:xfrm>
            <a:off x="2011680" y="2514600"/>
            <a:ext cx="1280160" cy="256032"/>
          </a:xfrm>
          <a:prstGeom prst="rect">
            <a:avLst/>
          </a:prstGeom>
          <a:noFill/>
          <a:ln/>
        </p:spPr>
        <p:txBody>
          <a:bodyPr wrap="square" lIns="0" tIns="0" rIns="0" bIns="0" rtlCol="0" anchor="ctr"/>
          <a:lstStyle/>
          <a:p>
            <a:pPr marL="0" indent="0" algn="ctr">
              <a:buNone/>
            </a:pPr>
            <a:r>
              <a:rPr lang="en-US" sz="850" dirty="0">
                <a:solidFill>
                  <a:srgbClr val="192231"/>
                </a:solidFill>
                <a:latin typeface="Calibri" pitchFamily="34" charset="0"/>
                <a:ea typeface="Calibri" pitchFamily="34" charset="-122"/>
                <a:cs typeface="Calibri" pitchFamily="34" charset="-120"/>
              </a:rPr>
              <a:t>#WinRate</a:t>
            </a:r>
            <a:endParaRPr lang="en-US" sz="850" dirty="0"/>
          </a:p>
        </p:txBody>
      </p:sp>
      <p:sp>
        <p:nvSpPr>
          <p:cNvPr id="30" name="Shape 28"/>
          <p:cNvSpPr/>
          <p:nvPr/>
        </p:nvSpPr>
        <p:spPr>
          <a:xfrm>
            <a:off x="3429000" y="2514600"/>
            <a:ext cx="1280160" cy="256032"/>
          </a:xfrm>
          <a:prstGeom prst="rect">
            <a:avLst/>
          </a:prstGeom>
          <a:solidFill>
            <a:srgbClr val="F3F4F6"/>
          </a:solidFill>
          <a:ln/>
        </p:spPr>
        <p:txBody>
          <a:bodyPr/>
          <a:lstStyle/>
          <a:p>
            <a:endParaRPr lang="en-GB"/>
          </a:p>
        </p:txBody>
      </p:sp>
      <p:sp>
        <p:nvSpPr>
          <p:cNvPr id="31" name="Text 29"/>
          <p:cNvSpPr/>
          <p:nvPr/>
        </p:nvSpPr>
        <p:spPr>
          <a:xfrm>
            <a:off x="3429000" y="2514600"/>
            <a:ext cx="1280160" cy="256032"/>
          </a:xfrm>
          <a:prstGeom prst="rect">
            <a:avLst/>
          </a:prstGeom>
          <a:noFill/>
          <a:ln/>
        </p:spPr>
        <p:txBody>
          <a:bodyPr wrap="square" lIns="0" tIns="0" rIns="0" bIns="0" rtlCol="0" anchor="ctr"/>
          <a:lstStyle/>
          <a:p>
            <a:pPr marL="0" indent="0" algn="ctr">
              <a:buNone/>
            </a:pPr>
            <a:r>
              <a:rPr lang="en-US" sz="850" dirty="0">
                <a:solidFill>
                  <a:srgbClr val="192231"/>
                </a:solidFill>
                <a:latin typeface="Calibri" pitchFamily="34" charset="0"/>
                <a:ea typeface="Calibri" pitchFamily="34" charset="-122"/>
                <a:cs typeface="Calibri" pitchFamily="34" charset="-120"/>
              </a:rPr>
              <a:t>#ContractWin</a:t>
            </a:r>
            <a:endParaRPr lang="en-US" sz="850" dirty="0"/>
          </a:p>
        </p:txBody>
      </p:sp>
      <p:sp>
        <p:nvSpPr>
          <p:cNvPr id="32" name="Shape 30"/>
          <p:cNvSpPr/>
          <p:nvPr/>
        </p:nvSpPr>
        <p:spPr>
          <a:xfrm>
            <a:off x="4846320" y="2514600"/>
            <a:ext cx="1280160" cy="256032"/>
          </a:xfrm>
          <a:prstGeom prst="rect">
            <a:avLst/>
          </a:prstGeom>
          <a:solidFill>
            <a:srgbClr val="F3F4F6"/>
          </a:solidFill>
          <a:ln/>
        </p:spPr>
        <p:txBody>
          <a:bodyPr/>
          <a:lstStyle/>
          <a:p>
            <a:endParaRPr lang="en-GB"/>
          </a:p>
        </p:txBody>
      </p:sp>
      <p:sp>
        <p:nvSpPr>
          <p:cNvPr id="33" name="Text 31"/>
          <p:cNvSpPr/>
          <p:nvPr/>
        </p:nvSpPr>
        <p:spPr>
          <a:xfrm>
            <a:off x="4846320" y="2514600"/>
            <a:ext cx="1280160" cy="256032"/>
          </a:xfrm>
          <a:prstGeom prst="rect">
            <a:avLst/>
          </a:prstGeom>
          <a:noFill/>
          <a:ln/>
        </p:spPr>
        <p:txBody>
          <a:bodyPr wrap="square" lIns="0" tIns="0" rIns="0" bIns="0" rtlCol="0" anchor="ctr"/>
          <a:lstStyle/>
          <a:p>
            <a:pPr marL="0" indent="0" algn="ctr">
              <a:buNone/>
            </a:pPr>
            <a:r>
              <a:rPr lang="en-US" sz="850" dirty="0">
                <a:solidFill>
                  <a:srgbClr val="192231"/>
                </a:solidFill>
                <a:latin typeface="Calibri" pitchFamily="34" charset="0"/>
                <a:ea typeface="Calibri" pitchFamily="34" charset="-122"/>
                <a:cs typeface="Calibri" pitchFamily="34" charset="-120"/>
              </a:rPr>
              <a:t>#TenderSuccess</a:t>
            </a:r>
            <a:endParaRPr lang="en-US" sz="850" dirty="0"/>
          </a:p>
        </p:txBody>
      </p:sp>
      <p:sp>
        <p:nvSpPr>
          <p:cNvPr id="34" name="Shape 32"/>
          <p:cNvSpPr/>
          <p:nvPr/>
        </p:nvSpPr>
        <p:spPr>
          <a:xfrm>
            <a:off x="6263640" y="2514600"/>
            <a:ext cx="1280160" cy="256032"/>
          </a:xfrm>
          <a:prstGeom prst="rect">
            <a:avLst/>
          </a:prstGeom>
          <a:solidFill>
            <a:srgbClr val="F3F4F6"/>
          </a:solidFill>
          <a:ln/>
        </p:spPr>
        <p:txBody>
          <a:bodyPr/>
          <a:lstStyle/>
          <a:p>
            <a:endParaRPr lang="en-GB"/>
          </a:p>
        </p:txBody>
      </p:sp>
      <p:sp>
        <p:nvSpPr>
          <p:cNvPr id="35" name="Text 33"/>
          <p:cNvSpPr/>
          <p:nvPr/>
        </p:nvSpPr>
        <p:spPr>
          <a:xfrm>
            <a:off x="6263640" y="2514600"/>
            <a:ext cx="1280160" cy="256032"/>
          </a:xfrm>
          <a:prstGeom prst="rect">
            <a:avLst/>
          </a:prstGeom>
          <a:noFill/>
          <a:ln/>
        </p:spPr>
        <p:txBody>
          <a:bodyPr wrap="square" lIns="0" tIns="0" rIns="0" bIns="0" rtlCol="0" anchor="ctr"/>
          <a:lstStyle/>
          <a:p>
            <a:pPr marL="0" indent="0" algn="ctr">
              <a:buNone/>
            </a:pPr>
            <a:r>
              <a:rPr lang="en-US" sz="850" dirty="0">
                <a:solidFill>
                  <a:srgbClr val="192231"/>
                </a:solidFill>
                <a:latin typeface="Calibri" pitchFamily="34" charset="0"/>
                <a:ea typeface="Calibri" pitchFamily="34" charset="-122"/>
                <a:cs typeface="Calibri" pitchFamily="34" charset="-120"/>
              </a:rPr>
              <a:t>#BidManagement</a:t>
            </a:r>
            <a:endParaRPr lang="en-US" sz="850" dirty="0"/>
          </a:p>
        </p:txBody>
      </p:sp>
      <p:sp>
        <p:nvSpPr>
          <p:cNvPr id="36" name="Shape 34"/>
          <p:cNvSpPr/>
          <p:nvPr/>
        </p:nvSpPr>
        <p:spPr>
          <a:xfrm>
            <a:off x="7680960" y="2514600"/>
            <a:ext cx="1280160" cy="256032"/>
          </a:xfrm>
          <a:prstGeom prst="rect">
            <a:avLst/>
          </a:prstGeom>
          <a:solidFill>
            <a:srgbClr val="F3F4F6"/>
          </a:solidFill>
          <a:ln/>
        </p:spPr>
        <p:txBody>
          <a:bodyPr/>
          <a:lstStyle/>
          <a:p>
            <a:endParaRPr lang="en-GB"/>
          </a:p>
        </p:txBody>
      </p:sp>
      <p:sp>
        <p:nvSpPr>
          <p:cNvPr id="37" name="Text 35"/>
          <p:cNvSpPr/>
          <p:nvPr/>
        </p:nvSpPr>
        <p:spPr>
          <a:xfrm>
            <a:off x="7680960" y="2514600"/>
            <a:ext cx="1280160" cy="256032"/>
          </a:xfrm>
          <a:prstGeom prst="rect">
            <a:avLst/>
          </a:prstGeom>
          <a:noFill/>
          <a:ln/>
        </p:spPr>
        <p:txBody>
          <a:bodyPr wrap="square" lIns="0" tIns="0" rIns="0" bIns="0" rtlCol="0" anchor="ctr"/>
          <a:lstStyle/>
          <a:p>
            <a:pPr marL="0" indent="0" algn="ctr">
              <a:buNone/>
            </a:pPr>
            <a:r>
              <a:rPr lang="en-US" sz="850" dirty="0">
                <a:solidFill>
                  <a:srgbClr val="192231"/>
                </a:solidFill>
                <a:latin typeface="Calibri" pitchFamily="34" charset="0"/>
                <a:ea typeface="Calibri" pitchFamily="34" charset="-122"/>
                <a:cs typeface="Calibri" pitchFamily="34" charset="-120"/>
              </a:rPr>
              <a:t>#ProcurementStrategy</a:t>
            </a:r>
            <a:endParaRPr lang="en-US" sz="850" dirty="0"/>
          </a:p>
        </p:txBody>
      </p:sp>
      <p:sp>
        <p:nvSpPr>
          <p:cNvPr id="38" name="Text 36"/>
          <p:cNvSpPr/>
          <p:nvPr/>
        </p:nvSpPr>
        <p:spPr>
          <a:xfrm>
            <a:off x="548640" y="3017520"/>
            <a:ext cx="1371600" cy="201168"/>
          </a:xfrm>
          <a:prstGeom prst="rect">
            <a:avLst/>
          </a:prstGeom>
          <a:noFill/>
          <a:ln/>
        </p:spPr>
        <p:txBody>
          <a:bodyPr wrap="square" lIns="0" tIns="0" rIns="0" bIns="0" rtlCol="0" anchor="ctr"/>
          <a:lstStyle/>
          <a:p>
            <a:pPr marL="0" indent="0">
              <a:buNone/>
            </a:pPr>
            <a:r>
              <a:rPr lang="en-US" sz="1000" b="1" dirty="0">
                <a:solidFill>
                  <a:srgbClr val="192231"/>
                </a:solidFill>
                <a:latin typeface="Calibri" pitchFamily="34" charset="0"/>
                <a:ea typeface="Calibri" pitchFamily="34" charset="-122"/>
                <a:cs typeface="Calibri" pitchFamily="34" charset="-120"/>
              </a:rPr>
              <a:t>Operational</a:t>
            </a:r>
            <a:endParaRPr lang="en-US" sz="1000" dirty="0"/>
          </a:p>
        </p:txBody>
      </p:sp>
      <p:sp>
        <p:nvSpPr>
          <p:cNvPr id="39" name="Shape 37"/>
          <p:cNvSpPr/>
          <p:nvPr/>
        </p:nvSpPr>
        <p:spPr>
          <a:xfrm>
            <a:off x="2011680" y="3017520"/>
            <a:ext cx="1280160" cy="256032"/>
          </a:xfrm>
          <a:prstGeom prst="rect">
            <a:avLst/>
          </a:prstGeom>
          <a:solidFill>
            <a:srgbClr val="F3F4F6"/>
          </a:solidFill>
          <a:ln/>
        </p:spPr>
        <p:txBody>
          <a:bodyPr/>
          <a:lstStyle/>
          <a:p>
            <a:endParaRPr lang="en-GB"/>
          </a:p>
        </p:txBody>
      </p:sp>
      <p:sp>
        <p:nvSpPr>
          <p:cNvPr id="40" name="Text 38"/>
          <p:cNvSpPr/>
          <p:nvPr/>
        </p:nvSpPr>
        <p:spPr>
          <a:xfrm>
            <a:off x="2011680" y="3017520"/>
            <a:ext cx="1280160" cy="256032"/>
          </a:xfrm>
          <a:prstGeom prst="rect">
            <a:avLst/>
          </a:prstGeom>
          <a:noFill/>
          <a:ln/>
        </p:spPr>
        <p:txBody>
          <a:bodyPr wrap="square" lIns="0" tIns="0" rIns="0" bIns="0" rtlCol="0" anchor="ctr"/>
          <a:lstStyle/>
          <a:p>
            <a:pPr marL="0" indent="0" algn="ctr">
              <a:buNone/>
            </a:pPr>
            <a:r>
              <a:rPr lang="en-US" sz="850" dirty="0">
                <a:solidFill>
                  <a:srgbClr val="192231"/>
                </a:solidFill>
                <a:latin typeface="Calibri" pitchFamily="34" charset="0"/>
                <a:ea typeface="Calibri" pitchFamily="34" charset="-122"/>
                <a:cs typeface="Calibri" pitchFamily="34" charset="-120"/>
              </a:rPr>
              <a:t>#TenderTips</a:t>
            </a:r>
            <a:endParaRPr lang="en-US" sz="850" dirty="0"/>
          </a:p>
        </p:txBody>
      </p:sp>
      <p:sp>
        <p:nvSpPr>
          <p:cNvPr id="41" name="Shape 39"/>
          <p:cNvSpPr/>
          <p:nvPr/>
        </p:nvSpPr>
        <p:spPr>
          <a:xfrm>
            <a:off x="3429000" y="3017520"/>
            <a:ext cx="1280160" cy="256032"/>
          </a:xfrm>
          <a:prstGeom prst="rect">
            <a:avLst/>
          </a:prstGeom>
          <a:solidFill>
            <a:srgbClr val="F3F4F6"/>
          </a:solidFill>
          <a:ln/>
        </p:spPr>
        <p:txBody>
          <a:bodyPr/>
          <a:lstStyle/>
          <a:p>
            <a:endParaRPr lang="en-GB"/>
          </a:p>
        </p:txBody>
      </p:sp>
      <p:sp>
        <p:nvSpPr>
          <p:cNvPr id="42" name="Text 40"/>
          <p:cNvSpPr/>
          <p:nvPr/>
        </p:nvSpPr>
        <p:spPr>
          <a:xfrm>
            <a:off x="3429000" y="3017520"/>
            <a:ext cx="1280160" cy="256032"/>
          </a:xfrm>
          <a:prstGeom prst="rect">
            <a:avLst/>
          </a:prstGeom>
          <a:noFill/>
          <a:ln/>
        </p:spPr>
        <p:txBody>
          <a:bodyPr wrap="square" lIns="0" tIns="0" rIns="0" bIns="0" rtlCol="0" anchor="ctr"/>
          <a:lstStyle/>
          <a:p>
            <a:pPr marL="0" indent="0" algn="ctr">
              <a:buNone/>
            </a:pPr>
            <a:r>
              <a:rPr lang="en-US" sz="850" dirty="0">
                <a:solidFill>
                  <a:srgbClr val="192231"/>
                </a:solidFill>
                <a:latin typeface="Calibri" pitchFamily="34" charset="0"/>
                <a:ea typeface="Calibri" pitchFamily="34" charset="-122"/>
                <a:cs typeface="Calibri" pitchFamily="34" charset="-120"/>
              </a:rPr>
              <a:t>#PricingSchedule</a:t>
            </a:r>
            <a:endParaRPr lang="en-US" sz="850" dirty="0"/>
          </a:p>
        </p:txBody>
      </p:sp>
      <p:sp>
        <p:nvSpPr>
          <p:cNvPr id="43" name="Shape 41"/>
          <p:cNvSpPr/>
          <p:nvPr/>
        </p:nvSpPr>
        <p:spPr>
          <a:xfrm>
            <a:off x="4846320" y="3017520"/>
            <a:ext cx="1280160" cy="256032"/>
          </a:xfrm>
          <a:prstGeom prst="rect">
            <a:avLst/>
          </a:prstGeom>
          <a:solidFill>
            <a:srgbClr val="F3F4F6"/>
          </a:solidFill>
          <a:ln/>
        </p:spPr>
        <p:txBody>
          <a:bodyPr/>
          <a:lstStyle/>
          <a:p>
            <a:endParaRPr lang="en-GB"/>
          </a:p>
        </p:txBody>
      </p:sp>
      <p:sp>
        <p:nvSpPr>
          <p:cNvPr id="44" name="Text 42"/>
          <p:cNvSpPr/>
          <p:nvPr/>
        </p:nvSpPr>
        <p:spPr>
          <a:xfrm>
            <a:off x="4846320" y="3017520"/>
            <a:ext cx="1280160" cy="256032"/>
          </a:xfrm>
          <a:prstGeom prst="rect">
            <a:avLst/>
          </a:prstGeom>
          <a:noFill/>
          <a:ln/>
        </p:spPr>
        <p:txBody>
          <a:bodyPr wrap="square" lIns="0" tIns="0" rIns="0" bIns="0" rtlCol="0" anchor="ctr"/>
          <a:lstStyle/>
          <a:p>
            <a:pPr marL="0" indent="0" algn="ctr">
              <a:buNone/>
            </a:pPr>
            <a:r>
              <a:rPr lang="en-US" sz="850" dirty="0">
                <a:solidFill>
                  <a:srgbClr val="192231"/>
                </a:solidFill>
                <a:latin typeface="Calibri" pitchFamily="34" charset="0"/>
                <a:ea typeface="Calibri" pitchFamily="34" charset="-122"/>
                <a:cs typeface="Calibri" pitchFamily="34" charset="-120"/>
              </a:rPr>
              <a:t>#SocialValue</a:t>
            </a:r>
            <a:endParaRPr lang="en-US" sz="850" dirty="0"/>
          </a:p>
        </p:txBody>
      </p:sp>
      <p:sp>
        <p:nvSpPr>
          <p:cNvPr id="45" name="Shape 43"/>
          <p:cNvSpPr/>
          <p:nvPr/>
        </p:nvSpPr>
        <p:spPr>
          <a:xfrm>
            <a:off x="6263640" y="3017520"/>
            <a:ext cx="1280160" cy="256032"/>
          </a:xfrm>
          <a:prstGeom prst="rect">
            <a:avLst/>
          </a:prstGeom>
          <a:solidFill>
            <a:srgbClr val="F3F4F6"/>
          </a:solidFill>
          <a:ln/>
        </p:spPr>
        <p:txBody>
          <a:bodyPr/>
          <a:lstStyle/>
          <a:p>
            <a:endParaRPr lang="en-GB"/>
          </a:p>
        </p:txBody>
      </p:sp>
      <p:sp>
        <p:nvSpPr>
          <p:cNvPr id="46" name="Text 44"/>
          <p:cNvSpPr/>
          <p:nvPr/>
        </p:nvSpPr>
        <p:spPr>
          <a:xfrm>
            <a:off x="6263640" y="3017520"/>
            <a:ext cx="1280160" cy="256032"/>
          </a:xfrm>
          <a:prstGeom prst="rect">
            <a:avLst/>
          </a:prstGeom>
          <a:noFill/>
          <a:ln/>
        </p:spPr>
        <p:txBody>
          <a:bodyPr wrap="square" lIns="0" tIns="0" rIns="0" bIns="0" rtlCol="0" anchor="ctr"/>
          <a:lstStyle/>
          <a:p>
            <a:pPr marL="0" indent="0" algn="ctr">
              <a:buNone/>
            </a:pPr>
            <a:r>
              <a:rPr lang="en-US" sz="850" dirty="0">
                <a:solidFill>
                  <a:srgbClr val="192231"/>
                </a:solidFill>
                <a:latin typeface="Calibri" pitchFamily="34" charset="0"/>
                <a:ea typeface="Calibri" pitchFamily="34" charset="-122"/>
                <a:cs typeface="Calibri" pitchFamily="34" charset="-120"/>
              </a:rPr>
              <a:t>#TUPE</a:t>
            </a:r>
            <a:endParaRPr lang="en-US" sz="850" dirty="0"/>
          </a:p>
        </p:txBody>
      </p:sp>
      <p:sp>
        <p:nvSpPr>
          <p:cNvPr id="47" name="Shape 45"/>
          <p:cNvSpPr/>
          <p:nvPr/>
        </p:nvSpPr>
        <p:spPr>
          <a:xfrm>
            <a:off x="7680960" y="3017520"/>
            <a:ext cx="1280160" cy="256032"/>
          </a:xfrm>
          <a:prstGeom prst="rect">
            <a:avLst/>
          </a:prstGeom>
          <a:solidFill>
            <a:srgbClr val="F3F4F6"/>
          </a:solidFill>
          <a:ln/>
        </p:spPr>
        <p:txBody>
          <a:bodyPr/>
          <a:lstStyle/>
          <a:p>
            <a:endParaRPr lang="en-GB"/>
          </a:p>
        </p:txBody>
      </p:sp>
      <p:sp>
        <p:nvSpPr>
          <p:cNvPr id="48" name="Text 46"/>
          <p:cNvSpPr/>
          <p:nvPr/>
        </p:nvSpPr>
        <p:spPr>
          <a:xfrm>
            <a:off x="7680960" y="3017520"/>
            <a:ext cx="1280160" cy="256032"/>
          </a:xfrm>
          <a:prstGeom prst="rect">
            <a:avLst/>
          </a:prstGeom>
          <a:noFill/>
          <a:ln/>
        </p:spPr>
        <p:txBody>
          <a:bodyPr wrap="square" lIns="0" tIns="0" rIns="0" bIns="0" rtlCol="0" anchor="ctr"/>
          <a:lstStyle/>
          <a:p>
            <a:pPr marL="0" indent="0" algn="ctr">
              <a:buNone/>
            </a:pPr>
            <a:r>
              <a:rPr lang="en-US" sz="850" dirty="0">
                <a:solidFill>
                  <a:srgbClr val="192231"/>
                </a:solidFill>
                <a:latin typeface="Calibri" pitchFamily="34" charset="0"/>
                <a:ea typeface="Calibri" pitchFamily="34" charset="-122"/>
                <a:cs typeface="Calibri" pitchFamily="34" charset="-120"/>
              </a:rPr>
              <a:t>#DomiciliaryCare</a:t>
            </a:r>
            <a:endParaRPr lang="en-US" sz="850" dirty="0"/>
          </a:p>
        </p:txBody>
      </p:sp>
      <p:sp>
        <p:nvSpPr>
          <p:cNvPr id="49" name="Shape 47"/>
          <p:cNvSpPr/>
          <p:nvPr/>
        </p:nvSpPr>
        <p:spPr>
          <a:xfrm>
            <a:off x="548640" y="3657600"/>
            <a:ext cx="8046720" cy="365760"/>
          </a:xfrm>
          <a:prstGeom prst="rect">
            <a:avLst/>
          </a:prstGeom>
          <a:solidFill>
            <a:srgbClr val="F3F4F6"/>
          </a:solidFill>
          <a:ln/>
        </p:spPr>
        <p:txBody>
          <a:bodyPr/>
          <a:lstStyle/>
          <a:p>
            <a:endParaRPr lang="en-GB"/>
          </a:p>
        </p:txBody>
      </p:sp>
      <p:sp>
        <p:nvSpPr>
          <p:cNvPr id="50" name="Text 48"/>
          <p:cNvSpPr/>
          <p:nvPr/>
        </p:nvSpPr>
        <p:spPr>
          <a:xfrm>
            <a:off x="731520" y="3685032"/>
            <a:ext cx="7680960" cy="320040"/>
          </a:xfrm>
          <a:prstGeom prst="rect">
            <a:avLst/>
          </a:prstGeom>
          <a:noFill/>
          <a:ln/>
        </p:spPr>
        <p:txBody>
          <a:bodyPr wrap="square" lIns="0" tIns="0" rIns="0" bIns="0" rtlCol="0" anchor="ctr"/>
          <a:lstStyle/>
          <a:p>
            <a:pPr marL="0" indent="0">
              <a:buNone/>
            </a:pPr>
            <a:r>
              <a:rPr lang="en-US" sz="900" dirty="0">
                <a:solidFill>
                  <a:srgbClr val="6B7280"/>
                </a:solidFill>
                <a:latin typeface="Calibri Light" pitchFamily="34" charset="0"/>
                <a:ea typeface="Calibri Light" pitchFamily="34" charset="-122"/>
                <a:cs typeface="Calibri Light" pitchFamily="34" charset="-120"/>
              </a:rPr>
              <a:t>Max 5 per post. First 3 primary, 2 rotated secondary. End of post after line break. Track monthly. All posts include #TenderLab.</a:t>
            </a:r>
            <a:endParaRPr lang="en-US" sz="900" dirty="0"/>
          </a:p>
        </p:txBody>
      </p:sp>
      <p:pic>
        <p:nvPicPr>
          <p:cNvPr id="51" name="Image 0" descr="preencoded.png"/>
          <p:cNvPicPr>
            <a:picLocks noChangeAspect="1"/>
          </p:cNvPicPr>
          <p:nvPr/>
        </p:nvPicPr>
        <p:blipFill>
          <a:blip r:embed="rId3"/>
          <a:stretch>
            <a:fillRect/>
          </a:stretch>
        </p:blipFill>
        <p:spPr>
          <a:xfrm>
            <a:off x="0" y="4114800"/>
            <a:ext cx="9144000" cy="102870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32004"/>
          </a:xfrm>
          <a:prstGeom prst="rect">
            <a:avLst/>
          </a:prstGeom>
          <a:solidFill>
            <a:srgbClr val="D4382C"/>
          </a:solidFill>
          <a:ln/>
        </p:spPr>
        <p:txBody>
          <a:bodyPr/>
          <a:lstStyle/>
          <a:p>
            <a:endParaRPr lang="en-GB"/>
          </a:p>
        </p:txBody>
      </p:sp>
      <p:sp>
        <p:nvSpPr>
          <p:cNvPr id="3" name="Text 1"/>
          <p:cNvSpPr/>
          <p:nvPr/>
        </p:nvSpPr>
        <p:spPr>
          <a:xfrm>
            <a:off x="548640" y="1645920"/>
            <a:ext cx="1371600" cy="457200"/>
          </a:xfrm>
          <a:prstGeom prst="rect">
            <a:avLst/>
          </a:prstGeom>
          <a:noFill/>
          <a:ln/>
        </p:spPr>
        <p:txBody>
          <a:bodyPr wrap="square" lIns="0" tIns="0" rIns="0" bIns="0" rtlCol="0" anchor="ctr"/>
          <a:lstStyle/>
          <a:p>
            <a:pPr marL="0" indent="0">
              <a:buNone/>
            </a:pPr>
            <a:r>
              <a:rPr lang="en-US" sz="2200" dirty="0">
                <a:solidFill>
                  <a:srgbClr val="5A7A96"/>
                </a:solidFill>
                <a:latin typeface="Arial" pitchFamily="34" charset="0"/>
                <a:ea typeface="Arial" pitchFamily="34" charset="-122"/>
                <a:cs typeface="Arial" pitchFamily="34" charset="-120"/>
              </a:rPr>
              <a:t>06</a:t>
            </a:r>
            <a:endParaRPr lang="en-US" sz="2200" dirty="0"/>
          </a:p>
        </p:txBody>
      </p:sp>
      <p:sp>
        <p:nvSpPr>
          <p:cNvPr id="4" name="Text 2"/>
          <p:cNvSpPr/>
          <p:nvPr/>
        </p:nvSpPr>
        <p:spPr>
          <a:xfrm>
            <a:off x="548640" y="2103120"/>
            <a:ext cx="7315200" cy="1463040"/>
          </a:xfrm>
          <a:prstGeom prst="rect">
            <a:avLst/>
          </a:prstGeom>
          <a:noFill/>
          <a:ln/>
        </p:spPr>
        <p:txBody>
          <a:bodyPr wrap="square" lIns="0" tIns="0" rIns="0" bIns="0" rtlCol="0" anchor="ctr"/>
          <a:lstStyle/>
          <a:p>
            <a:pPr marL="0" indent="0">
              <a:lnSpc>
                <a:spcPct val="90000"/>
              </a:lnSpc>
              <a:buNone/>
            </a:pPr>
            <a:r>
              <a:rPr lang="en-US" sz="4800" dirty="0">
                <a:solidFill>
                  <a:srgbClr val="FFFFFF"/>
                </a:solidFill>
                <a:latin typeface="Arial Black" pitchFamily="34" charset="0"/>
                <a:ea typeface="Arial Black" pitchFamily="34" charset="-122"/>
                <a:cs typeface="Arial Black" pitchFamily="34" charset="-120"/>
              </a:rPr>
              <a:t>COMPETITIVE</a:t>
            </a:r>
            <a:endParaRPr lang="en-US" sz="4800" dirty="0"/>
          </a:p>
          <a:p>
            <a:pPr marL="0" indent="0">
              <a:lnSpc>
                <a:spcPct val="90000"/>
              </a:lnSpc>
              <a:buNone/>
            </a:pPr>
            <a:r>
              <a:rPr lang="en-US" sz="4800" dirty="0">
                <a:solidFill>
                  <a:srgbClr val="FFFFFF"/>
                </a:solidFill>
                <a:latin typeface="Arial Black" pitchFamily="34" charset="0"/>
                <a:ea typeface="Arial Black" pitchFamily="34" charset="-122"/>
                <a:cs typeface="Arial Black" pitchFamily="34" charset="-120"/>
              </a:rPr>
              <a:t>POSITION</a:t>
            </a:r>
            <a:endParaRPr lang="en-US" sz="4800" dirty="0"/>
          </a:p>
        </p:txBody>
      </p:sp>
      <p:sp>
        <p:nvSpPr>
          <p:cNvPr id="5" name="Shape 3"/>
          <p:cNvSpPr/>
          <p:nvPr/>
        </p:nvSpPr>
        <p:spPr>
          <a:xfrm>
            <a:off x="548640" y="3657600"/>
            <a:ext cx="1828800" cy="0"/>
          </a:xfrm>
          <a:prstGeom prst="line">
            <a:avLst/>
          </a:prstGeom>
          <a:noFill/>
          <a:ln w="38100">
            <a:solidFill>
              <a:srgbClr val="D4382C"/>
            </a:solidFill>
            <a:prstDash val="solid"/>
          </a:ln>
        </p:spPr>
        <p:txBody>
          <a:bodyPr/>
          <a:lstStyle/>
          <a:p>
            <a:endParaRPr lang="en-GB"/>
          </a:p>
        </p:txBody>
      </p:sp>
      <p:pic>
        <p:nvPicPr>
          <p:cNvPr id="6" name="Image 0" descr="preencoded.png"/>
          <p:cNvPicPr>
            <a:picLocks noChangeAspect="1"/>
          </p:cNvPicPr>
          <p:nvPr/>
        </p:nvPicPr>
        <p:blipFill>
          <a:blip r:embed="rId4"/>
          <a:stretch>
            <a:fillRect/>
          </a:stretch>
        </p:blipFill>
        <p:spPr>
          <a:xfrm>
            <a:off x="7772400" y="4114800"/>
            <a:ext cx="731520" cy="731520"/>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32004"/>
          </a:xfrm>
          <a:prstGeom prst="rect">
            <a:avLst/>
          </a:prstGeom>
          <a:solidFill>
            <a:srgbClr val="D4382C"/>
          </a:solidFill>
          <a:ln/>
        </p:spPr>
        <p:txBody>
          <a:bodyPr/>
          <a:lstStyle/>
          <a:p>
            <a:endParaRPr lang="en-GB"/>
          </a:p>
        </p:txBody>
      </p:sp>
      <p:sp>
        <p:nvSpPr>
          <p:cNvPr id="3" name="Text 1"/>
          <p:cNvSpPr/>
          <p:nvPr/>
        </p:nvSpPr>
        <p:spPr>
          <a:xfrm>
            <a:off x="548640" y="274320"/>
            <a:ext cx="4572000" cy="457200"/>
          </a:xfrm>
          <a:prstGeom prst="rect">
            <a:avLst/>
          </a:prstGeom>
          <a:noFill/>
          <a:ln/>
        </p:spPr>
        <p:txBody>
          <a:bodyPr wrap="square" lIns="0" tIns="0" rIns="0" bIns="0" rtlCol="0" anchor="ctr"/>
          <a:lstStyle/>
          <a:p>
            <a:pPr marL="0" indent="0">
              <a:buNone/>
            </a:pPr>
            <a:r>
              <a:rPr lang="en-US" sz="2800" dirty="0">
                <a:solidFill>
                  <a:srgbClr val="192231"/>
                </a:solidFill>
                <a:latin typeface="Arial Black" pitchFamily="34" charset="0"/>
                <a:ea typeface="Arial Black" pitchFamily="34" charset="-122"/>
                <a:cs typeface="Arial Black" pitchFamily="34" charset="-120"/>
              </a:rPr>
              <a:t>Competitive Landscape</a:t>
            </a:r>
            <a:endParaRPr lang="en-US" sz="2800" dirty="0"/>
          </a:p>
        </p:txBody>
      </p:sp>
      <p:pic>
        <p:nvPicPr>
          <p:cNvPr id="4" name="Image 0" descr="preencoded.png"/>
          <p:cNvPicPr>
            <a:picLocks noChangeAspect="1"/>
          </p:cNvPicPr>
          <p:nvPr/>
        </p:nvPicPr>
        <p:blipFill>
          <a:blip r:embed="rId3"/>
          <a:stretch>
            <a:fillRect/>
          </a:stretch>
        </p:blipFill>
        <p:spPr>
          <a:xfrm>
            <a:off x="4754880" y="274320"/>
            <a:ext cx="4023360" cy="2560320"/>
          </a:xfrm>
          <a:prstGeom prst="rect">
            <a:avLst/>
          </a:prstGeom>
        </p:spPr>
      </p:pic>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548640" y="822960"/>
          <a:ext cx="4023360" cy="2194560"/>
        </p:xfrm>
        <a:graphic>
          <a:graphicData uri="http://schemas.openxmlformats.org/drawingml/2006/table">
            <a:tbl>
              <a:tblPr/>
              <a:tblGrid>
                <a:gridCol w="100584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2103120">
                  <a:extLst>
                    <a:ext uri="{9D8B030D-6E8A-4147-A177-3AD203B41FA5}">
                      <a16:colId xmlns:a16="http://schemas.microsoft.com/office/drawing/2014/main" val="20002"/>
                    </a:ext>
                  </a:extLst>
                </a:gridCol>
              </a:tblGrid>
              <a:tr h="219456">
                <a:tc>
                  <a:txBody>
                    <a:bodyPr/>
                    <a:lstStyle/>
                    <a:p>
                      <a:pPr marL="0" indent="0">
                        <a:buNone/>
                      </a:pPr>
                      <a:r>
                        <a:rPr lang="en-US" sz="850" b="1" dirty="0">
                          <a:solidFill>
                            <a:srgbClr val="FFFFFF"/>
                          </a:solidFill>
                          <a:latin typeface="Calibri" pitchFamily="34" charset="0"/>
                          <a:ea typeface="Calibri" pitchFamily="34" charset="-122"/>
                          <a:cs typeface="Calibri" pitchFamily="34" charset="-120"/>
                        </a:rPr>
                        <a:t>Competitor</a:t>
                      </a:r>
                      <a:endParaRPr lang="en-US" sz="850" dirty="0">
                        <a:latin typeface="Calibri" charset="0"/>
                        <a:ea typeface="Calibri" charset="0"/>
                        <a:cs typeface="Calibri" charset="0"/>
                      </a:endParaRPr>
                    </a:p>
                  </a:txBody>
                  <a:tcPr marL="50800" marR="50800" marT="25400" marB="2540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92231"/>
                    </a:solidFill>
                  </a:tcPr>
                </a:tc>
                <a:tc>
                  <a:txBody>
                    <a:bodyPr/>
                    <a:lstStyle/>
                    <a:p>
                      <a:pPr marL="0" indent="0">
                        <a:buNone/>
                      </a:pPr>
                      <a:r>
                        <a:rPr lang="en-US" sz="850" b="1" dirty="0">
                          <a:solidFill>
                            <a:srgbClr val="FFFFFF"/>
                          </a:solidFill>
                          <a:latin typeface="Calibri" pitchFamily="34" charset="0"/>
                          <a:ea typeface="Calibri" pitchFamily="34" charset="-122"/>
                          <a:cs typeface="Calibri" pitchFamily="34" charset="-120"/>
                        </a:rPr>
                        <a:t>Focus</a:t>
                      </a:r>
                      <a:endParaRPr lang="en-US" sz="850" dirty="0">
                        <a:latin typeface="Calibri" charset="0"/>
                        <a:ea typeface="Calibri" charset="0"/>
                        <a:cs typeface="Calibri" charset="0"/>
                      </a:endParaRPr>
                    </a:p>
                  </a:txBody>
                  <a:tcPr marL="50800" marR="50800" marT="25400" marB="2540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92231"/>
                    </a:solidFill>
                  </a:tcPr>
                </a:tc>
                <a:tc>
                  <a:txBody>
                    <a:bodyPr/>
                    <a:lstStyle/>
                    <a:p>
                      <a:pPr marL="0" indent="0">
                        <a:buNone/>
                      </a:pPr>
                      <a:r>
                        <a:rPr lang="en-US" sz="850" b="1" dirty="0">
                          <a:solidFill>
                            <a:srgbClr val="FFFFFF"/>
                          </a:solidFill>
                          <a:latin typeface="Calibri" pitchFamily="34" charset="0"/>
                          <a:ea typeface="Calibri" pitchFamily="34" charset="-122"/>
                          <a:cs typeface="Calibri" pitchFamily="34" charset="-120"/>
                        </a:rPr>
                        <a:t>Gap vs TenderLab</a:t>
                      </a:r>
                      <a:endParaRPr lang="en-US" sz="850" dirty="0">
                        <a:latin typeface="Calibri" charset="0"/>
                        <a:ea typeface="Calibri" charset="0"/>
                        <a:cs typeface="Calibri" charset="0"/>
                      </a:endParaRPr>
                    </a:p>
                  </a:txBody>
                  <a:tcPr marL="50800" marR="50800" marT="25400" marB="2540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92231"/>
                    </a:solidFill>
                  </a:tcPr>
                </a:tc>
                <a:extLst>
                  <a:ext uri="{0D108BD9-81ED-4DB2-BD59-A6C34878D82A}">
                    <a16:rowId xmlns:a16="http://schemas.microsoft.com/office/drawing/2014/main" val="10000"/>
                  </a:ext>
                </a:extLst>
              </a:tr>
              <a:tr h="219456">
                <a:tc>
                  <a:txBody>
                    <a:bodyPr/>
                    <a:lstStyle/>
                    <a:p>
                      <a:pPr marL="0" indent="0">
                        <a:buNone/>
                      </a:pPr>
                      <a:r>
                        <a:rPr lang="en-US" sz="800" b="1" dirty="0">
                          <a:solidFill>
                            <a:srgbClr val="192231"/>
                          </a:solidFill>
                          <a:latin typeface="Calibri Light" pitchFamily="34" charset="0"/>
                          <a:ea typeface="Calibri Light" pitchFamily="34" charset="-122"/>
                          <a:cs typeface="Calibri Light" pitchFamily="34" charset="-120"/>
                        </a:rPr>
                        <a:t>BFT Consult</a:t>
                      </a:r>
                      <a:endParaRPr lang="en-US" sz="800" dirty="0">
                        <a:latin typeface="Calibri Light" charset="0"/>
                        <a:ea typeface="Calibri Light" charset="0"/>
                        <a:cs typeface="Calibri Light" charset="0"/>
                      </a:endParaRPr>
                    </a:p>
                  </a:txBody>
                  <a:tcPr marL="50800" marR="50800" marT="25400" marB="2540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buNone/>
                      </a:pPr>
                      <a:r>
                        <a:rPr lang="en-US" sz="800" dirty="0">
                          <a:solidFill>
                            <a:srgbClr val="6B7280"/>
                          </a:solidFill>
                          <a:latin typeface="Calibri Light" pitchFamily="34" charset="0"/>
                          <a:ea typeface="Calibri Light" pitchFamily="34" charset="-122"/>
                          <a:cs typeface="Calibri Light" pitchFamily="34" charset="-120"/>
                        </a:rPr>
                        <a:t>H&amp;SC, est. 2014</a:t>
                      </a:r>
                      <a:endParaRPr lang="en-US" sz="800" dirty="0">
                        <a:latin typeface="Calibri Light" charset="0"/>
                        <a:ea typeface="Calibri Light" charset="0"/>
                        <a:cs typeface="Calibri Light" charset="0"/>
                      </a:endParaRPr>
                    </a:p>
                  </a:txBody>
                  <a:tcPr marL="50800" marR="50800" marT="25400" marB="2540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buNone/>
                      </a:pPr>
                      <a:r>
                        <a:rPr lang="en-US" sz="800" dirty="0">
                          <a:solidFill>
                            <a:srgbClr val="6B7280"/>
                          </a:solidFill>
                          <a:latin typeface="Calibri Light" pitchFamily="34" charset="0"/>
                          <a:ea typeface="Calibri Light" pitchFamily="34" charset="-122"/>
                          <a:cs typeface="Calibri Light" pitchFamily="34" charset="-120"/>
                        </a:rPr>
                        <a:t>No structured scoring</a:t>
                      </a:r>
                      <a:endParaRPr lang="en-US" sz="800" dirty="0">
                        <a:latin typeface="Calibri Light" charset="0"/>
                        <a:ea typeface="Calibri Light" charset="0"/>
                        <a:cs typeface="Calibri Light" charset="0"/>
                      </a:endParaRPr>
                    </a:p>
                  </a:txBody>
                  <a:tcPr marL="50800" marR="50800" marT="25400" marB="2540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19456">
                <a:tc>
                  <a:txBody>
                    <a:bodyPr/>
                    <a:lstStyle/>
                    <a:p>
                      <a:pPr marL="0" indent="0">
                        <a:buNone/>
                      </a:pPr>
                      <a:r>
                        <a:rPr lang="en-US" sz="800" b="1" dirty="0">
                          <a:solidFill>
                            <a:srgbClr val="192231"/>
                          </a:solidFill>
                          <a:latin typeface="Calibri Light" pitchFamily="34" charset="0"/>
                          <a:ea typeface="Calibri Light" pitchFamily="34" charset="-122"/>
                          <a:cs typeface="Calibri Light" pitchFamily="34" charset="-120"/>
                        </a:rPr>
                        <a:t>Executive Compass</a:t>
                      </a:r>
                      <a:endParaRPr lang="en-US" sz="800" dirty="0">
                        <a:latin typeface="Calibri Light" charset="0"/>
                        <a:ea typeface="Calibri Light" charset="0"/>
                        <a:cs typeface="Calibri Light" charset="0"/>
                      </a:endParaRPr>
                    </a:p>
                  </a:txBody>
                  <a:tcPr marL="50800" marR="50800" marT="25400" marB="2540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buNone/>
                      </a:pPr>
                      <a:r>
                        <a:rPr lang="en-US" sz="800" dirty="0">
                          <a:solidFill>
                            <a:srgbClr val="6B7280"/>
                          </a:solidFill>
                          <a:latin typeface="Calibri Light" pitchFamily="34" charset="0"/>
                          <a:ea typeface="Calibri Light" pitchFamily="34" charset="-122"/>
                          <a:cs typeface="Calibri Light" pitchFamily="34" charset="-120"/>
                        </a:rPr>
                        <a:t>Multi-sector</a:t>
                      </a:r>
                      <a:endParaRPr lang="en-US" sz="800" dirty="0">
                        <a:latin typeface="Calibri Light" charset="0"/>
                        <a:ea typeface="Calibri Light" charset="0"/>
                        <a:cs typeface="Calibri Light" charset="0"/>
                      </a:endParaRPr>
                    </a:p>
                  </a:txBody>
                  <a:tcPr marL="50800" marR="50800" marT="25400" marB="2540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buNone/>
                      </a:pPr>
                      <a:r>
                        <a:rPr lang="en-US" sz="800" dirty="0">
                          <a:solidFill>
                            <a:srgbClr val="6B7280"/>
                          </a:solidFill>
                          <a:latin typeface="Calibri Light" pitchFamily="34" charset="0"/>
                          <a:ea typeface="Calibri Light" pitchFamily="34" charset="-122"/>
                          <a:cs typeface="Calibri Light" pitchFamily="34" charset="-120"/>
                        </a:rPr>
                        <a:t>Breadth dilutes depth</a:t>
                      </a:r>
                      <a:endParaRPr lang="en-US" sz="800" dirty="0">
                        <a:latin typeface="Calibri Light" charset="0"/>
                        <a:ea typeface="Calibri Light" charset="0"/>
                        <a:cs typeface="Calibri Light" charset="0"/>
                      </a:endParaRPr>
                    </a:p>
                  </a:txBody>
                  <a:tcPr marL="50800" marR="50800" marT="25400" marB="2540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19456">
                <a:tc>
                  <a:txBody>
                    <a:bodyPr/>
                    <a:lstStyle/>
                    <a:p>
                      <a:pPr marL="0" indent="0">
                        <a:buNone/>
                      </a:pPr>
                      <a:r>
                        <a:rPr lang="en-US" sz="800" b="1" dirty="0">
                          <a:solidFill>
                            <a:srgbClr val="192231"/>
                          </a:solidFill>
                          <a:latin typeface="Calibri Light" pitchFamily="34" charset="0"/>
                          <a:ea typeface="Calibri Light" pitchFamily="34" charset="-122"/>
                          <a:cs typeface="Calibri Light" pitchFamily="34" charset="-120"/>
                        </a:rPr>
                        <a:t>Insequa</a:t>
                      </a:r>
                      <a:endParaRPr lang="en-US" sz="800" dirty="0">
                        <a:latin typeface="Calibri Light" charset="0"/>
                        <a:ea typeface="Calibri Light" charset="0"/>
                        <a:cs typeface="Calibri Light" charset="0"/>
                      </a:endParaRPr>
                    </a:p>
                  </a:txBody>
                  <a:tcPr marL="50800" marR="50800" marT="25400" marB="2540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buNone/>
                      </a:pPr>
                      <a:r>
                        <a:rPr lang="en-US" sz="800" dirty="0">
                          <a:solidFill>
                            <a:srgbClr val="6B7280"/>
                          </a:solidFill>
                          <a:latin typeface="Calibri Light" pitchFamily="34" charset="0"/>
                          <a:ea typeface="Calibri Light" pitchFamily="34" charset="-122"/>
                          <a:cs typeface="Calibri Light" pitchFamily="34" charset="-120"/>
                        </a:rPr>
                        <a:t>Social care, 13+ yrs</a:t>
                      </a:r>
                      <a:endParaRPr lang="en-US" sz="800" dirty="0">
                        <a:latin typeface="Calibri Light" charset="0"/>
                        <a:ea typeface="Calibri Light" charset="0"/>
                        <a:cs typeface="Calibri Light" charset="0"/>
                      </a:endParaRPr>
                    </a:p>
                  </a:txBody>
                  <a:tcPr marL="50800" marR="50800" marT="25400" marB="2540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buNone/>
                      </a:pPr>
                      <a:r>
                        <a:rPr lang="en-US" sz="800" dirty="0">
                          <a:solidFill>
                            <a:srgbClr val="6B7280"/>
                          </a:solidFill>
                          <a:latin typeface="Calibri Light" pitchFamily="34" charset="0"/>
                          <a:ea typeface="Calibri Light" pitchFamily="34" charset="-122"/>
                          <a:cs typeface="Calibri Light" pitchFamily="34" charset="-120"/>
                        </a:rPr>
                        <a:t>Closest; higher volume</a:t>
                      </a:r>
                      <a:endParaRPr lang="en-US" sz="800" dirty="0">
                        <a:latin typeface="Calibri Light" charset="0"/>
                        <a:ea typeface="Calibri Light" charset="0"/>
                        <a:cs typeface="Calibri Light" charset="0"/>
                      </a:endParaRPr>
                    </a:p>
                  </a:txBody>
                  <a:tcPr marL="50800" marR="50800" marT="25400" marB="2540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19456">
                <a:tc>
                  <a:txBody>
                    <a:bodyPr/>
                    <a:lstStyle/>
                    <a:p>
                      <a:pPr marL="0" indent="0">
                        <a:buNone/>
                      </a:pPr>
                      <a:r>
                        <a:rPr lang="en-US" sz="800" b="1" dirty="0">
                          <a:solidFill>
                            <a:srgbClr val="192231"/>
                          </a:solidFill>
                          <a:latin typeface="Calibri Light" pitchFamily="34" charset="0"/>
                          <a:ea typeface="Calibri Light" pitchFamily="34" charset="-122"/>
                          <a:cs typeface="Calibri Light" pitchFamily="34" charset="-120"/>
                        </a:rPr>
                        <a:t>DKJ Support</a:t>
                      </a:r>
                      <a:endParaRPr lang="en-US" sz="800" dirty="0">
                        <a:latin typeface="Calibri Light" charset="0"/>
                        <a:ea typeface="Calibri Light" charset="0"/>
                        <a:cs typeface="Calibri Light" charset="0"/>
                      </a:endParaRPr>
                    </a:p>
                  </a:txBody>
                  <a:tcPr marL="50800" marR="50800" marT="25400" marB="2540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buNone/>
                      </a:pPr>
                      <a:r>
                        <a:rPr lang="en-US" sz="800" dirty="0">
                          <a:solidFill>
                            <a:srgbClr val="6B7280"/>
                          </a:solidFill>
                          <a:latin typeface="Calibri Light" pitchFamily="34" charset="0"/>
                          <a:ea typeface="Calibri Light" pitchFamily="34" charset="-122"/>
                          <a:cs typeface="Calibri Light" pitchFamily="34" charset="-120"/>
                        </a:rPr>
                        <a:t>Healthcare bids</a:t>
                      </a:r>
                      <a:endParaRPr lang="en-US" sz="800" dirty="0">
                        <a:latin typeface="Calibri Light" charset="0"/>
                        <a:ea typeface="Calibri Light" charset="0"/>
                        <a:cs typeface="Calibri Light" charset="0"/>
                      </a:endParaRPr>
                    </a:p>
                  </a:txBody>
                  <a:tcPr marL="50800" marR="50800" marT="25400" marB="2540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buNone/>
                      </a:pPr>
                      <a:r>
                        <a:rPr lang="en-US" sz="800" dirty="0">
                          <a:solidFill>
                            <a:srgbClr val="6B7280"/>
                          </a:solidFill>
                          <a:latin typeface="Calibri Light" pitchFamily="34" charset="0"/>
                          <a:ea typeface="Calibri Light" pitchFamily="34" charset="-122"/>
                          <a:cs typeface="Calibri Light" pitchFamily="34" charset="-120"/>
                        </a:rPr>
                        <a:t>NHS-weighted; less LA</a:t>
                      </a:r>
                      <a:endParaRPr lang="en-US" sz="800" dirty="0">
                        <a:latin typeface="Calibri Light" charset="0"/>
                        <a:ea typeface="Calibri Light" charset="0"/>
                        <a:cs typeface="Calibri Light" charset="0"/>
                      </a:endParaRPr>
                    </a:p>
                  </a:txBody>
                  <a:tcPr marL="50800" marR="50800" marT="25400" marB="2540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219456">
                <a:tc>
                  <a:txBody>
                    <a:bodyPr/>
                    <a:lstStyle/>
                    <a:p>
                      <a:pPr marL="0" indent="0">
                        <a:buNone/>
                      </a:pPr>
                      <a:r>
                        <a:rPr lang="en-US" sz="800" b="1" dirty="0">
                          <a:solidFill>
                            <a:srgbClr val="192231"/>
                          </a:solidFill>
                          <a:latin typeface="Calibri Light" pitchFamily="34" charset="0"/>
                          <a:ea typeface="Calibri Light" pitchFamily="34" charset="-122"/>
                          <a:cs typeface="Calibri Light" pitchFamily="34" charset="-120"/>
                        </a:rPr>
                        <a:t>AssuredBID</a:t>
                      </a:r>
                      <a:endParaRPr lang="en-US" sz="800" dirty="0">
                        <a:latin typeface="Calibri Light" charset="0"/>
                        <a:ea typeface="Calibri Light" charset="0"/>
                        <a:cs typeface="Calibri Light" charset="0"/>
                      </a:endParaRPr>
                    </a:p>
                  </a:txBody>
                  <a:tcPr marL="50800" marR="50800" marT="25400" marB="2540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buNone/>
                      </a:pPr>
                      <a:r>
                        <a:rPr lang="en-US" sz="800" dirty="0">
                          <a:solidFill>
                            <a:srgbClr val="6B7280"/>
                          </a:solidFill>
                          <a:latin typeface="Calibri Light" pitchFamily="34" charset="0"/>
                          <a:ea typeface="Calibri Light" pitchFamily="34" charset="-122"/>
                          <a:cs typeface="Calibri Light" pitchFamily="34" charset="-120"/>
                        </a:rPr>
                        <a:t>H&amp;SC, 5+ yrs</a:t>
                      </a:r>
                      <a:endParaRPr lang="en-US" sz="800" dirty="0">
                        <a:latin typeface="Calibri Light" charset="0"/>
                        <a:ea typeface="Calibri Light" charset="0"/>
                        <a:cs typeface="Calibri Light" charset="0"/>
                      </a:endParaRPr>
                    </a:p>
                  </a:txBody>
                  <a:tcPr marL="50800" marR="50800" marT="25400" marB="2540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buNone/>
                      </a:pPr>
                      <a:r>
                        <a:rPr lang="en-US" sz="800" dirty="0">
                          <a:solidFill>
                            <a:srgbClr val="6B7280"/>
                          </a:solidFill>
                          <a:latin typeface="Calibri Light" pitchFamily="34" charset="0"/>
                          <a:ea typeface="Calibri Light" pitchFamily="34" charset="-122"/>
                          <a:cs typeface="Calibri Light" pitchFamily="34" charset="-120"/>
                        </a:rPr>
                        <a:t>No evaluation framework</a:t>
                      </a:r>
                      <a:endParaRPr lang="en-US" sz="800" dirty="0">
                        <a:latin typeface="Calibri Light" charset="0"/>
                        <a:ea typeface="Calibri Light" charset="0"/>
                        <a:cs typeface="Calibri Light" charset="0"/>
                      </a:endParaRPr>
                    </a:p>
                  </a:txBody>
                  <a:tcPr marL="50800" marR="50800" marT="25400" marB="2540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19456">
                <a:tc>
                  <a:txBody>
                    <a:bodyPr/>
                    <a:lstStyle/>
                    <a:p>
                      <a:pPr marL="0" indent="0">
                        <a:buNone/>
                      </a:pPr>
                      <a:r>
                        <a:rPr lang="en-US" sz="800" b="1" dirty="0">
                          <a:solidFill>
                            <a:srgbClr val="192231"/>
                          </a:solidFill>
                          <a:latin typeface="Calibri Light" pitchFamily="34" charset="0"/>
                          <a:ea typeface="Calibri Light" pitchFamily="34" charset="-122"/>
                          <a:cs typeface="Calibri Light" pitchFamily="34" charset="-120"/>
                        </a:rPr>
                        <a:t>Tsaks</a:t>
                      </a:r>
                      <a:endParaRPr lang="en-US" sz="800" dirty="0">
                        <a:latin typeface="Calibri Light" charset="0"/>
                        <a:ea typeface="Calibri Light" charset="0"/>
                        <a:cs typeface="Calibri Light" charset="0"/>
                      </a:endParaRPr>
                    </a:p>
                  </a:txBody>
                  <a:tcPr marL="50800" marR="50800" marT="25400" marB="2540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buNone/>
                      </a:pPr>
                      <a:r>
                        <a:rPr lang="en-US" sz="800" dirty="0">
                          <a:solidFill>
                            <a:srgbClr val="6B7280"/>
                          </a:solidFill>
                          <a:latin typeface="Calibri Light" pitchFamily="34" charset="0"/>
                          <a:ea typeface="Calibri Light" pitchFamily="34" charset="-122"/>
                          <a:cs typeface="Calibri Light" pitchFamily="34" charset="-120"/>
                        </a:rPr>
                        <a:t>Multi-sector</a:t>
                      </a:r>
                      <a:endParaRPr lang="en-US" sz="800" dirty="0">
                        <a:latin typeface="Calibri Light" charset="0"/>
                        <a:ea typeface="Calibri Light" charset="0"/>
                        <a:cs typeface="Calibri Light" charset="0"/>
                      </a:endParaRPr>
                    </a:p>
                  </a:txBody>
                  <a:tcPr marL="50800" marR="50800" marT="25400" marB="2540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buNone/>
                      </a:pPr>
                      <a:r>
                        <a:rPr lang="en-US" sz="800" dirty="0">
                          <a:solidFill>
                            <a:srgbClr val="6B7280"/>
                          </a:solidFill>
                          <a:latin typeface="Calibri Light" pitchFamily="34" charset="0"/>
                          <a:ea typeface="Calibri Light" pitchFamily="34" charset="-122"/>
                          <a:cs typeface="Calibri Light" pitchFamily="34" charset="-120"/>
                        </a:rPr>
                        <a:t>H&amp;SC one vertical</a:t>
                      </a:r>
                      <a:endParaRPr lang="en-US" sz="800" dirty="0">
                        <a:latin typeface="Calibri Light" charset="0"/>
                        <a:ea typeface="Calibri Light" charset="0"/>
                        <a:cs typeface="Calibri Light" charset="0"/>
                      </a:endParaRPr>
                    </a:p>
                  </a:txBody>
                  <a:tcPr marL="50800" marR="50800" marT="25400" marB="2540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219456">
                <a:tc>
                  <a:txBody>
                    <a:bodyPr/>
                    <a:lstStyle/>
                    <a:p>
                      <a:pPr marL="0" indent="0">
                        <a:buNone/>
                      </a:pPr>
                      <a:r>
                        <a:rPr lang="en-US" sz="800" b="1" dirty="0">
                          <a:solidFill>
                            <a:srgbClr val="192231"/>
                          </a:solidFill>
                          <a:latin typeface="Calibri Light" pitchFamily="34" charset="0"/>
                          <a:ea typeface="Calibri Light" pitchFamily="34" charset="-122"/>
                          <a:cs typeface="Calibri Light" pitchFamily="34" charset="-120"/>
                        </a:rPr>
                        <a:t>HC Tendering</a:t>
                      </a:r>
                      <a:endParaRPr lang="en-US" sz="800" dirty="0">
                        <a:latin typeface="Calibri Light" charset="0"/>
                        <a:ea typeface="Calibri Light" charset="0"/>
                        <a:cs typeface="Calibri Light" charset="0"/>
                      </a:endParaRPr>
                    </a:p>
                  </a:txBody>
                  <a:tcPr marL="50800" marR="50800" marT="25400" marB="2540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buNone/>
                      </a:pPr>
                      <a:r>
                        <a:rPr lang="en-US" sz="800" dirty="0">
                          <a:solidFill>
                            <a:srgbClr val="6B7280"/>
                          </a:solidFill>
                          <a:latin typeface="Calibri Light" pitchFamily="34" charset="0"/>
                          <a:ea typeface="Calibri Light" pitchFamily="34" charset="-122"/>
                          <a:cs typeface="Calibri Light" pitchFamily="34" charset="-120"/>
                        </a:rPr>
                        <a:t>H&amp;SC bids</a:t>
                      </a:r>
                      <a:endParaRPr lang="en-US" sz="800" dirty="0">
                        <a:latin typeface="Calibri Light" charset="0"/>
                        <a:ea typeface="Calibri Light" charset="0"/>
                        <a:cs typeface="Calibri Light" charset="0"/>
                      </a:endParaRPr>
                    </a:p>
                  </a:txBody>
                  <a:tcPr marL="50800" marR="50800" marT="25400" marB="2540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buNone/>
                      </a:pPr>
                      <a:r>
                        <a:rPr lang="en-US" sz="800" dirty="0">
                          <a:solidFill>
                            <a:srgbClr val="6B7280"/>
                          </a:solidFill>
                          <a:latin typeface="Calibri Light" pitchFamily="34" charset="0"/>
                          <a:ea typeface="Calibri Light" pitchFamily="34" charset="-122"/>
                          <a:cs typeface="Calibri Light" pitchFamily="34" charset="-120"/>
                        </a:rPr>
                        <a:t>Portal product alongside</a:t>
                      </a:r>
                      <a:endParaRPr lang="en-US" sz="800" dirty="0">
                        <a:latin typeface="Calibri Light" charset="0"/>
                        <a:ea typeface="Calibri Light" charset="0"/>
                        <a:cs typeface="Calibri Light" charset="0"/>
                      </a:endParaRPr>
                    </a:p>
                  </a:txBody>
                  <a:tcPr marL="50800" marR="50800" marT="25400" marB="2540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219456">
                <a:tc>
                  <a:txBody>
                    <a:bodyPr/>
                    <a:lstStyle/>
                    <a:p>
                      <a:pPr marL="0" indent="0">
                        <a:buNone/>
                      </a:pPr>
                      <a:r>
                        <a:rPr lang="en-US" sz="800" b="1" dirty="0">
                          <a:solidFill>
                            <a:srgbClr val="192231"/>
                          </a:solidFill>
                          <a:latin typeface="Calibri Light" pitchFamily="34" charset="0"/>
                          <a:ea typeface="Calibri Light" pitchFamily="34" charset="-122"/>
                          <a:cs typeface="Calibri Light" pitchFamily="34" charset="-120"/>
                        </a:rPr>
                        <a:t>Your Tender Team</a:t>
                      </a:r>
                      <a:endParaRPr lang="en-US" sz="800" dirty="0">
                        <a:latin typeface="Calibri Light" charset="0"/>
                        <a:ea typeface="Calibri Light" charset="0"/>
                        <a:cs typeface="Calibri Light" charset="0"/>
                      </a:endParaRPr>
                    </a:p>
                  </a:txBody>
                  <a:tcPr marL="50800" marR="50800" marT="25400" marB="2540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buNone/>
                      </a:pPr>
                      <a:r>
                        <a:rPr lang="en-US" sz="800" dirty="0">
                          <a:solidFill>
                            <a:srgbClr val="6B7280"/>
                          </a:solidFill>
                          <a:latin typeface="Calibri Light" pitchFamily="34" charset="0"/>
                          <a:ea typeface="Calibri Light" pitchFamily="34" charset="-122"/>
                          <a:cs typeface="Calibri Light" pitchFamily="34" charset="-120"/>
                        </a:rPr>
                        <a:t>H&amp;SC</a:t>
                      </a:r>
                      <a:endParaRPr lang="en-US" sz="800" dirty="0">
                        <a:latin typeface="Calibri Light" charset="0"/>
                        <a:ea typeface="Calibri Light" charset="0"/>
                        <a:cs typeface="Calibri Light" charset="0"/>
                      </a:endParaRPr>
                    </a:p>
                  </a:txBody>
                  <a:tcPr marL="50800" marR="50800" marT="25400" marB="2540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buNone/>
                      </a:pPr>
                      <a:r>
                        <a:rPr lang="en-US" sz="800" dirty="0">
                          <a:solidFill>
                            <a:srgbClr val="6B7280"/>
                          </a:solidFill>
                          <a:latin typeface="Calibri Light" pitchFamily="34" charset="0"/>
                          <a:ea typeface="Calibri Light" pitchFamily="34" charset="-122"/>
                          <a:cs typeface="Calibri Light" pitchFamily="34" charset="-120"/>
                        </a:rPr>
                        <a:t>No methodology gap</a:t>
                      </a:r>
                      <a:endParaRPr lang="en-US" sz="800" dirty="0">
                        <a:latin typeface="Calibri Light" charset="0"/>
                        <a:ea typeface="Calibri Light" charset="0"/>
                        <a:cs typeface="Calibri Light" charset="0"/>
                      </a:endParaRPr>
                    </a:p>
                  </a:txBody>
                  <a:tcPr marL="50800" marR="50800" marT="25400" marB="2540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219456">
                <a:tc>
                  <a:txBody>
                    <a:bodyPr/>
                    <a:lstStyle/>
                    <a:p>
                      <a:pPr marL="0" indent="0">
                        <a:buNone/>
                      </a:pPr>
                      <a:r>
                        <a:rPr lang="en-US" sz="800" b="1" dirty="0">
                          <a:solidFill>
                            <a:srgbClr val="192231"/>
                          </a:solidFill>
                          <a:latin typeface="Calibri Light" pitchFamily="34" charset="0"/>
                          <a:ea typeface="Calibri Light" pitchFamily="34" charset="-122"/>
                          <a:cs typeface="Calibri Light" pitchFamily="34" charset="-120"/>
                        </a:rPr>
                        <a:t>Care Agency Media</a:t>
                      </a:r>
                      <a:endParaRPr lang="en-US" sz="800" dirty="0">
                        <a:latin typeface="Calibri Light" charset="0"/>
                        <a:ea typeface="Calibri Light" charset="0"/>
                        <a:cs typeface="Calibri Light" charset="0"/>
                      </a:endParaRPr>
                    </a:p>
                  </a:txBody>
                  <a:tcPr marL="50800" marR="50800" marT="25400" marB="2540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buNone/>
                      </a:pPr>
                      <a:r>
                        <a:rPr lang="en-US" sz="800" dirty="0">
                          <a:solidFill>
                            <a:srgbClr val="6B7280"/>
                          </a:solidFill>
                          <a:latin typeface="Calibri Light" pitchFamily="34" charset="0"/>
                          <a:ea typeface="Calibri Light" pitchFamily="34" charset="-122"/>
                          <a:cs typeface="Calibri Light" pitchFamily="34" charset="-120"/>
                        </a:rPr>
                        <a:t>H&amp;SC + marketing</a:t>
                      </a:r>
                      <a:endParaRPr lang="en-US" sz="800" dirty="0">
                        <a:latin typeface="Calibri Light" charset="0"/>
                        <a:ea typeface="Calibri Light" charset="0"/>
                        <a:cs typeface="Calibri Light" charset="0"/>
                      </a:endParaRPr>
                    </a:p>
                  </a:txBody>
                  <a:tcPr marL="50800" marR="50800" marT="25400" marB="2540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buNone/>
                      </a:pPr>
                      <a:r>
                        <a:rPr lang="en-US" sz="800" dirty="0">
                          <a:solidFill>
                            <a:srgbClr val="6B7280"/>
                          </a:solidFill>
                          <a:latin typeface="Calibri Light" pitchFamily="34" charset="0"/>
                          <a:ea typeface="Calibri Light" pitchFamily="34" charset="-122"/>
                          <a:cs typeface="Calibri Light" pitchFamily="34" charset="-120"/>
                        </a:rPr>
                        <a:t>Marketing-first</a:t>
                      </a:r>
                      <a:endParaRPr lang="en-US" sz="800" dirty="0">
                        <a:latin typeface="Calibri Light" charset="0"/>
                        <a:ea typeface="Calibri Light" charset="0"/>
                        <a:cs typeface="Calibri Light" charset="0"/>
                      </a:endParaRPr>
                    </a:p>
                  </a:txBody>
                  <a:tcPr marL="50800" marR="50800" marT="25400" marB="2540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bl>
          </a:graphicData>
        </a:graphic>
      </p:graphicFrame>
      <p:sp>
        <p:nvSpPr>
          <p:cNvPr id="6" name="Shape 2"/>
          <p:cNvSpPr/>
          <p:nvPr/>
        </p:nvSpPr>
        <p:spPr>
          <a:xfrm>
            <a:off x="548640" y="3108960"/>
            <a:ext cx="8046720" cy="1005840"/>
          </a:xfrm>
          <a:prstGeom prst="rect">
            <a:avLst/>
          </a:prstGeom>
          <a:solidFill>
            <a:srgbClr val="F3F4F6"/>
          </a:solidFill>
          <a:ln/>
        </p:spPr>
        <p:txBody>
          <a:bodyPr/>
          <a:lstStyle/>
          <a:p>
            <a:endParaRPr lang="en-GB"/>
          </a:p>
        </p:txBody>
      </p:sp>
      <p:sp>
        <p:nvSpPr>
          <p:cNvPr id="7" name="Shape 3"/>
          <p:cNvSpPr/>
          <p:nvPr/>
        </p:nvSpPr>
        <p:spPr>
          <a:xfrm>
            <a:off x="548640" y="3108960"/>
            <a:ext cx="45720" cy="1005840"/>
          </a:xfrm>
          <a:prstGeom prst="rect">
            <a:avLst/>
          </a:prstGeom>
          <a:solidFill>
            <a:srgbClr val="D4382C"/>
          </a:solidFill>
          <a:ln/>
        </p:spPr>
        <p:txBody>
          <a:bodyPr/>
          <a:lstStyle/>
          <a:p>
            <a:endParaRPr lang="en-GB"/>
          </a:p>
        </p:txBody>
      </p:sp>
      <p:sp>
        <p:nvSpPr>
          <p:cNvPr id="8" name="Text 4"/>
          <p:cNvSpPr/>
          <p:nvPr/>
        </p:nvSpPr>
        <p:spPr>
          <a:xfrm>
            <a:off x="777240" y="3154680"/>
            <a:ext cx="2743200" cy="228600"/>
          </a:xfrm>
          <a:prstGeom prst="rect">
            <a:avLst/>
          </a:prstGeom>
          <a:noFill/>
          <a:ln/>
        </p:spPr>
        <p:txBody>
          <a:bodyPr wrap="square" lIns="0" tIns="0" rIns="0" bIns="0" rtlCol="0" anchor="ctr"/>
          <a:lstStyle/>
          <a:p>
            <a:pPr marL="0" indent="0">
              <a:buNone/>
            </a:pPr>
            <a:r>
              <a:rPr lang="en-US" sz="1200" b="1" dirty="0">
                <a:solidFill>
                  <a:srgbClr val="192231"/>
                </a:solidFill>
                <a:latin typeface="Calibri" pitchFamily="34" charset="0"/>
                <a:ea typeface="Calibri" pitchFamily="34" charset="-122"/>
                <a:cs typeface="Calibri" pitchFamily="34" charset="-120"/>
              </a:rPr>
              <a:t>Our Position</a:t>
            </a:r>
            <a:endParaRPr lang="en-US" sz="1200" dirty="0"/>
          </a:p>
        </p:txBody>
      </p:sp>
      <p:sp>
        <p:nvSpPr>
          <p:cNvPr id="9" name="Text 5"/>
          <p:cNvSpPr/>
          <p:nvPr/>
        </p:nvSpPr>
        <p:spPr>
          <a:xfrm>
            <a:off x="777240" y="3429000"/>
            <a:ext cx="7589520" cy="594360"/>
          </a:xfrm>
          <a:prstGeom prst="rect">
            <a:avLst/>
          </a:prstGeom>
          <a:noFill/>
          <a:ln/>
        </p:spPr>
        <p:txBody>
          <a:bodyPr wrap="square" lIns="0" tIns="0" rIns="0" bIns="0" rtlCol="0" anchor="ctr"/>
          <a:lstStyle/>
          <a:p>
            <a:pPr marL="0" indent="0">
              <a:buNone/>
            </a:pPr>
            <a:r>
              <a:rPr lang="en-US" sz="1000" dirty="0">
                <a:solidFill>
                  <a:srgbClr val="6B7280"/>
                </a:solidFill>
                <a:latin typeface="Calibri Light" pitchFamily="34" charset="0"/>
                <a:ea typeface="Calibri Light" pitchFamily="34" charset="-122"/>
                <a:cs typeface="Calibri Light" pitchFamily="34" charset="-120"/>
              </a:rPr>
              <a:t>Top-right quadrant: highest sector specialisation combined with highest methodology rigour. No identified competitor operates a published, replicable evaluation framework with a defined pass threshold. Insequa is closest in focus but operates at higher volume with less visible quality assurance.</a:t>
            </a:r>
            <a:endParaRPr lang="en-US" sz="1000" dirty="0"/>
          </a:p>
        </p:txBody>
      </p:sp>
      <p:sp>
        <p:nvSpPr>
          <p:cNvPr id="10" name="Shape 6"/>
          <p:cNvSpPr/>
          <p:nvPr/>
        </p:nvSpPr>
        <p:spPr>
          <a:xfrm>
            <a:off x="0" y="4800600"/>
            <a:ext cx="9144000" cy="342900"/>
          </a:xfrm>
          <a:prstGeom prst="rect">
            <a:avLst/>
          </a:prstGeom>
          <a:solidFill>
            <a:srgbClr val="F3F4F6"/>
          </a:solidFill>
          <a:ln/>
        </p:spPr>
        <p:txBody>
          <a:bodyPr/>
          <a:lstStyle/>
          <a:p>
            <a:endParaRPr lang="en-GB"/>
          </a:p>
        </p:txBody>
      </p:sp>
      <p:sp>
        <p:nvSpPr>
          <p:cNvPr id="11" name="Text 7"/>
          <p:cNvSpPr/>
          <p:nvPr/>
        </p:nvSpPr>
        <p:spPr>
          <a:xfrm>
            <a:off x="457200" y="4828032"/>
            <a:ext cx="2743200" cy="274320"/>
          </a:xfrm>
          <a:prstGeom prst="rect">
            <a:avLst/>
          </a:prstGeom>
          <a:noFill/>
          <a:ln/>
        </p:spPr>
        <p:txBody>
          <a:bodyPr wrap="square" lIns="0" tIns="0" rIns="0" bIns="0" rtlCol="0" anchor="ctr"/>
          <a:lstStyle/>
          <a:p>
            <a:pPr marL="0" indent="0">
              <a:buNone/>
            </a:pPr>
            <a:r>
              <a:rPr lang="en-US" sz="800" dirty="0">
                <a:solidFill>
                  <a:srgbClr val="6B7280"/>
                </a:solidFill>
                <a:latin typeface="Calibri Light" pitchFamily="34" charset="0"/>
                <a:ea typeface="Calibri Light" pitchFamily="34" charset="-122"/>
                <a:cs typeface="Calibri Light" pitchFamily="34" charset="-120"/>
              </a:rPr>
              <a:t>tenderlab.co.uk</a:t>
            </a:r>
            <a:endParaRPr lang="en-US" sz="800" dirty="0"/>
          </a:p>
        </p:txBody>
      </p:sp>
      <p:pic>
        <p:nvPicPr>
          <p:cNvPr id="12" name="Image 1" descr="preencoded.png"/>
          <p:cNvPicPr>
            <a:picLocks noChangeAspect="1"/>
          </p:cNvPicPr>
          <p:nvPr/>
        </p:nvPicPr>
        <p:blipFill>
          <a:blip r:embed="rId4"/>
          <a:stretch>
            <a:fillRect/>
          </a:stretch>
        </p:blipFill>
        <p:spPr>
          <a:xfrm>
            <a:off x="8229600" y="4709160"/>
            <a:ext cx="502920" cy="502920"/>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32004"/>
          </a:xfrm>
          <a:prstGeom prst="rect">
            <a:avLst/>
          </a:prstGeom>
          <a:solidFill>
            <a:srgbClr val="D4382C"/>
          </a:solidFill>
          <a:ln/>
        </p:spPr>
        <p:txBody>
          <a:bodyPr/>
          <a:lstStyle/>
          <a:p>
            <a:endParaRPr lang="en-GB"/>
          </a:p>
        </p:txBody>
      </p:sp>
      <p:sp>
        <p:nvSpPr>
          <p:cNvPr id="3" name="Text 1"/>
          <p:cNvSpPr/>
          <p:nvPr/>
        </p:nvSpPr>
        <p:spPr>
          <a:xfrm>
            <a:off x="548640" y="274320"/>
            <a:ext cx="8229600" cy="457200"/>
          </a:xfrm>
          <a:prstGeom prst="rect">
            <a:avLst/>
          </a:prstGeom>
          <a:noFill/>
          <a:ln/>
        </p:spPr>
        <p:txBody>
          <a:bodyPr wrap="square" lIns="0" tIns="0" rIns="0" bIns="0" rtlCol="0" anchor="ctr"/>
          <a:lstStyle/>
          <a:p>
            <a:pPr marL="0" indent="0">
              <a:buNone/>
            </a:pPr>
            <a:r>
              <a:rPr lang="en-US" sz="2800" dirty="0">
                <a:solidFill>
                  <a:srgbClr val="192231"/>
                </a:solidFill>
                <a:latin typeface="Arial Black" pitchFamily="34" charset="0"/>
                <a:ea typeface="Arial Black" pitchFamily="34" charset="-122"/>
                <a:cs typeface="Arial Black" pitchFamily="34" charset="-120"/>
              </a:rPr>
              <a:t>Competitive Differentiation</a:t>
            </a:r>
            <a:endParaRPr lang="en-US" sz="280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548640" y="914400"/>
          <a:ext cx="8046720" cy="2905760"/>
        </p:xfrm>
        <a:graphic>
          <a:graphicData uri="http://schemas.openxmlformats.org/drawingml/2006/table">
            <a:tbl>
              <a:tblPr/>
              <a:tblGrid>
                <a:gridCol w="2011680">
                  <a:extLst>
                    <a:ext uri="{9D8B030D-6E8A-4147-A177-3AD203B41FA5}">
                      <a16:colId xmlns:a16="http://schemas.microsoft.com/office/drawing/2014/main" val="20000"/>
                    </a:ext>
                  </a:extLst>
                </a:gridCol>
                <a:gridCol w="3017520">
                  <a:extLst>
                    <a:ext uri="{9D8B030D-6E8A-4147-A177-3AD203B41FA5}">
                      <a16:colId xmlns:a16="http://schemas.microsoft.com/office/drawing/2014/main" val="20001"/>
                    </a:ext>
                  </a:extLst>
                </a:gridCol>
                <a:gridCol w="3017520">
                  <a:extLst>
                    <a:ext uri="{9D8B030D-6E8A-4147-A177-3AD203B41FA5}">
                      <a16:colId xmlns:a16="http://schemas.microsoft.com/office/drawing/2014/main" val="20002"/>
                    </a:ext>
                  </a:extLst>
                </a:gridCol>
              </a:tblGrid>
              <a:tr h="365760">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Dimension</a:t>
                      </a:r>
                      <a:endParaRPr lang="en-US" sz="1000" dirty="0">
                        <a:latin typeface="Calibri" charset="0"/>
                        <a:ea typeface="Calibri" charset="0"/>
                        <a:cs typeface="Calibri" charset="0"/>
                      </a:endParaRPr>
                    </a:p>
                  </a:txBody>
                  <a:tcPr marL="101600" marR="101600" marT="50800" marB="5080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D4382C"/>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Generalist Bid Writer</a:t>
                      </a:r>
                      <a:endParaRPr lang="en-US" sz="1000" dirty="0">
                        <a:latin typeface="Calibri" charset="0"/>
                        <a:ea typeface="Calibri" charset="0"/>
                        <a:cs typeface="Calibri" charset="0"/>
                      </a:endParaRPr>
                    </a:p>
                  </a:txBody>
                  <a:tcPr marL="101600" marR="101600" marT="50800" marB="5080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3B5068"/>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TenderLab</a:t>
                      </a:r>
                      <a:endParaRPr lang="en-US" sz="1000" dirty="0">
                        <a:latin typeface="Calibri" charset="0"/>
                        <a:ea typeface="Calibri" charset="0"/>
                        <a:cs typeface="Calibri" charset="0"/>
                      </a:endParaRPr>
                    </a:p>
                  </a:txBody>
                  <a:tcPr marL="101600" marR="101600" marT="50800" marB="5080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92231"/>
                    </a:solidFill>
                  </a:tcPr>
                </a:tc>
                <a:extLst>
                  <a:ext uri="{0D108BD9-81ED-4DB2-BD59-A6C34878D82A}">
                    <a16:rowId xmlns:a16="http://schemas.microsoft.com/office/drawing/2014/main" val="10000"/>
                  </a:ext>
                </a:extLst>
              </a:tr>
              <a:tr h="457200">
                <a:tc>
                  <a:txBody>
                    <a:bodyPr/>
                    <a:lstStyle/>
                    <a:p>
                      <a:pPr marL="0" indent="0">
                        <a:buNone/>
                      </a:pPr>
                      <a:r>
                        <a:rPr lang="en-US" sz="1000" b="1" dirty="0">
                          <a:solidFill>
                            <a:srgbClr val="6B7280"/>
                          </a:solidFill>
                          <a:latin typeface="Calibri Light" pitchFamily="34" charset="0"/>
                          <a:ea typeface="Calibri Light" pitchFamily="34" charset="-122"/>
                          <a:cs typeface="Calibri Light" pitchFamily="34" charset="-120"/>
                        </a:rPr>
                        <a:t>Sector knowledge</a:t>
                      </a:r>
                      <a:endParaRPr lang="en-US" sz="1000" dirty="0">
                        <a:latin typeface="Calibri Light" charset="0"/>
                        <a:ea typeface="Calibri Light" charset="0"/>
                        <a:cs typeface="Calibri Light" charset="0"/>
                      </a:endParaRPr>
                    </a:p>
                  </a:txBody>
                  <a:tcPr marL="101600" marR="101600" marT="50800" marB="5080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marL="0" indent="0">
                        <a:buNone/>
                      </a:pPr>
                      <a:r>
                        <a:rPr lang="en-US" sz="1000" dirty="0">
                          <a:solidFill>
                            <a:srgbClr val="6B7280"/>
                          </a:solidFill>
                          <a:latin typeface="Calibri Light" pitchFamily="34" charset="0"/>
                          <a:ea typeface="Calibri Light" pitchFamily="34" charset="-122"/>
                          <a:cs typeface="Calibri Light" pitchFamily="34" charset="-120"/>
                        </a:rPr>
                        <a:t>Cross-sector; surface-level</a:t>
                      </a:r>
                      <a:endParaRPr lang="en-US" sz="1000" dirty="0">
                        <a:latin typeface="Calibri Light" charset="0"/>
                        <a:ea typeface="Calibri Light" charset="0"/>
                        <a:cs typeface="Calibri Light" charset="0"/>
                      </a:endParaRPr>
                    </a:p>
                  </a:txBody>
                  <a:tcPr marL="101600" marR="101600" marT="50800" marB="5080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buNone/>
                      </a:pPr>
                      <a:r>
                        <a:rPr lang="en-US" sz="1000" dirty="0">
                          <a:solidFill>
                            <a:srgbClr val="192231"/>
                          </a:solidFill>
                          <a:latin typeface="Calibri" pitchFamily="34" charset="0"/>
                          <a:ea typeface="Calibri" pitchFamily="34" charset="-122"/>
                          <a:cs typeface="Calibri" pitchFamily="34" charset="-120"/>
                        </a:rPr>
                        <a:t>Exclusive H&amp;SC; CQC, Ofsted, ICB fluency</a:t>
                      </a:r>
                      <a:endParaRPr lang="en-US" sz="1000" dirty="0">
                        <a:latin typeface="Calibri" charset="0"/>
                        <a:ea typeface="Calibri" charset="0"/>
                        <a:cs typeface="Calibri" charset="0"/>
                      </a:endParaRPr>
                    </a:p>
                  </a:txBody>
                  <a:tcPr marL="101600" marR="101600" marT="50800" marB="5080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buNone/>
                      </a:pPr>
                      <a:r>
                        <a:rPr lang="en-US" sz="1000" b="1" dirty="0">
                          <a:solidFill>
                            <a:srgbClr val="6B7280"/>
                          </a:solidFill>
                          <a:latin typeface="Calibri Light" pitchFamily="34" charset="0"/>
                          <a:ea typeface="Calibri Light" pitchFamily="34" charset="-122"/>
                          <a:cs typeface="Calibri Light" pitchFamily="34" charset="-120"/>
                        </a:rPr>
                        <a:t>Specification analysis</a:t>
                      </a:r>
                      <a:endParaRPr lang="en-US" sz="1000" dirty="0">
                        <a:latin typeface="Calibri Light" charset="0"/>
                        <a:ea typeface="Calibri Light" charset="0"/>
                        <a:cs typeface="Calibri Light" charset="0"/>
                      </a:endParaRPr>
                    </a:p>
                  </a:txBody>
                  <a:tcPr marL="101600" marR="101600" marT="50800" marB="5080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marL="0" indent="0">
                        <a:buNone/>
                      </a:pPr>
                      <a:r>
                        <a:rPr lang="en-US" sz="1000" dirty="0">
                          <a:solidFill>
                            <a:srgbClr val="6B7280"/>
                          </a:solidFill>
                          <a:latin typeface="Calibri Light" pitchFamily="34" charset="0"/>
                          <a:ea typeface="Calibri Light" pitchFamily="34" charset="-122"/>
                          <a:cs typeface="Calibri Light" pitchFamily="34" charset="-120"/>
                        </a:rPr>
                        <a:t>Reads questions at face value</a:t>
                      </a:r>
                      <a:endParaRPr lang="en-US" sz="1000" dirty="0">
                        <a:latin typeface="Calibri Light" charset="0"/>
                        <a:ea typeface="Calibri Light" charset="0"/>
                        <a:cs typeface="Calibri Light" charset="0"/>
                      </a:endParaRPr>
                    </a:p>
                  </a:txBody>
                  <a:tcPr marL="101600" marR="101600" marT="50800" marB="5080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buNone/>
                      </a:pPr>
                      <a:r>
                        <a:rPr lang="en-US" sz="1000" dirty="0">
                          <a:solidFill>
                            <a:srgbClr val="192231"/>
                          </a:solidFill>
                          <a:latin typeface="Calibri" pitchFamily="34" charset="0"/>
                          <a:ea typeface="Calibri" pitchFamily="34" charset="-122"/>
                          <a:cs typeface="Calibri" pitchFamily="34" charset="-120"/>
                        </a:rPr>
                        <a:t>Extracts statutory context, KPIs, cohort profiles</a:t>
                      </a:r>
                      <a:endParaRPr lang="en-US" sz="1000" dirty="0">
                        <a:latin typeface="Calibri" charset="0"/>
                        <a:ea typeface="Calibri" charset="0"/>
                        <a:cs typeface="Calibri" charset="0"/>
                      </a:endParaRPr>
                    </a:p>
                  </a:txBody>
                  <a:tcPr marL="101600" marR="101600" marT="50800" marB="5080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57200">
                <a:tc>
                  <a:txBody>
                    <a:bodyPr/>
                    <a:lstStyle/>
                    <a:p>
                      <a:pPr marL="0" indent="0">
                        <a:buNone/>
                      </a:pPr>
                      <a:r>
                        <a:rPr lang="en-US" sz="1000" b="1" dirty="0">
                          <a:solidFill>
                            <a:srgbClr val="6B7280"/>
                          </a:solidFill>
                          <a:latin typeface="Calibri Light" pitchFamily="34" charset="0"/>
                          <a:ea typeface="Calibri Light" pitchFamily="34" charset="-122"/>
                          <a:cs typeface="Calibri Light" pitchFamily="34" charset="-120"/>
                        </a:rPr>
                        <a:t>Response evidence</a:t>
                      </a:r>
                      <a:endParaRPr lang="en-US" sz="1000" dirty="0">
                        <a:latin typeface="Calibri Light" charset="0"/>
                        <a:ea typeface="Calibri Light" charset="0"/>
                        <a:cs typeface="Calibri Light" charset="0"/>
                      </a:endParaRPr>
                    </a:p>
                  </a:txBody>
                  <a:tcPr marL="101600" marR="101600" marT="50800" marB="5080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marL="0" indent="0">
                        <a:buNone/>
                      </a:pPr>
                      <a:r>
                        <a:rPr lang="en-US" sz="1000" dirty="0">
                          <a:solidFill>
                            <a:srgbClr val="6B7280"/>
                          </a:solidFill>
                          <a:latin typeface="Calibri Light" pitchFamily="34" charset="0"/>
                          <a:ea typeface="Calibri Light" pitchFamily="34" charset="-122"/>
                          <a:cs typeface="Calibri Light" pitchFamily="34" charset="-120"/>
                        </a:rPr>
                        <a:t>Generic statements</a:t>
                      </a:r>
                      <a:endParaRPr lang="en-US" sz="1000" dirty="0">
                        <a:latin typeface="Calibri Light" charset="0"/>
                        <a:ea typeface="Calibri Light" charset="0"/>
                        <a:cs typeface="Calibri Light" charset="0"/>
                      </a:endParaRPr>
                    </a:p>
                  </a:txBody>
                  <a:tcPr marL="101600" marR="101600" marT="50800" marB="5080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buNone/>
                      </a:pPr>
                      <a:r>
                        <a:rPr lang="en-US" sz="1000" dirty="0">
                          <a:solidFill>
                            <a:srgbClr val="192231"/>
                          </a:solidFill>
                          <a:latin typeface="Calibri" pitchFamily="34" charset="0"/>
                          <a:ea typeface="Calibri" pitchFamily="34" charset="-122"/>
                          <a:cs typeface="Calibri" pitchFamily="34" charset="-120"/>
                        </a:rPr>
                        <a:t>Named staff, real systems, quantified outcomes</a:t>
                      </a:r>
                      <a:endParaRPr lang="en-US" sz="1000" dirty="0">
                        <a:latin typeface="Calibri" charset="0"/>
                        <a:ea typeface="Calibri" charset="0"/>
                        <a:cs typeface="Calibri" charset="0"/>
                      </a:endParaRPr>
                    </a:p>
                  </a:txBody>
                  <a:tcPr marL="101600" marR="101600" marT="50800" marB="5080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marL="0" indent="0">
                        <a:buNone/>
                      </a:pPr>
                      <a:r>
                        <a:rPr lang="en-US" sz="1000" b="1" dirty="0">
                          <a:solidFill>
                            <a:srgbClr val="6B7280"/>
                          </a:solidFill>
                          <a:latin typeface="Calibri Light" pitchFamily="34" charset="0"/>
                          <a:ea typeface="Calibri Light" pitchFamily="34" charset="-122"/>
                          <a:cs typeface="Calibri Light" pitchFamily="34" charset="-120"/>
                        </a:rPr>
                        <a:t>Quality assurance</a:t>
                      </a:r>
                      <a:endParaRPr lang="en-US" sz="1000" dirty="0">
                        <a:latin typeface="Calibri Light" charset="0"/>
                        <a:ea typeface="Calibri Light" charset="0"/>
                        <a:cs typeface="Calibri Light" charset="0"/>
                      </a:endParaRPr>
                    </a:p>
                  </a:txBody>
                  <a:tcPr marL="101600" marR="101600" marT="50800" marB="5080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marL="0" indent="0">
                        <a:buNone/>
                      </a:pPr>
                      <a:r>
                        <a:rPr lang="en-US" sz="1000" dirty="0">
                          <a:solidFill>
                            <a:srgbClr val="6B7280"/>
                          </a:solidFill>
                          <a:latin typeface="Calibri Light" pitchFamily="34" charset="0"/>
                          <a:ea typeface="Calibri Light" pitchFamily="34" charset="-122"/>
                          <a:cs typeface="Calibri Light" pitchFamily="34" charset="-120"/>
                        </a:rPr>
                        <a:t>Proofreading</a:t>
                      </a:r>
                      <a:endParaRPr lang="en-US" sz="1000" dirty="0">
                        <a:latin typeface="Calibri Light" charset="0"/>
                        <a:ea typeface="Calibri Light" charset="0"/>
                        <a:cs typeface="Calibri Light" charset="0"/>
                      </a:endParaRPr>
                    </a:p>
                  </a:txBody>
                  <a:tcPr marL="101600" marR="101600" marT="50800" marB="5080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buNone/>
                      </a:pPr>
                      <a:r>
                        <a:rPr lang="en-US" sz="1000" dirty="0">
                          <a:solidFill>
                            <a:srgbClr val="192231"/>
                          </a:solidFill>
                          <a:latin typeface="Calibri" pitchFamily="34" charset="0"/>
                          <a:ea typeface="Calibri" pitchFamily="34" charset="-122"/>
                          <a:cs typeface="Calibri" pitchFamily="34" charset="-120"/>
                        </a:rPr>
                        <a:t>20-criterion scoring; iterative rewrite to 4+</a:t>
                      </a:r>
                      <a:endParaRPr lang="en-US" sz="1000" dirty="0">
                        <a:latin typeface="Calibri" charset="0"/>
                        <a:ea typeface="Calibri" charset="0"/>
                        <a:cs typeface="Calibri" charset="0"/>
                      </a:endParaRPr>
                    </a:p>
                  </a:txBody>
                  <a:tcPr marL="101600" marR="101600" marT="50800" marB="5080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57200">
                <a:tc>
                  <a:txBody>
                    <a:bodyPr/>
                    <a:lstStyle/>
                    <a:p>
                      <a:pPr marL="0" indent="0">
                        <a:buNone/>
                      </a:pPr>
                      <a:r>
                        <a:rPr lang="en-US" sz="1000" b="1" dirty="0">
                          <a:solidFill>
                            <a:srgbClr val="6B7280"/>
                          </a:solidFill>
                          <a:latin typeface="Calibri Light" pitchFamily="34" charset="0"/>
                          <a:ea typeface="Calibri Light" pitchFamily="34" charset="-122"/>
                          <a:cs typeface="Calibri Light" pitchFamily="34" charset="-120"/>
                        </a:rPr>
                        <a:t>Pricing</a:t>
                      </a:r>
                      <a:endParaRPr lang="en-US" sz="1000" dirty="0">
                        <a:latin typeface="Calibri Light" charset="0"/>
                        <a:ea typeface="Calibri Light" charset="0"/>
                        <a:cs typeface="Calibri Light" charset="0"/>
                      </a:endParaRPr>
                    </a:p>
                  </a:txBody>
                  <a:tcPr marL="101600" marR="101600" marT="50800" marB="5080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marL="0" indent="0">
                        <a:buNone/>
                      </a:pPr>
                      <a:r>
                        <a:rPr lang="en-US" sz="1000" dirty="0">
                          <a:solidFill>
                            <a:srgbClr val="6B7280"/>
                          </a:solidFill>
                          <a:latin typeface="Calibri Light" pitchFamily="34" charset="0"/>
                          <a:ea typeface="Calibri Light" pitchFamily="34" charset="-122"/>
                          <a:cs typeface="Calibri Light" pitchFamily="34" charset="-120"/>
                        </a:rPr>
                        <a:t>Figures formatted</a:t>
                      </a:r>
                      <a:endParaRPr lang="en-US" sz="1000" dirty="0">
                        <a:latin typeface="Calibri Light" charset="0"/>
                        <a:ea typeface="Calibri Light" charset="0"/>
                        <a:cs typeface="Calibri Light" charset="0"/>
                      </a:endParaRPr>
                    </a:p>
                  </a:txBody>
                  <a:tcPr marL="101600" marR="101600" marT="50800" marB="5080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buNone/>
                      </a:pPr>
                      <a:r>
                        <a:rPr lang="en-US" sz="1000" dirty="0">
                          <a:solidFill>
                            <a:srgbClr val="192231"/>
                          </a:solidFill>
                          <a:latin typeface="Calibri" pitchFamily="34" charset="0"/>
                          <a:ea typeface="Calibri" pitchFamily="34" charset="-122"/>
                          <a:cs typeface="Calibri" pitchFamily="34" charset="-120"/>
                        </a:rPr>
                        <a:t>NLW-verified, Python-reconciled models</a:t>
                      </a:r>
                      <a:endParaRPr lang="en-US" sz="1000" dirty="0">
                        <a:latin typeface="Calibri" charset="0"/>
                        <a:ea typeface="Calibri" charset="0"/>
                        <a:cs typeface="Calibri" charset="0"/>
                      </a:endParaRPr>
                    </a:p>
                  </a:txBody>
                  <a:tcPr marL="101600" marR="101600" marT="50800" marB="5080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0">
                <a:tc>
                  <a:txBody>
                    <a:bodyPr/>
                    <a:lstStyle/>
                    <a:p>
                      <a:pPr marL="0" indent="0">
                        <a:buNone/>
                      </a:pPr>
                      <a:r>
                        <a:rPr lang="en-US" sz="1000" b="1" dirty="0">
                          <a:solidFill>
                            <a:srgbClr val="6B7280"/>
                          </a:solidFill>
                          <a:latin typeface="Calibri Light" pitchFamily="34" charset="0"/>
                          <a:ea typeface="Calibri Light" pitchFamily="34" charset="-122"/>
                          <a:cs typeface="Calibri Light" pitchFamily="34" charset="-120"/>
                        </a:rPr>
                        <a:t>Turnaround</a:t>
                      </a:r>
                      <a:endParaRPr lang="en-US" sz="1000" dirty="0">
                        <a:latin typeface="Calibri Light" charset="0"/>
                        <a:ea typeface="Calibri Light" charset="0"/>
                        <a:cs typeface="Calibri Light" charset="0"/>
                      </a:endParaRPr>
                    </a:p>
                  </a:txBody>
                  <a:tcPr marL="101600" marR="101600" marT="50800" marB="5080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marL="0" indent="0">
                        <a:buNone/>
                      </a:pPr>
                      <a:r>
                        <a:rPr lang="en-US" sz="1000" dirty="0">
                          <a:solidFill>
                            <a:srgbClr val="6B7280"/>
                          </a:solidFill>
                          <a:latin typeface="Calibri Light" pitchFamily="34" charset="0"/>
                          <a:ea typeface="Calibri Light" pitchFamily="34" charset="-122"/>
                          <a:cs typeface="Calibri Light" pitchFamily="34" charset="-120"/>
                        </a:rPr>
                        <a:t>Variable, undefined</a:t>
                      </a:r>
                      <a:endParaRPr lang="en-US" sz="1000" dirty="0">
                        <a:latin typeface="Calibri Light" charset="0"/>
                        <a:ea typeface="Calibri Light" charset="0"/>
                        <a:cs typeface="Calibri Light" charset="0"/>
                      </a:endParaRPr>
                    </a:p>
                  </a:txBody>
                  <a:tcPr marL="101600" marR="101600" marT="50800" marB="5080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buNone/>
                      </a:pPr>
                      <a:r>
                        <a:rPr lang="en-US" sz="1000" dirty="0">
                          <a:solidFill>
                            <a:srgbClr val="192231"/>
                          </a:solidFill>
                          <a:latin typeface="Calibri" pitchFamily="34" charset="0"/>
                          <a:ea typeface="Calibri" pitchFamily="34" charset="-122"/>
                          <a:cs typeface="Calibri" pitchFamily="34" charset="-120"/>
                        </a:rPr>
                        <a:t>Structured; briefing within 24 hours</a:t>
                      </a:r>
                      <a:endParaRPr lang="en-US" sz="1000" dirty="0">
                        <a:latin typeface="Calibri" charset="0"/>
                        <a:ea typeface="Calibri" charset="0"/>
                        <a:cs typeface="Calibri" charset="0"/>
                      </a:endParaRPr>
                    </a:p>
                  </a:txBody>
                  <a:tcPr marL="101600" marR="101600" marT="50800" marB="5080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5" name="Shape 2"/>
          <p:cNvSpPr/>
          <p:nvPr/>
        </p:nvSpPr>
        <p:spPr>
          <a:xfrm>
            <a:off x="0" y="4800600"/>
            <a:ext cx="9144000" cy="342900"/>
          </a:xfrm>
          <a:prstGeom prst="rect">
            <a:avLst/>
          </a:prstGeom>
          <a:solidFill>
            <a:srgbClr val="F3F4F6"/>
          </a:solidFill>
          <a:ln/>
        </p:spPr>
        <p:txBody>
          <a:bodyPr/>
          <a:lstStyle/>
          <a:p>
            <a:endParaRPr lang="en-GB"/>
          </a:p>
        </p:txBody>
      </p:sp>
      <p:sp>
        <p:nvSpPr>
          <p:cNvPr id="6" name="Text 3"/>
          <p:cNvSpPr/>
          <p:nvPr/>
        </p:nvSpPr>
        <p:spPr>
          <a:xfrm>
            <a:off x="457200" y="4828032"/>
            <a:ext cx="2743200" cy="274320"/>
          </a:xfrm>
          <a:prstGeom prst="rect">
            <a:avLst/>
          </a:prstGeom>
          <a:noFill/>
          <a:ln/>
        </p:spPr>
        <p:txBody>
          <a:bodyPr wrap="square" lIns="0" tIns="0" rIns="0" bIns="0" rtlCol="0" anchor="ctr"/>
          <a:lstStyle/>
          <a:p>
            <a:pPr marL="0" indent="0">
              <a:buNone/>
            </a:pPr>
            <a:r>
              <a:rPr lang="en-US" sz="800" dirty="0">
                <a:solidFill>
                  <a:srgbClr val="6B7280"/>
                </a:solidFill>
                <a:latin typeface="Calibri Light" pitchFamily="34" charset="0"/>
                <a:ea typeface="Calibri Light" pitchFamily="34" charset="-122"/>
                <a:cs typeface="Calibri Light" pitchFamily="34" charset="-120"/>
              </a:rPr>
              <a:t>tenderlab.co.uk</a:t>
            </a:r>
            <a:endParaRPr lang="en-US" sz="800" dirty="0"/>
          </a:p>
        </p:txBody>
      </p:sp>
      <p:pic>
        <p:nvPicPr>
          <p:cNvPr id="7" name="Image 0" descr="preencoded.png"/>
          <p:cNvPicPr>
            <a:picLocks noChangeAspect="1"/>
          </p:cNvPicPr>
          <p:nvPr/>
        </p:nvPicPr>
        <p:blipFill>
          <a:blip r:embed="rId3"/>
          <a:stretch>
            <a:fillRect/>
          </a:stretch>
        </p:blipFill>
        <p:spPr>
          <a:xfrm>
            <a:off x="8229600" y="4709160"/>
            <a:ext cx="502920" cy="502920"/>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32004"/>
          </a:xfrm>
          <a:prstGeom prst="rect">
            <a:avLst/>
          </a:prstGeom>
          <a:solidFill>
            <a:srgbClr val="D4382C"/>
          </a:solidFill>
          <a:ln/>
        </p:spPr>
        <p:txBody>
          <a:bodyPr/>
          <a:lstStyle/>
          <a:p>
            <a:endParaRPr lang="en-GB"/>
          </a:p>
        </p:txBody>
      </p:sp>
      <p:sp>
        <p:nvSpPr>
          <p:cNvPr id="3" name="Text 1"/>
          <p:cNvSpPr/>
          <p:nvPr/>
        </p:nvSpPr>
        <p:spPr>
          <a:xfrm>
            <a:off x="548640" y="274320"/>
            <a:ext cx="8229600" cy="457200"/>
          </a:xfrm>
          <a:prstGeom prst="rect">
            <a:avLst/>
          </a:prstGeom>
          <a:noFill/>
          <a:ln/>
        </p:spPr>
        <p:txBody>
          <a:bodyPr wrap="square" lIns="0" tIns="0" rIns="0" bIns="0" rtlCol="0" anchor="ctr"/>
          <a:lstStyle/>
          <a:p>
            <a:pPr marL="0" indent="0">
              <a:buNone/>
            </a:pPr>
            <a:r>
              <a:rPr lang="en-US" sz="2800" dirty="0">
                <a:solidFill>
                  <a:srgbClr val="192231"/>
                </a:solidFill>
                <a:latin typeface="Arial Black" pitchFamily="34" charset="0"/>
                <a:ea typeface="Arial Black" pitchFamily="34" charset="-122"/>
                <a:cs typeface="Arial Black" pitchFamily="34" charset="-120"/>
              </a:rPr>
              <a:t>Brand Architecture</a:t>
            </a:r>
            <a:endParaRPr lang="en-US" sz="2800" dirty="0"/>
          </a:p>
        </p:txBody>
      </p:sp>
      <p:sp>
        <p:nvSpPr>
          <p:cNvPr id="4" name="Text 2"/>
          <p:cNvSpPr/>
          <p:nvPr/>
        </p:nvSpPr>
        <p:spPr>
          <a:xfrm>
            <a:off x="548640" y="731520"/>
            <a:ext cx="7315200" cy="228600"/>
          </a:xfrm>
          <a:prstGeom prst="rect">
            <a:avLst/>
          </a:prstGeom>
          <a:noFill/>
          <a:ln/>
        </p:spPr>
        <p:txBody>
          <a:bodyPr wrap="square" lIns="0" tIns="0" rIns="0" bIns="0" rtlCol="0" anchor="ctr"/>
          <a:lstStyle/>
          <a:p>
            <a:pPr marL="0" indent="0">
              <a:buNone/>
            </a:pPr>
            <a:r>
              <a:rPr lang="en-US" sz="1100" dirty="0">
                <a:solidFill>
                  <a:srgbClr val="6B7280"/>
                </a:solidFill>
                <a:latin typeface="Calibri" pitchFamily="34" charset="0"/>
                <a:ea typeface="Calibri" pitchFamily="34" charset="-122"/>
                <a:cs typeface="Calibri" pitchFamily="34" charset="-120"/>
              </a:rPr>
              <a:t>Single-brand model. One brand, one sector, one methodology.</a:t>
            </a:r>
            <a:endParaRPr lang="en-US" sz="1100" dirty="0"/>
          </a:p>
        </p:txBody>
      </p:sp>
      <p:sp>
        <p:nvSpPr>
          <p:cNvPr id="5" name="Shape 3"/>
          <p:cNvSpPr/>
          <p:nvPr/>
        </p:nvSpPr>
        <p:spPr>
          <a:xfrm>
            <a:off x="3200400" y="1188720"/>
            <a:ext cx="2743200" cy="548640"/>
          </a:xfrm>
          <a:prstGeom prst="rect">
            <a:avLst/>
          </a:prstGeom>
          <a:solidFill>
            <a:srgbClr val="D4382C"/>
          </a:solidFill>
          <a:ln/>
        </p:spPr>
        <p:txBody>
          <a:bodyPr/>
          <a:lstStyle/>
          <a:p>
            <a:endParaRPr lang="en-GB"/>
          </a:p>
        </p:txBody>
      </p:sp>
      <p:sp>
        <p:nvSpPr>
          <p:cNvPr id="6" name="Text 4"/>
          <p:cNvSpPr/>
          <p:nvPr/>
        </p:nvSpPr>
        <p:spPr>
          <a:xfrm>
            <a:off x="3200400" y="1188720"/>
            <a:ext cx="2743200" cy="548640"/>
          </a:xfrm>
          <a:prstGeom prst="rect">
            <a:avLst/>
          </a:prstGeom>
          <a:noFill/>
          <a:ln/>
        </p:spPr>
        <p:txBody>
          <a:bodyPr wrap="square" lIns="0" tIns="0" rIns="0" bIns="0" rtlCol="0" anchor="ctr"/>
          <a:lstStyle/>
          <a:p>
            <a:pPr marL="0" indent="0" algn="ctr">
              <a:buNone/>
            </a:pPr>
            <a:r>
              <a:rPr lang="en-US" sz="1800" dirty="0">
                <a:solidFill>
                  <a:srgbClr val="FFFFFF"/>
                </a:solidFill>
                <a:latin typeface="Arial Black" pitchFamily="34" charset="0"/>
                <a:ea typeface="Arial Black" pitchFamily="34" charset="-122"/>
                <a:cs typeface="Arial Black" pitchFamily="34" charset="-120"/>
              </a:rPr>
              <a:t>TENDERLAB</a:t>
            </a:r>
            <a:endParaRPr lang="en-US" sz="1800" dirty="0"/>
          </a:p>
        </p:txBody>
      </p:sp>
      <p:sp>
        <p:nvSpPr>
          <p:cNvPr id="7" name="Shape 5"/>
          <p:cNvSpPr/>
          <p:nvPr/>
        </p:nvSpPr>
        <p:spPr>
          <a:xfrm>
            <a:off x="1463040" y="1920240"/>
            <a:ext cx="6400800" cy="0"/>
          </a:xfrm>
          <a:prstGeom prst="line">
            <a:avLst/>
          </a:prstGeom>
          <a:noFill/>
          <a:ln w="12700">
            <a:solidFill>
              <a:srgbClr val="3B5068"/>
            </a:solidFill>
            <a:prstDash val="solid"/>
          </a:ln>
        </p:spPr>
        <p:txBody>
          <a:bodyPr/>
          <a:lstStyle/>
          <a:p>
            <a:endParaRPr lang="en-GB"/>
          </a:p>
        </p:txBody>
      </p:sp>
      <p:sp>
        <p:nvSpPr>
          <p:cNvPr id="8" name="Shape 6"/>
          <p:cNvSpPr/>
          <p:nvPr/>
        </p:nvSpPr>
        <p:spPr>
          <a:xfrm>
            <a:off x="4572000" y="1737360"/>
            <a:ext cx="0" cy="182880"/>
          </a:xfrm>
          <a:prstGeom prst="line">
            <a:avLst/>
          </a:prstGeom>
          <a:noFill/>
          <a:ln w="12700">
            <a:solidFill>
              <a:srgbClr val="3B5068"/>
            </a:solidFill>
            <a:prstDash val="solid"/>
          </a:ln>
        </p:spPr>
        <p:txBody>
          <a:bodyPr/>
          <a:lstStyle/>
          <a:p>
            <a:endParaRPr lang="en-GB"/>
          </a:p>
        </p:txBody>
      </p:sp>
      <p:sp>
        <p:nvSpPr>
          <p:cNvPr id="9" name="Shape 7"/>
          <p:cNvSpPr/>
          <p:nvPr/>
        </p:nvSpPr>
        <p:spPr>
          <a:xfrm>
            <a:off x="1463040" y="1920240"/>
            <a:ext cx="0" cy="320040"/>
          </a:xfrm>
          <a:prstGeom prst="line">
            <a:avLst/>
          </a:prstGeom>
          <a:noFill/>
          <a:ln w="12700">
            <a:solidFill>
              <a:srgbClr val="3B5068"/>
            </a:solidFill>
            <a:prstDash val="solid"/>
          </a:ln>
        </p:spPr>
        <p:txBody>
          <a:bodyPr/>
          <a:lstStyle/>
          <a:p>
            <a:endParaRPr lang="en-GB"/>
          </a:p>
        </p:txBody>
      </p:sp>
      <p:sp>
        <p:nvSpPr>
          <p:cNvPr id="10" name="Shape 8"/>
          <p:cNvSpPr/>
          <p:nvPr/>
        </p:nvSpPr>
        <p:spPr>
          <a:xfrm>
            <a:off x="731520" y="2240280"/>
            <a:ext cx="1737360" cy="457200"/>
          </a:xfrm>
          <a:prstGeom prst="rect">
            <a:avLst/>
          </a:prstGeom>
          <a:solidFill>
            <a:srgbClr val="F3F4F6"/>
          </a:solidFill>
          <a:ln w="12700">
            <a:solidFill>
              <a:srgbClr val="E5E7EB"/>
            </a:solidFill>
            <a:prstDash val="solid"/>
          </a:ln>
        </p:spPr>
        <p:txBody>
          <a:bodyPr/>
          <a:lstStyle/>
          <a:p>
            <a:endParaRPr lang="en-GB"/>
          </a:p>
        </p:txBody>
      </p:sp>
      <p:sp>
        <p:nvSpPr>
          <p:cNvPr id="11" name="Text 9"/>
          <p:cNvSpPr/>
          <p:nvPr/>
        </p:nvSpPr>
        <p:spPr>
          <a:xfrm>
            <a:off x="731520" y="2240280"/>
            <a:ext cx="1737360" cy="457200"/>
          </a:xfrm>
          <a:prstGeom prst="rect">
            <a:avLst/>
          </a:prstGeom>
          <a:noFill/>
          <a:ln/>
        </p:spPr>
        <p:txBody>
          <a:bodyPr wrap="square" lIns="0" tIns="0" rIns="0" bIns="0" rtlCol="0" anchor="ctr"/>
          <a:lstStyle/>
          <a:p>
            <a:pPr marL="0" indent="0" algn="ctr">
              <a:buNone/>
            </a:pPr>
            <a:r>
              <a:rPr lang="en-US" sz="900" b="1" dirty="0">
                <a:solidFill>
                  <a:srgbClr val="192231"/>
                </a:solidFill>
                <a:latin typeface="Calibri" pitchFamily="34" charset="0"/>
                <a:ea typeface="Calibri" pitchFamily="34" charset="-122"/>
                <a:cs typeface="Calibri" pitchFamily="34" charset="-120"/>
              </a:rPr>
              <a:t>Specification</a:t>
            </a:r>
            <a:endParaRPr lang="en-US" sz="900" dirty="0"/>
          </a:p>
          <a:p>
            <a:pPr marL="0" indent="0" algn="ctr">
              <a:buNone/>
            </a:pPr>
            <a:r>
              <a:rPr lang="en-US" sz="900" b="1" dirty="0">
                <a:solidFill>
                  <a:srgbClr val="192231"/>
                </a:solidFill>
                <a:latin typeface="Calibri" pitchFamily="34" charset="0"/>
                <a:ea typeface="Calibri" pitchFamily="34" charset="-122"/>
                <a:cs typeface="Calibri" pitchFamily="34" charset="-120"/>
              </a:rPr>
              <a:t>Analysis</a:t>
            </a:r>
            <a:endParaRPr lang="en-US" sz="900" dirty="0"/>
          </a:p>
        </p:txBody>
      </p:sp>
      <p:sp>
        <p:nvSpPr>
          <p:cNvPr id="12" name="Shape 10"/>
          <p:cNvSpPr/>
          <p:nvPr/>
        </p:nvSpPr>
        <p:spPr>
          <a:xfrm>
            <a:off x="3566160" y="1920240"/>
            <a:ext cx="0" cy="320040"/>
          </a:xfrm>
          <a:prstGeom prst="line">
            <a:avLst/>
          </a:prstGeom>
          <a:noFill/>
          <a:ln w="12700">
            <a:solidFill>
              <a:srgbClr val="3B5068"/>
            </a:solidFill>
            <a:prstDash val="solid"/>
          </a:ln>
        </p:spPr>
        <p:txBody>
          <a:bodyPr/>
          <a:lstStyle/>
          <a:p>
            <a:endParaRPr lang="en-GB"/>
          </a:p>
        </p:txBody>
      </p:sp>
      <p:sp>
        <p:nvSpPr>
          <p:cNvPr id="13" name="Shape 11"/>
          <p:cNvSpPr/>
          <p:nvPr/>
        </p:nvSpPr>
        <p:spPr>
          <a:xfrm>
            <a:off x="2834640" y="2240280"/>
            <a:ext cx="1737360" cy="457200"/>
          </a:xfrm>
          <a:prstGeom prst="rect">
            <a:avLst/>
          </a:prstGeom>
          <a:solidFill>
            <a:srgbClr val="F3F4F6"/>
          </a:solidFill>
          <a:ln w="12700">
            <a:solidFill>
              <a:srgbClr val="E5E7EB"/>
            </a:solidFill>
            <a:prstDash val="solid"/>
          </a:ln>
        </p:spPr>
        <p:txBody>
          <a:bodyPr/>
          <a:lstStyle/>
          <a:p>
            <a:endParaRPr lang="en-GB"/>
          </a:p>
        </p:txBody>
      </p:sp>
      <p:sp>
        <p:nvSpPr>
          <p:cNvPr id="14" name="Text 12"/>
          <p:cNvSpPr/>
          <p:nvPr/>
        </p:nvSpPr>
        <p:spPr>
          <a:xfrm>
            <a:off x="2834640" y="2240280"/>
            <a:ext cx="1737360" cy="457200"/>
          </a:xfrm>
          <a:prstGeom prst="rect">
            <a:avLst/>
          </a:prstGeom>
          <a:noFill/>
          <a:ln/>
        </p:spPr>
        <p:txBody>
          <a:bodyPr wrap="square" lIns="0" tIns="0" rIns="0" bIns="0" rtlCol="0" anchor="ctr"/>
          <a:lstStyle/>
          <a:p>
            <a:pPr marL="0" indent="0" algn="ctr">
              <a:buNone/>
            </a:pPr>
            <a:r>
              <a:rPr lang="en-US" sz="900" b="1" dirty="0">
                <a:solidFill>
                  <a:srgbClr val="192231"/>
                </a:solidFill>
                <a:latin typeface="Calibri" pitchFamily="34" charset="0"/>
                <a:ea typeface="Calibri" pitchFamily="34" charset="-122"/>
                <a:cs typeface="Calibri" pitchFamily="34" charset="-120"/>
              </a:rPr>
              <a:t>Response</a:t>
            </a:r>
            <a:endParaRPr lang="en-US" sz="900" dirty="0"/>
          </a:p>
          <a:p>
            <a:pPr marL="0" indent="0" algn="ctr">
              <a:buNone/>
            </a:pPr>
            <a:r>
              <a:rPr lang="en-US" sz="900" b="1" dirty="0">
                <a:solidFill>
                  <a:srgbClr val="192231"/>
                </a:solidFill>
                <a:latin typeface="Calibri" pitchFamily="34" charset="0"/>
                <a:ea typeface="Calibri" pitchFamily="34" charset="-122"/>
                <a:cs typeface="Calibri" pitchFamily="34" charset="-120"/>
              </a:rPr>
              <a:t>Writing</a:t>
            </a:r>
            <a:endParaRPr lang="en-US" sz="900" dirty="0"/>
          </a:p>
        </p:txBody>
      </p:sp>
      <p:sp>
        <p:nvSpPr>
          <p:cNvPr id="15" name="Shape 13"/>
          <p:cNvSpPr/>
          <p:nvPr/>
        </p:nvSpPr>
        <p:spPr>
          <a:xfrm>
            <a:off x="5669280" y="1920240"/>
            <a:ext cx="0" cy="320040"/>
          </a:xfrm>
          <a:prstGeom prst="line">
            <a:avLst/>
          </a:prstGeom>
          <a:noFill/>
          <a:ln w="12700">
            <a:solidFill>
              <a:srgbClr val="3B5068"/>
            </a:solidFill>
            <a:prstDash val="solid"/>
          </a:ln>
        </p:spPr>
        <p:txBody>
          <a:bodyPr/>
          <a:lstStyle/>
          <a:p>
            <a:endParaRPr lang="en-GB"/>
          </a:p>
        </p:txBody>
      </p:sp>
      <p:sp>
        <p:nvSpPr>
          <p:cNvPr id="16" name="Shape 14"/>
          <p:cNvSpPr/>
          <p:nvPr/>
        </p:nvSpPr>
        <p:spPr>
          <a:xfrm>
            <a:off x="4937760" y="2240280"/>
            <a:ext cx="1737360" cy="457200"/>
          </a:xfrm>
          <a:prstGeom prst="rect">
            <a:avLst/>
          </a:prstGeom>
          <a:solidFill>
            <a:srgbClr val="F3F4F6"/>
          </a:solidFill>
          <a:ln w="12700">
            <a:solidFill>
              <a:srgbClr val="E5E7EB"/>
            </a:solidFill>
            <a:prstDash val="solid"/>
          </a:ln>
        </p:spPr>
        <p:txBody>
          <a:bodyPr/>
          <a:lstStyle/>
          <a:p>
            <a:endParaRPr lang="en-GB"/>
          </a:p>
        </p:txBody>
      </p:sp>
      <p:sp>
        <p:nvSpPr>
          <p:cNvPr id="17" name="Text 15"/>
          <p:cNvSpPr/>
          <p:nvPr/>
        </p:nvSpPr>
        <p:spPr>
          <a:xfrm>
            <a:off x="4937760" y="2240280"/>
            <a:ext cx="1737360" cy="457200"/>
          </a:xfrm>
          <a:prstGeom prst="rect">
            <a:avLst/>
          </a:prstGeom>
          <a:noFill/>
          <a:ln/>
        </p:spPr>
        <p:txBody>
          <a:bodyPr wrap="square" lIns="0" tIns="0" rIns="0" bIns="0" rtlCol="0" anchor="ctr"/>
          <a:lstStyle/>
          <a:p>
            <a:pPr marL="0" indent="0" algn="ctr">
              <a:buNone/>
            </a:pPr>
            <a:r>
              <a:rPr lang="en-US" sz="900" b="1" dirty="0">
                <a:solidFill>
                  <a:srgbClr val="192231"/>
                </a:solidFill>
                <a:latin typeface="Calibri" pitchFamily="34" charset="0"/>
                <a:ea typeface="Calibri" pitchFamily="34" charset="-122"/>
                <a:cs typeface="Calibri" pitchFamily="34" charset="-120"/>
              </a:rPr>
              <a:t>Quality</a:t>
            </a:r>
            <a:endParaRPr lang="en-US" sz="900" dirty="0"/>
          </a:p>
          <a:p>
            <a:pPr marL="0" indent="0" algn="ctr">
              <a:buNone/>
            </a:pPr>
            <a:r>
              <a:rPr lang="en-US" sz="900" b="1" dirty="0">
                <a:solidFill>
                  <a:srgbClr val="192231"/>
                </a:solidFill>
                <a:latin typeface="Calibri" pitchFamily="34" charset="0"/>
                <a:ea typeface="Calibri" pitchFamily="34" charset="-122"/>
                <a:cs typeface="Calibri" pitchFamily="34" charset="-120"/>
              </a:rPr>
              <a:t>Evaluation</a:t>
            </a:r>
            <a:endParaRPr lang="en-US" sz="900" dirty="0"/>
          </a:p>
        </p:txBody>
      </p:sp>
      <p:sp>
        <p:nvSpPr>
          <p:cNvPr id="18" name="Shape 16"/>
          <p:cNvSpPr/>
          <p:nvPr/>
        </p:nvSpPr>
        <p:spPr>
          <a:xfrm>
            <a:off x="7772400" y="1920240"/>
            <a:ext cx="0" cy="320040"/>
          </a:xfrm>
          <a:prstGeom prst="line">
            <a:avLst/>
          </a:prstGeom>
          <a:noFill/>
          <a:ln w="12700">
            <a:solidFill>
              <a:srgbClr val="3B5068"/>
            </a:solidFill>
            <a:prstDash val="solid"/>
          </a:ln>
        </p:spPr>
        <p:txBody>
          <a:bodyPr/>
          <a:lstStyle/>
          <a:p>
            <a:endParaRPr lang="en-GB"/>
          </a:p>
        </p:txBody>
      </p:sp>
      <p:sp>
        <p:nvSpPr>
          <p:cNvPr id="19" name="Shape 17"/>
          <p:cNvSpPr/>
          <p:nvPr/>
        </p:nvSpPr>
        <p:spPr>
          <a:xfrm>
            <a:off x="7040880" y="2240280"/>
            <a:ext cx="1737360" cy="457200"/>
          </a:xfrm>
          <a:prstGeom prst="rect">
            <a:avLst/>
          </a:prstGeom>
          <a:solidFill>
            <a:srgbClr val="F3F4F6"/>
          </a:solidFill>
          <a:ln w="12700">
            <a:solidFill>
              <a:srgbClr val="E5E7EB"/>
            </a:solidFill>
            <a:prstDash val="solid"/>
          </a:ln>
        </p:spPr>
        <p:txBody>
          <a:bodyPr/>
          <a:lstStyle/>
          <a:p>
            <a:endParaRPr lang="en-GB"/>
          </a:p>
        </p:txBody>
      </p:sp>
      <p:sp>
        <p:nvSpPr>
          <p:cNvPr id="20" name="Text 18"/>
          <p:cNvSpPr/>
          <p:nvPr/>
        </p:nvSpPr>
        <p:spPr>
          <a:xfrm>
            <a:off x="7040880" y="2240280"/>
            <a:ext cx="1737360" cy="457200"/>
          </a:xfrm>
          <a:prstGeom prst="rect">
            <a:avLst/>
          </a:prstGeom>
          <a:noFill/>
          <a:ln/>
        </p:spPr>
        <p:txBody>
          <a:bodyPr wrap="square" lIns="0" tIns="0" rIns="0" bIns="0" rtlCol="0" anchor="ctr"/>
          <a:lstStyle/>
          <a:p>
            <a:pPr marL="0" indent="0" algn="ctr">
              <a:buNone/>
            </a:pPr>
            <a:r>
              <a:rPr lang="en-US" sz="900" b="1" dirty="0">
                <a:solidFill>
                  <a:srgbClr val="192231"/>
                </a:solidFill>
                <a:latin typeface="Calibri" pitchFamily="34" charset="0"/>
                <a:ea typeface="Calibri" pitchFamily="34" charset="-122"/>
                <a:cs typeface="Calibri" pitchFamily="34" charset="-120"/>
              </a:rPr>
              <a:t>Pricing &amp;</a:t>
            </a:r>
            <a:endParaRPr lang="en-US" sz="900" dirty="0"/>
          </a:p>
          <a:p>
            <a:pPr marL="0" indent="0" algn="ctr">
              <a:buNone/>
            </a:pPr>
            <a:r>
              <a:rPr lang="en-US" sz="900" b="1" dirty="0">
                <a:solidFill>
                  <a:srgbClr val="192231"/>
                </a:solidFill>
                <a:latin typeface="Calibri" pitchFamily="34" charset="0"/>
                <a:ea typeface="Calibri" pitchFamily="34" charset="-122"/>
                <a:cs typeface="Calibri" pitchFamily="34" charset="-120"/>
              </a:rPr>
              <a:t>Modelling</a:t>
            </a:r>
            <a:endParaRPr lang="en-US" sz="900" dirty="0"/>
          </a:p>
        </p:txBody>
      </p:sp>
      <p:sp>
        <p:nvSpPr>
          <p:cNvPr id="21" name="Text 19"/>
          <p:cNvSpPr/>
          <p:nvPr/>
        </p:nvSpPr>
        <p:spPr>
          <a:xfrm>
            <a:off x="548640" y="3017520"/>
            <a:ext cx="8046720" cy="914400"/>
          </a:xfrm>
          <a:prstGeom prst="rect">
            <a:avLst/>
          </a:prstGeom>
          <a:noFill/>
          <a:ln/>
        </p:spPr>
        <p:txBody>
          <a:bodyPr wrap="square" lIns="0" tIns="0" rIns="0" bIns="0" rtlCol="0" anchor="ctr"/>
          <a:lstStyle/>
          <a:p>
            <a:pPr marL="0" indent="0">
              <a:buNone/>
            </a:pPr>
            <a:r>
              <a:rPr lang="en-US" sz="1000" b="1" dirty="0">
                <a:solidFill>
                  <a:srgbClr val="192231"/>
                </a:solidFill>
              </a:rPr>
              <a:t>Client deliverables carry the client's branding </a:t>
            </a:r>
            <a:r>
              <a:rPr lang="en-US" sz="1000" dirty="0">
                <a:solidFill>
                  <a:srgbClr val="6B7280"/>
                </a:solidFill>
              </a:rPr>
              <a:t>where procurement requires it. Our branding appears on advisory documents only: briefing report, evaluation report, and invoice.</a:t>
            </a:r>
            <a:endParaRPr lang="en-US" sz="1000" dirty="0"/>
          </a:p>
          <a:p>
            <a:pPr marL="0" indent="0">
              <a:buNone/>
            </a:pPr>
            <a:endParaRPr lang="en-US" sz="1000" dirty="0"/>
          </a:p>
          <a:p>
            <a:pPr marL="0" indent="0">
              <a:buNone/>
            </a:pPr>
            <a:r>
              <a:rPr lang="en-US" sz="1000" b="1" dirty="0">
                <a:solidFill>
                  <a:srgbClr val="192231"/>
                </a:solidFill>
              </a:rPr>
              <a:t>No sub-brands. </a:t>
            </a:r>
            <a:r>
              <a:rPr lang="en-US" sz="1000" dirty="0">
                <a:solidFill>
                  <a:srgbClr val="6B7280"/>
                </a:solidFill>
              </a:rPr>
              <a:t>Services categorised but not separately branded. All assets centrally maintained and version-controlled.</a:t>
            </a:r>
            <a:endParaRPr lang="en-US" sz="1000" dirty="0"/>
          </a:p>
        </p:txBody>
      </p:sp>
      <p:pic>
        <p:nvPicPr>
          <p:cNvPr id="22" name="Image 0"/>
          <p:cNvPicPr>
            <a:picLocks noChangeAspect="1"/>
          </p:cNvPicPr>
          <p:nvPr/>
        </p:nvPicPr>
        <p:blipFill>
          <a:blip r:embed="rId3"/>
          <a:srcRect/>
          <a:stretch/>
        </p:blipFill>
        <p:spPr>
          <a:xfrm>
            <a:off x="1" y="4096732"/>
            <a:ext cx="1570152" cy="1046768"/>
          </a:xfrm>
          <a:prstGeom prst="rect">
            <a:avLst/>
          </a:prstGeom>
        </p:spPr>
      </p:pic>
      <p:pic>
        <p:nvPicPr>
          <p:cNvPr id="23" name="Image 1" descr="preencoded.png"/>
          <p:cNvPicPr>
            <a:picLocks noChangeAspect="1"/>
          </p:cNvPicPr>
          <p:nvPr/>
        </p:nvPicPr>
        <p:blipFill>
          <a:blip r:embed="rId4"/>
          <a:srcRect/>
          <a:stretch>
            <a:fillRect/>
          </a:stretch>
        </p:blipFill>
        <p:spPr>
          <a:xfrm>
            <a:off x="3566160" y="4123946"/>
            <a:ext cx="5664189" cy="1019554"/>
          </a:xfrm>
          <a:prstGeom prst="rect">
            <a:avLst/>
          </a:prstGeom>
        </p:spPr>
      </p:pic>
      <p:pic>
        <p:nvPicPr>
          <p:cNvPr id="24" name="Image 0">
            <a:extLst>
              <a:ext uri="{FF2B5EF4-FFF2-40B4-BE49-F238E27FC236}">
                <a16:creationId xmlns:a16="http://schemas.microsoft.com/office/drawing/2014/main" id="{C88DDE96-08EF-84FC-39FA-C9D0A3A4F3C0}"/>
              </a:ext>
            </a:extLst>
          </p:cNvPr>
          <p:cNvPicPr>
            <a:picLocks noChangeAspect="1"/>
          </p:cNvPicPr>
          <p:nvPr/>
        </p:nvPicPr>
        <p:blipFill>
          <a:blip r:embed="rId5"/>
          <a:srcRect/>
          <a:stretch/>
        </p:blipFill>
        <p:spPr>
          <a:xfrm>
            <a:off x="1772955" y="4123946"/>
            <a:ext cx="1590403" cy="1060269"/>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192231"/>
        </a:solidFill>
        <a:effectLst/>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D4382C"/>
          </a:solidFill>
          <a:ln/>
        </p:spPr>
        <p:txBody>
          <a:bodyPr/>
          <a:lstStyle/>
          <a:p>
            <a:endParaRPr lang="en-GB"/>
          </a:p>
        </p:txBody>
      </p:sp>
      <p:pic>
        <p:nvPicPr>
          <p:cNvPr id="3" name="Image 0" descr="preencoded.png"/>
          <p:cNvPicPr>
            <a:picLocks noChangeAspect="1"/>
          </p:cNvPicPr>
          <p:nvPr/>
        </p:nvPicPr>
        <p:blipFill>
          <a:blip r:embed="rId3"/>
          <a:stretch>
            <a:fillRect/>
          </a:stretch>
        </p:blipFill>
        <p:spPr>
          <a:xfrm>
            <a:off x="548640" y="548640"/>
            <a:ext cx="1828800" cy="1645920"/>
          </a:xfrm>
          <a:prstGeom prst="rect">
            <a:avLst/>
          </a:prstGeom>
        </p:spPr>
      </p:pic>
      <p:sp>
        <p:nvSpPr>
          <p:cNvPr id="4" name="Text 1"/>
          <p:cNvSpPr/>
          <p:nvPr/>
        </p:nvSpPr>
        <p:spPr>
          <a:xfrm>
            <a:off x="2926080" y="731520"/>
            <a:ext cx="4572000" cy="457200"/>
          </a:xfrm>
          <a:prstGeom prst="rect">
            <a:avLst/>
          </a:prstGeom>
          <a:noFill/>
          <a:ln/>
        </p:spPr>
        <p:txBody>
          <a:bodyPr wrap="square" lIns="0" tIns="0" rIns="0" bIns="0" rtlCol="0" anchor="ctr"/>
          <a:lstStyle/>
          <a:p>
            <a:pPr marL="0" indent="0">
              <a:buNone/>
            </a:pPr>
            <a:r>
              <a:rPr lang="en-US" sz="3000" dirty="0">
                <a:solidFill>
                  <a:srgbClr val="FFFFFF"/>
                </a:solidFill>
                <a:latin typeface="Arial Black" pitchFamily="34" charset="0"/>
                <a:ea typeface="Arial Black" pitchFamily="34" charset="-122"/>
                <a:cs typeface="Arial Black" pitchFamily="34" charset="-120"/>
              </a:rPr>
              <a:t>Get in touch</a:t>
            </a:r>
            <a:endParaRPr lang="en-US" sz="3000" dirty="0"/>
          </a:p>
        </p:txBody>
      </p:sp>
      <p:sp>
        <p:nvSpPr>
          <p:cNvPr id="5" name="Shape 2"/>
          <p:cNvSpPr/>
          <p:nvPr/>
        </p:nvSpPr>
        <p:spPr>
          <a:xfrm>
            <a:off x="2926080" y="1280160"/>
            <a:ext cx="1645920" cy="0"/>
          </a:xfrm>
          <a:prstGeom prst="line">
            <a:avLst/>
          </a:prstGeom>
          <a:noFill/>
          <a:ln w="38100">
            <a:solidFill>
              <a:srgbClr val="D4382C"/>
            </a:solidFill>
            <a:prstDash val="solid"/>
          </a:ln>
        </p:spPr>
        <p:txBody>
          <a:bodyPr/>
          <a:lstStyle/>
          <a:p>
            <a:endParaRPr lang="en-GB"/>
          </a:p>
        </p:txBody>
      </p:sp>
      <p:pic>
        <p:nvPicPr>
          <p:cNvPr id="6" name="Image 1" descr="preencoded.png"/>
          <p:cNvPicPr>
            <a:picLocks noChangeAspect="1"/>
          </p:cNvPicPr>
          <p:nvPr/>
        </p:nvPicPr>
        <p:blipFill>
          <a:blip r:embed="rId4"/>
          <a:stretch>
            <a:fillRect/>
          </a:stretch>
        </p:blipFill>
        <p:spPr>
          <a:xfrm>
            <a:off x="2926080" y="1645920"/>
            <a:ext cx="228600" cy="228600"/>
          </a:xfrm>
          <a:prstGeom prst="rect">
            <a:avLst/>
          </a:prstGeom>
        </p:spPr>
      </p:pic>
      <p:sp>
        <p:nvSpPr>
          <p:cNvPr id="7" name="Text 3"/>
          <p:cNvSpPr/>
          <p:nvPr/>
        </p:nvSpPr>
        <p:spPr>
          <a:xfrm>
            <a:off x="3337560" y="1645920"/>
            <a:ext cx="3657600" cy="228600"/>
          </a:xfrm>
          <a:prstGeom prst="rect">
            <a:avLst/>
          </a:prstGeom>
          <a:noFill/>
          <a:ln/>
        </p:spPr>
        <p:txBody>
          <a:bodyPr wrap="square" lIns="0" tIns="0" rIns="0" bIns="0" rtlCol="0" anchor="ctr"/>
          <a:lstStyle/>
          <a:p>
            <a:pPr marL="0" indent="0">
              <a:buNone/>
            </a:pPr>
            <a:r>
              <a:rPr lang="en-US" sz="1400" dirty="0">
                <a:solidFill>
                  <a:srgbClr val="FFFFFF"/>
                </a:solidFill>
                <a:latin typeface="Calibri Light" pitchFamily="34" charset="0"/>
                <a:ea typeface="Calibri Light" pitchFamily="34" charset="-122"/>
                <a:cs typeface="Calibri Light" pitchFamily="34" charset="-120"/>
              </a:rPr>
              <a:t>tenderlab.co.uk</a:t>
            </a:r>
            <a:endParaRPr lang="en-US" sz="1400" dirty="0"/>
          </a:p>
        </p:txBody>
      </p:sp>
      <p:pic>
        <p:nvPicPr>
          <p:cNvPr id="8" name="Image 2" descr="preencoded.png"/>
          <p:cNvPicPr>
            <a:picLocks noChangeAspect="1"/>
          </p:cNvPicPr>
          <p:nvPr/>
        </p:nvPicPr>
        <p:blipFill>
          <a:blip r:embed="rId5"/>
          <a:stretch>
            <a:fillRect/>
          </a:stretch>
        </p:blipFill>
        <p:spPr>
          <a:xfrm>
            <a:off x="2926080" y="2057400"/>
            <a:ext cx="228600" cy="228600"/>
          </a:xfrm>
          <a:prstGeom prst="rect">
            <a:avLst/>
          </a:prstGeom>
        </p:spPr>
      </p:pic>
      <p:sp>
        <p:nvSpPr>
          <p:cNvPr id="9" name="Text 4"/>
          <p:cNvSpPr/>
          <p:nvPr/>
        </p:nvSpPr>
        <p:spPr>
          <a:xfrm>
            <a:off x="3337560" y="2057400"/>
            <a:ext cx="3657600" cy="228600"/>
          </a:xfrm>
          <a:prstGeom prst="rect">
            <a:avLst/>
          </a:prstGeom>
          <a:noFill/>
          <a:ln/>
        </p:spPr>
        <p:txBody>
          <a:bodyPr wrap="square" lIns="0" tIns="0" rIns="0" bIns="0" rtlCol="0" anchor="ctr"/>
          <a:lstStyle/>
          <a:p>
            <a:pPr marL="0" indent="0">
              <a:buNone/>
            </a:pPr>
            <a:r>
              <a:rPr lang="en-US" sz="1400" dirty="0">
                <a:solidFill>
                  <a:srgbClr val="FFFFFF"/>
                </a:solidFill>
                <a:latin typeface="Calibri Light" pitchFamily="34" charset="0"/>
                <a:ea typeface="Calibri Light" pitchFamily="34" charset="-122"/>
                <a:cs typeface="Calibri Light" pitchFamily="34" charset="-120"/>
              </a:rPr>
              <a:t>info@tenderlab.co.uk</a:t>
            </a:r>
            <a:endParaRPr lang="en-US" sz="1400" dirty="0"/>
          </a:p>
        </p:txBody>
      </p:sp>
      <p:pic>
        <p:nvPicPr>
          <p:cNvPr id="10" name="Image 3" descr="preencoded.png"/>
          <p:cNvPicPr>
            <a:picLocks noChangeAspect="1"/>
          </p:cNvPicPr>
          <p:nvPr/>
        </p:nvPicPr>
        <p:blipFill>
          <a:blip r:embed="rId6"/>
          <a:stretch>
            <a:fillRect/>
          </a:stretch>
        </p:blipFill>
        <p:spPr>
          <a:xfrm>
            <a:off x="2926080" y="2468880"/>
            <a:ext cx="228600" cy="228600"/>
          </a:xfrm>
          <a:prstGeom prst="rect">
            <a:avLst/>
          </a:prstGeom>
        </p:spPr>
      </p:pic>
      <p:sp>
        <p:nvSpPr>
          <p:cNvPr id="11" name="Text 5"/>
          <p:cNvSpPr/>
          <p:nvPr/>
        </p:nvSpPr>
        <p:spPr>
          <a:xfrm>
            <a:off x="3337560" y="2468880"/>
            <a:ext cx="3657600" cy="228600"/>
          </a:xfrm>
          <a:prstGeom prst="rect">
            <a:avLst/>
          </a:prstGeom>
          <a:noFill/>
          <a:ln/>
        </p:spPr>
        <p:txBody>
          <a:bodyPr wrap="square" lIns="0" tIns="0" rIns="0" bIns="0" rtlCol="0" anchor="ctr"/>
          <a:lstStyle/>
          <a:p>
            <a:pPr marL="0" indent="0">
              <a:buNone/>
            </a:pPr>
            <a:r>
              <a:rPr lang="en-US" sz="1400" dirty="0">
                <a:solidFill>
                  <a:srgbClr val="FFFFFF"/>
                </a:solidFill>
                <a:latin typeface="Calibri Light" pitchFamily="34" charset="0"/>
                <a:ea typeface="Calibri Light" pitchFamily="34" charset="-122"/>
                <a:cs typeface="Calibri Light" pitchFamily="34" charset="-120"/>
              </a:rPr>
              <a:t>01707 240393</a:t>
            </a:r>
            <a:endParaRPr lang="en-US" sz="1400" dirty="0"/>
          </a:p>
        </p:txBody>
      </p:sp>
      <p:pic>
        <p:nvPicPr>
          <p:cNvPr id="12" name="Image 4" descr="preencoded.png"/>
          <p:cNvPicPr>
            <a:picLocks noChangeAspect="1"/>
          </p:cNvPicPr>
          <p:nvPr/>
        </p:nvPicPr>
        <p:blipFill>
          <a:blip r:embed="rId7"/>
          <a:stretch>
            <a:fillRect/>
          </a:stretch>
        </p:blipFill>
        <p:spPr>
          <a:xfrm>
            <a:off x="2926080" y="2880360"/>
            <a:ext cx="228600" cy="228600"/>
          </a:xfrm>
          <a:prstGeom prst="rect">
            <a:avLst/>
          </a:prstGeom>
        </p:spPr>
      </p:pic>
      <p:sp>
        <p:nvSpPr>
          <p:cNvPr id="13" name="Text 6"/>
          <p:cNvSpPr/>
          <p:nvPr/>
        </p:nvSpPr>
        <p:spPr>
          <a:xfrm>
            <a:off x="3337560" y="2880360"/>
            <a:ext cx="3657600" cy="228600"/>
          </a:xfrm>
          <a:prstGeom prst="rect">
            <a:avLst/>
          </a:prstGeom>
          <a:noFill/>
          <a:ln/>
        </p:spPr>
        <p:txBody>
          <a:bodyPr wrap="square" lIns="0" tIns="0" rIns="0" bIns="0" rtlCol="0" anchor="ctr"/>
          <a:lstStyle/>
          <a:p>
            <a:pPr marL="0" indent="0">
              <a:buNone/>
            </a:pPr>
            <a:r>
              <a:rPr lang="en-US" sz="1400" dirty="0">
                <a:solidFill>
                  <a:srgbClr val="FFFFFF"/>
                </a:solidFill>
                <a:latin typeface="Calibri Light" pitchFamily="34" charset="0"/>
                <a:ea typeface="Calibri Light" pitchFamily="34" charset="-122"/>
                <a:cs typeface="Calibri Light" pitchFamily="34" charset="-120"/>
              </a:rPr>
              <a:t>Hatfield, Hertfordshire</a:t>
            </a:r>
            <a:endParaRPr lang="en-US" sz="1400" dirty="0"/>
          </a:p>
        </p:txBody>
      </p:sp>
      <p:pic>
        <p:nvPicPr>
          <p:cNvPr id="14" name="Image 5" descr="preencoded.png"/>
          <p:cNvPicPr>
            <a:picLocks noChangeAspect="1"/>
          </p:cNvPicPr>
          <p:nvPr/>
        </p:nvPicPr>
        <p:blipFill>
          <a:blip r:embed="rId8"/>
          <a:stretch>
            <a:fillRect/>
          </a:stretch>
        </p:blipFill>
        <p:spPr>
          <a:xfrm>
            <a:off x="0" y="3474720"/>
            <a:ext cx="3063240" cy="1325880"/>
          </a:xfrm>
          <a:prstGeom prst="rect">
            <a:avLst/>
          </a:prstGeom>
        </p:spPr>
      </p:pic>
      <p:pic>
        <p:nvPicPr>
          <p:cNvPr id="15" name="Image 6" descr="preencoded.png"/>
          <p:cNvPicPr>
            <a:picLocks noChangeAspect="1"/>
          </p:cNvPicPr>
          <p:nvPr/>
        </p:nvPicPr>
        <p:blipFill>
          <a:blip r:embed="rId9"/>
          <a:stretch>
            <a:fillRect/>
          </a:stretch>
        </p:blipFill>
        <p:spPr>
          <a:xfrm>
            <a:off x="3063240" y="3474720"/>
            <a:ext cx="3063240" cy="1325880"/>
          </a:xfrm>
          <a:prstGeom prst="rect">
            <a:avLst/>
          </a:prstGeom>
        </p:spPr>
      </p:pic>
      <p:pic>
        <p:nvPicPr>
          <p:cNvPr id="16" name="Image 7" descr="preencoded.png"/>
          <p:cNvPicPr>
            <a:picLocks noChangeAspect="1"/>
          </p:cNvPicPr>
          <p:nvPr/>
        </p:nvPicPr>
        <p:blipFill>
          <a:blip r:embed="rId10"/>
          <a:stretch>
            <a:fillRect/>
          </a:stretch>
        </p:blipFill>
        <p:spPr>
          <a:xfrm>
            <a:off x="6126480" y="3474720"/>
            <a:ext cx="3017520" cy="1325880"/>
          </a:xfrm>
          <a:prstGeom prst="rect">
            <a:avLst/>
          </a:prstGeom>
        </p:spPr>
      </p:pic>
      <p:sp>
        <p:nvSpPr>
          <p:cNvPr id="17" name="Shape 7"/>
          <p:cNvSpPr/>
          <p:nvPr/>
        </p:nvSpPr>
        <p:spPr>
          <a:xfrm>
            <a:off x="0" y="4800600"/>
            <a:ext cx="9144000" cy="342900"/>
          </a:xfrm>
          <a:prstGeom prst="rect">
            <a:avLst/>
          </a:prstGeom>
          <a:solidFill>
            <a:srgbClr val="0F1720"/>
          </a:solidFill>
          <a:ln/>
        </p:spPr>
        <p:txBody>
          <a:bodyPr/>
          <a:lstStyle/>
          <a:p>
            <a:endParaRPr lang="en-GB"/>
          </a:p>
        </p:txBody>
      </p:sp>
      <p:sp>
        <p:nvSpPr>
          <p:cNvPr id="18" name="Text 8"/>
          <p:cNvSpPr/>
          <p:nvPr/>
        </p:nvSpPr>
        <p:spPr>
          <a:xfrm>
            <a:off x="457200" y="4828032"/>
            <a:ext cx="7315200" cy="274320"/>
          </a:xfrm>
          <a:prstGeom prst="rect">
            <a:avLst/>
          </a:prstGeom>
          <a:noFill/>
          <a:ln/>
        </p:spPr>
        <p:txBody>
          <a:bodyPr wrap="square" lIns="0" tIns="0" rIns="0" bIns="0" rtlCol="0" anchor="ctr"/>
          <a:lstStyle/>
          <a:p>
            <a:pPr marL="0" indent="0">
              <a:buNone/>
            </a:pPr>
            <a:r>
              <a:rPr lang="en-US" sz="900" kern="0" spc="200" dirty="0">
                <a:solidFill>
                  <a:srgbClr val="6B7280"/>
                </a:solidFill>
                <a:latin typeface="Calibri Light" pitchFamily="34" charset="0"/>
                <a:ea typeface="Calibri Light" pitchFamily="34" charset="-122"/>
                <a:cs typeface="Calibri Light" pitchFamily="34" charset="-120"/>
              </a:rPr>
              <a:t>CONFIDENTIAL  |  Brand &amp; Marketing Kit  | 2026</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26</TotalTime>
  <Words>2375</Words>
  <Application>Microsoft Office PowerPoint</Application>
  <PresentationFormat>On-screen Show (16:9)</PresentationFormat>
  <Paragraphs>465</Paragraphs>
  <Slides>35</Slides>
  <Notes>35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35</vt:i4>
      </vt:variant>
    </vt:vector>
  </HeadingPairs>
  <TitlesOfParts>
    <vt:vector size="41" baseType="lpstr">
      <vt:lpstr>Arial</vt:lpstr>
      <vt:lpstr>Arial Black</vt:lpstr>
      <vt:lpstr>Calibri</vt:lpstr>
      <vt:lpstr>Calibri Light</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TenderLab Brand &amp; Marketing Kit 2026</dc:title>
  <dc:subject>PptxGenJS Presentation</dc:subject>
  <dc:creator>TenderLab</dc:creator>
  <cp:lastModifiedBy>Derrick Mwesigwa</cp:lastModifiedBy>
  <cp:revision>13</cp:revision>
  <dcterms:created xsi:type="dcterms:W3CDTF">2026-03-13T00:29:47Z</dcterms:created>
  <dcterms:modified xsi:type="dcterms:W3CDTF">2026-03-13T01:06:38Z</dcterms:modified>
</cp:coreProperties>
</file>